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70" r:id="rId5"/>
    <p:sldId id="262" r:id="rId6"/>
    <p:sldId id="271" r:id="rId7"/>
    <p:sldId id="272" r:id="rId8"/>
    <p:sldId id="263" r:id="rId9"/>
    <p:sldId id="265" r:id="rId10"/>
    <p:sldId id="274" r:id="rId11"/>
    <p:sldId id="273" r:id="rId12"/>
    <p:sldId id="266" r:id="rId13"/>
    <p:sldId id="267" r:id="rId14"/>
    <p:sldId id="268" r:id="rId15"/>
    <p:sldId id="269" r:id="rId16"/>
  </p:sldIdLst>
  <p:sldSz cx="18288000" cy="10287000"/>
  <p:notesSz cx="6858000" cy="9144000"/>
  <p:embeddedFontLst>
    <p:embeddedFont>
      <p:font typeface="Microsoft YaHei" panose="020B0503020204020204" pitchFamily="34" charset="-122"/>
      <p:regular r:id="rId18"/>
      <p:bold r:id="rId19"/>
    </p:embeddedFont>
    <p:embeddedFont>
      <p:font typeface="Calibri" panose="020F0502020204030204" pitchFamily="34" charset="0"/>
      <p:regular r:id="rId20"/>
      <p:bold r:id="rId21"/>
      <p:italic r:id="rId22"/>
      <p:boldItalic r:id="rId23"/>
    </p:embeddedFont>
    <p:embeddedFont>
      <p:font typeface="Cambria" panose="02040503050406030204" pitchFamily="18"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0152" autoAdjust="0"/>
  </p:normalViewPr>
  <p:slideViewPr>
    <p:cSldViewPr>
      <p:cViewPr varScale="1">
        <p:scale>
          <a:sx n="46" d="100"/>
          <a:sy n="46" d="100"/>
        </p:scale>
        <p:origin x="566"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46A4BB61-B4F3-49F3-8E3C-4B63BBA04250}" type="datetimeFigureOut">
              <a:rPr lang="en-US" smtClean="0"/>
              <a:pPr/>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7C655621-BB3A-4FD8-9F2D-99DAB64DC017}" type="slidenum">
              <a:rPr lang="en-US" smtClean="0"/>
              <a:pPr/>
              <a:t>‹#›</a:t>
            </a:fld>
            <a:endParaRPr lang="en-US"/>
          </a:p>
        </p:txBody>
      </p:sp>
    </p:spTree>
    <p:extLst>
      <p:ext uri="{BB962C8B-B14F-4D97-AF65-F5344CB8AC3E}">
        <p14:creationId xmlns:p14="http://schemas.microsoft.com/office/powerpoint/2010/main" val="3016637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marL="9144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marL="13716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marL="1828800" algn="l" defTabSz="914400" rtl="0" eaLnBrk="1" latinLnBrk="0" hangingPunct="1">
      <a:defRPr sz="1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655621-BB3A-4FD8-9F2D-99DAB64DC017}" type="slidenum">
              <a:rPr lang="en-US" smtClean="0"/>
              <a:t>3</a:t>
            </a:fld>
            <a:endParaRPr lang="en-US"/>
          </a:p>
        </p:txBody>
      </p:sp>
    </p:spTree>
    <p:extLst>
      <p:ext uri="{BB962C8B-B14F-4D97-AF65-F5344CB8AC3E}">
        <p14:creationId xmlns:p14="http://schemas.microsoft.com/office/powerpoint/2010/main" val="4199706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655621-BB3A-4FD8-9F2D-99DAB64DC017}" type="slidenum">
              <a:rPr lang="en-US" smtClean="0"/>
              <a:pPr/>
              <a:t>4</a:t>
            </a:fld>
            <a:endParaRPr lang="en-US"/>
          </a:p>
        </p:txBody>
      </p:sp>
    </p:spTree>
    <p:extLst>
      <p:ext uri="{BB962C8B-B14F-4D97-AF65-F5344CB8AC3E}">
        <p14:creationId xmlns:p14="http://schemas.microsoft.com/office/powerpoint/2010/main" val="2047175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655621-BB3A-4FD8-9F2D-99DAB64DC017}" type="slidenum">
              <a:rPr lang="en-US" smtClean="0"/>
              <a:t>14</a:t>
            </a:fld>
            <a:endParaRPr lang="en-US"/>
          </a:p>
        </p:txBody>
      </p:sp>
    </p:spTree>
    <p:extLst>
      <p:ext uri="{BB962C8B-B14F-4D97-AF65-F5344CB8AC3E}">
        <p14:creationId xmlns:p14="http://schemas.microsoft.com/office/powerpoint/2010/main" val="101993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sz="2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sz="2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sz="1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sz="1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sz="2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sz="2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sz="1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sz="1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sz="2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sz="1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sz="16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sz="16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sz="2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sz="1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sz="16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sz="16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Date Placeholder 2"/>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sz="28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sz="2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sz="2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sz="20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20.svg"/><Relationship Id="rId18" Type="http://schemas.openxmlformats.org/officeDocument/2006/relationships/image" Target="../media/image25.svg"/><Relationship Id="rId3" Type="http://schemas.openxmlformats.org/officeDocument/2006/relationships/image" Target="../media/image2.png"/><Relationship Id="rId7" Type="http://schemas.openxmlformats.org/officeDocument/2006/relationships/image" Target="../media/image14.svg"/><Relationship Id="rId12" Type="http://schemas.openxmlformats.org/officeDocument/2006/relationships/image" Target="../media/image7.png"/><Relationship Id="rId17" Type="http://schemas.openxmlformats.org/officeDocument/2006/relationships/image" Target="../media/image10.png"/><Relationship Id="rId2" Type="http://schemas.openxmlformats.org/officeDocument/2006/relationships/image" Target="../media/image1.png"/><Relationship Id="rId16" Type="http://schemas.openxmlformats.org/officeDocument/2006/relationships/image" Target="../media/image9.png"/><Relationship Id="rId20" Type="http://schemas.openxmlformats.org/officeDocument/2006/relationships/image" Target="../media/image27.sv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18.svg"/><Relationship Id="rId5" Type="http://schemas.openxmlformats.org/officeDocument/2006/relationships/image" Target="../media/image3.png"/><Relationship Id="rId15" Type="http://schemas.openxmlformats.org/officeDocument/2006/relationships/image" Target="../media/image22.svg"/><Relationship Id="rId10" Type="http://schemas.openxmlformats.org/officeDocument/2006/relationships/image" Target="../media/image6.png"/><Relationship Id="rId19" Type="http://schemas.openxmlformats.org/officeDocument/2006/relationships/image" Target="../media/image11.png"/><Relationship Id="rId4" Type="http://schemas.openxmlformats.org/officeDocument/2006/relationships/image" Target="../media/image11.svg"/><Relationship Id="rId9" Type="http://schemas.openxmlformats.org/officeDocument/2006/relationships/image" Target="../media/image16.svg"/><Relationship Id="rId1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17.png"/><Relationship Id="rId18" Type="http://schemas.openxmlformats.org/officeDocument/2006/relationships/image" Target="../media/image43.svg"/><Relationship Id="rId26" Type="http://schemas.openxmlformats.org/officeDocument/2006/relationships/image" Target="../media/image51.svg"/><Relationship Id="rId3" Type="http://schemas.openxmlformats.org/officeDocument/2006/relationships/image" Target="../media/image12.png"/><Relationship Id="rId21"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image" Target="../media/image37.svg"/><Relationship Id="rId17" Type="http://schemas.openxmlformats.org/officeDocument/2006/relationships/image" Target="../media/image19.png"/><Relationship Id="rId25" Type="http://schemas.openxmlformats.org/officeDocument/2006/relationships/image" Target="../media/image23.png"/><Relationship Id="rId2" Type="http://schemas.openxmlformats.org/officeDocument/2006/relationships/image" Target="../media/image1.png"/><Relationship Id="rId16" Type="http://schemas.openxmlformats.org/officeDocument/2006/relationships/image" Target="../media/image41.svg"/><Relationship Id="rId20" Type="http://schemas.openxmlformats.org/officeDocument/2006/relationships/image" Target="../media/image45.svg"/><Relationship Id="rId1" Type="http://schemas.openxmlformats.org/officeDocument/2006/relationships/slideLayout" Target="../slideLayouts/slideLayout7.xml"/><Relationship Id="rId6" Type="http://schemas.openxmlformats.org/officeDocument/2006/relationships/image" Target="../media/image31.svg"/><Relationship Id="rId11" Type="http://schemas.openxmlformats.org/officeDocument/2006/relationships/image" Target="../media/image16.png"/><Relationship Id="rId24" Type="http://schemas.openxmlformats.org/officeDocument/2006/relationships/image" Target="../media/image49.svg"/><Relationship Id="rId5" Type="http://schemas.openxmlformats.org/officeDocument/2006/relationships/image" Target="../media/image13.png"/><Relationship Id="rId15" Type="http://schemas.openxmlformats.org/officeDocument/2006/relationships/image" Target="../media/image18.png"/><Relationship Id="rId23" Type="http://schemas.openxmlformats.org/officeDocument/2006/relationships/image" Target="../media/image22.png"/><Relationship Id="rId28" Type="http://schemas.openxmlformats.org/officeDocument/2006/relationships/image" Target="../media/image53.svg"/><Relationship Id="rId10" Type="http://schemas.openxmlformats.org/officeDocument/2006/relationships/image" Target="../media/image35.svg"/><Relationship Id="rId19" Type="http://schemas.openxmlformats.org/officeDocument/2006/relationships/image" Target="../media/image20.png"/><Relationship Id="rId4" Type="http://schemas.openxmlformats.org/officeDocument/2006/relationships/image" Target="../media/image29.svg"/><Relationship Id="rId9" Type="http://schemas.openxmlformats.org/officeDocument/2006/relationships/image" Target="../media/image15.png"/><Relationship Id="rId14" Type="http://schemas.openxmlformats.org/officeDocument/2006/relationships/image" Target="../media/image39.svg"/><Relationship Id="rId22" Type="http://schemas.openxmlformats.org/officeDocument/2006/relationships/image" Target="../media/image47.svg"/><Relationship Id="rId27"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5.svg"/><Relationship Id="rId3" Type="http://schemas.openxmlformats.org/officeDocument/2006/relationships/image" Target="../media/image1.png"/><Relationship Id="rId7" Type="http://schemas.openxmlformats.org/officeDocument/2006/relationships/image" Target="../media/image31.sv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33.svg"/><Relationship Id="rId5" Type="http://schemas.openxmlformats.org/officeDocument/2006/relationships/image" Target="../media/image29.svg"/><Relationship Id="rId10" Type="http://schemas.openxmlformats.org/officeDocument/2006/relationships/image" Target="../media/image14.png"/><Relationship Id="rId4" Type="http://schemas.openxmlformats.org/officeDocument/2006/relationships/image" Target="../media/image12.png"/><Relationship Id="rId9" Type="http://schemas.openxmlformats.org/officeDocument/2006/relationships/image" Target="../media/image55.sv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vi-VN" noProof="0" dirty="0"/>
          </a:p>
        </p:txBody>
      </p:sp>
      <p:sp>
        <p:nvSpPr>
          <p:cNvPr id="3" name="TextBox 3"/>
          <p:cNvSpPr txBox="1"/>
          <p:nvPr/>
        </p:nvSpPr>
        <p:spPr>
          <a:xfrm>
            <a:off x="3565323" y="2367512"/>
            <a:ext cx="11285940" cy="1102866"/>
          </a:xfrm>
          <a:prstGeom prst="rect">
            <a:avLst/>
          </a:prstGeom>
        </p:spPr>
        <p:txBody>
          <a:bodyPr wrap="square" lIns="0" tIns="0" rIns="0" bIns="0" rtlCol="0" anchor="t">
            <a:spAutoFit/>
          </a:bodyPr>
          <a:lstStyle/>
          <a:p>
            <a:pPr algn="l">
              <a:lnSpc>
                <a:spcPts val="8640"/>
              </a:lnSpc>
            </a:pPr>
            <a:r>
              <a:rPr lang="vi-VN" sz="7200" b="1" noProof="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Báo cáo đồ án tốt nghiệp</a:t>
            </a:r>
          </a:p>
        </p:txBody>
      </p:sp>
      <p:sp>
        <p:nvSpPr>
          <p:cNvPr id="4" name="TextBox 4"/>
          <p:cNvSpPr txBox="1"/>
          <p:nvPr/>
        </p:nvSpPr>
        <p:spPr>
          <a:xfrm>
            <a:off x="1371600" y="3879533"/>
            <a:ext cx="15886993" cy="1487587"/>
          </a:xfrm>
          <a:prstGeom prst="rect">
            <a:avLst/>
          </a:prstGeom>
        </p:spPr>
        <p:txBody>
          <a:bodyPr wrap="square" lIns="0" tIns="0" rIns="0" bIns="0" rtlCol="0" anchor="t">
            <a:spAutoFit/>
          </a:bodyPr>
          <a:lstStyle/>
          <a:p>
            <a:pPr algn="ctr">
              <a:lnSpc>
                <a:spcPts val="5759"/>
              </a:lnSpc>
            </a:pPr>
            <a:r>
              <a:rPr sz="48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Xây dựng hệ thống AI Agent hỗ trợ truy vấn dữ liệu doanh nghiệp bằng ngôn ngữ tự nhiên</a:t>
            </a:r>
          </a:p>
        </p:txBody>
      </p:sp>
      <p:graphicFrame>
        <p:nvGraphicFramePr>
          <p:cNvPr id="5" name="Table 5"/>
          <p:cNvGraphicFramePr>
            <a:graphicFrameLocks noGrp="1"/>
          </p:cNvGraphicFramePr>
          <p:nvPr>
            <p:extLst>
              <p:ext uri="{D42A27DB-BD31-4B8C-83A1-F6EECF244321}">
                <p14:modId xmlns:p14="http://schemas.microsoft.com/office/powerpoint/2010/main" val="342089760"/>
              </p:ext>
            </p:extLst>
          </p:nvPr>
        </p:nvGraphicFramePr>
        <p:xfrm>
          <a:off x="5188434" y="6105498"/>
          <a:ext cx="7905750" cy="3017520"/>
        </p:xfrm>
        <a:graphic>
          <a:graphicData uri="http://schemas.openxmlformats.org/drawingml/2006/table">
            <a:tbl>
              <a:tblPr/>
              <a:tblGrid>
                <a:gridCol w="4035673">
                  <a:extLst>
                    <a:ext uri="{9D8B030D-6E8A-4147-A177-3AD203B41FA5}">
                      <a16:colId xmlns:a16="http://schemas.microsoft.com/office/drawing/2014/main" val="20000"/>
                    </a:ext>
                  </a:extLst>
                </a:gridCol>
                <a:gridCol w="3870077">
                  <a:extLst>
                    <a:ext uri="{9D8B030D-6E8A-4147-A177-3AD203B41FA5}">
                      <a16:colId xmlns:a16="http://schemas.microsoft.com/office/drawing/2014/main" val="20001"/>
                    </a:ext>
                  </a:extLst>
                </a:gridCol>
              </a:tblGrid>
              <a:tr h="552450">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Giảng viên hướng dẫn</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ThS. ……………………</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52450">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Sinh viên</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Cao Việt Anh</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2450">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Lớp chuyên ngành</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2450">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Khóa</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l">
                        <a:lnSpc>
                          <a:spcPts val="3600"/>
                        </a:lnSpc>
                        <a:defRPr/>
                      </a:pPr>
                      <a:r>
                        <a:rPr lang="vi-VN" sz="3000" noProof="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endParaRPr lang="vi-VN" sz="1100" noProof="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3" name="TextBox 3"/>
          <p:cNvSpPr txBox="1"/>
          <p:nvPr/>
        </p:nvSpPr>
        <p:spPr>
          <a:xfrm>
            <a:off x="1417756" y="2715440"/>
            <a:ext cx="4018499" cy="1013098"/>
          </a:xfrm>
          <a:prstGeom prst="rect">
            <a:avLst/>
          </a:prstGeom>
        </p:spPr>
        <p:txBody>
          <a:bodyPr wrap="square" lIns="0" tIns="0" rIns="0" bIns="0" rtlCol="0" anchor="t">
            <a:spAutoFit/>
          </a:bodyPr>
          <a:lstStyle/>
          <a:p>
            <a:pPr algn="l">
              <a:lnSpc>
                <a:spcPts val="7920"/>
              </a:lnSpc>
            </a:pPr>
            <a:r>
              <a:rPr lang="en-US" sz="7200" b="1"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Nội</a:t>
            </a:r>
            <a:r>
              <a:rPr lang="en-US" sz="72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dung</a:t>
            </a:r>
          </a:p>
        </p:txBody>
      </p:sp>
      <p:sp>
        <p:nvSpPr>
          <p:cNvPr id="4" name="AutoShape 4"/>
          <p:cNvSpPr/>
          <p:nvPr/>
        </p:nvSpPr>
        <p:spPr>
          <a:xfrm rot="5356107">
            <a:off x="2633890" y="5608210"/>
            <a:ext cx="6714310" cy="0"/>
          </a:xfrm>
          <a:prstGeom prst="line">
            <a:avLst/>
          </a:prstGeom>
          <a:ln w="47625" cap="rnd">
            <a:solidFill>
              <a:srgbClr val="FCB618"/>
            </a:solidFill>
            <a:prstDash val="solid"/>
            <a:headEnd type="none" w="sm" len="sm"/>
            <a:tailEnd type="none" w="sm" len="sm"/>
          </a:ln>
        </p:spPr>
        <p:txBody>
          <a:bodyPr/>
          <a:lstStyle/>
          <a:p>
            <a:endParaRPr/>
          </a:p>
        </p:txBody>
      </p:sp>
      <p:sp>
        <p:nvSpPr>
          <p:cNvPr id="9" name="AutoShape 9"/>
          <p:cNvSpPr/>
          <p:nvPr/>
        </p:nvSpPr>
        <p:spPr>
          <a:xfrm>
            <a:off x="1451670" y="3816657"/>
            <a:ext cx="3201646" cy="12846"/>
          </a:xfrm>
          <a:prstGeom prst="line">
            <a:avLst/>
          </a:prstGeom>
          <a:ln w="47625" cap="rnd">
            <a:solidFill>
              <a:srgbClr val="FCB618"/>
            </a:solidFill>
            <a:prstDash val="solid"/>
            <a:headEnd type="none" w="sm" len="sm"/>
            <a:tailEnd type="none" w="sm" len="sm"/>
          </a:ln>
        </p:spPr>
        <p:txBody>
          <a:bodyPr/>
          <a:lstStyle/>
          <a:p>
            <a:endParaRPr/>
          </a:p>
        </p:txBody>
      </p:sp>
      <p:sp>
        <p:nvSpPr>
          <p:cNvPr id="22" name="TextBox 22"/>
          <p:cNvSpPr txBox="1"/>
          <p:nvPr/>
        </p:nvSpPr>
        <p:spPr>
          <a:xfrm>
            <a:off x="6768285" y="2349437"/>
            <a:ext cx="7438557" cy="782843"/>
          </a:xfrm>
          <a:prstGeom prst="rect">
            <a:avLst/>
          </a:prstGeom>
        </p:spPr>
        <p:txBody>
          <a:bodyPr lIns="0" tIns="0" rIns="0" bIns="0" rtlCol="0" anchor="t">
            <a:spAutoFit/>
          </a:bodyPr>
          <a:lstStyle/>
          <a:p>
            <a:pPr algn="l">
              <a:lnSpc>
                <a:spcPts val="6480"/>
              </a:lnSpc>
            </a:pPr>
            <a:r>
              <a:rPr lang="en-US" sz="5400"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Tổng</a:t>
            </a:r>
            <a:r>
              <a:rPr lang="en-US" sz="540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5400"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quan</a:t>
            </a:r>
            <a:r>
              <a:rPr lang="en-US" sz="540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5400"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đề</a:t>
            </a:r>
            <a:r>
              <a:rPr lang="en-US" sz="540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5400"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tài</a:t>
            </a:r>
            <a:endParaRPr lang="en-US" sz="540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23" name="TextBox 23"/>
          <p:cNvSpPr txBox="1"/>
          <p:nvPr/>
        </p:nvSpPr>
        <p:spPr>
          <a:xfrm>
            <a:off x="6768285" y="3709745"/>
            <a:ext cx="10376715" cy="833562"/>
          </a:xfrm>
          <a:prstGeom prst="rect">
            <a:avLst/>
          </a:prstGeom>
        </p:spPr>
        <p:txBody>
          <a:bodyPr wrap="square" lIns="0" tIns="0" rIns="0" bIns="0" rtlCol="0" anchor="t">
            <a:spAutoFit/>
          </a:bodyPr>
          <a:lstStyle/>
          <a:p>
            <a:pPr algn="l">
              <a:lnSpc>
                <a:spcPts val="6480"/>
              </a:lnSpc>
            </a:pP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Phân</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tích</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&amp;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thiết</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kế</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hệ</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thống</a:t>
            </a:r>
            <a:endParaRPr lang="en-US" sz="540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24" name="TextBox 24"/>
          <p:cNvSpPr txBox="1"/>
          <p:nvPr/>
        </p:nvSpPr>
        <p:spPr>
          <a:xfrm>
            <a:off x="6768285" y="5070053"/>
            <a:ext cx="7438557" cy="782843"/>
          </a:xfrm>
          <a:prstGeom prst="rect">
            <a:avLst/>
          </a:prstGeom>
        </p:spPr>
        <p:txBody>
          <a:bodyPr wrap="square" lIns="0" tIns="0" rIns="0" bIns="0" rtlCol="0" anchor="t">
            <a:spAutoFit/>
          </a:bodyPr>
          <a:lstStyle/>
          <a:p>
            <a:pPr algn="l">
              <a:lnSpc>
                <a:spcPts val="6480"/>
              </a:lnSpc>
            </a:pP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Xây</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dựng</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hệ</a:t>
            </a:r>
            <a:r>
              <a:rPr sz="54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thống</a:t>
            </a:r>
            <a:endParaRPr lang="en-US" sz="540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25" name="TextBox 25"/>
          <p:cNvSpPr txBox="1"/>
          <p:nvPr/>
        </p:nvSpPr>
        <p:spPr>
          <a:xfrm>
            <a:off x="6768285" y="6430360"/>
            <a:ext cx="9340676" cy="782843"/>
          </a:xfrm>
          <a:prstGeom prst="rect">
            <a:avLst/>
          </a:prstGeom>
        </p:spPr>
        <p:txBody>
          <a:bodyPr wrap="square" lIns="0" tIns="0" rIns="0" bIns="0" rtlCol="0" anchor="t">
            <a:spAutoFit/>
          </a:bodyPr>
          <a:lstStyle/>
          <a:p>
            <a:pPr algn="l">
              <a:lnSpc>
                <a:spcPts val="6480"/>
              </a:lnSpc>
            </a:pPr>
            <a:r>
              <a:rPr sz="5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Thực nghiệm &amp; đánh giá</a:t>
            </a:r>
          </a:p>
        </p:txBody>
      </p:sp>
      <p:sp>
        <p:nvSpPr>
          <p:cNvPr id="30" name="TextBox 30"/>
          <p:cNvSpPr txBox="1"/>
          <p:nvPr/>
        </p:nvSpPr>
        <p:spPr>
          <a:xfrm>
            <a:off x="6768285" y="7790669"/>
            <a:ext cx="8961120" cy="782843"/>
          </a:xfrm>
          <a:prstGeom prst="rect">
            <a:avLst/>
          </a:prstGeom>
        </p:spPr>
        <p:txBody>
          <a:bodyPr wrap="square" lIns="0" tIns="0" rIns="0" bIns="0" rtlCol="0" anchor="t">
            <a:spAutoFit/>
          </a:bodyPr>
          <a:lstStyle/>
          <a:p>
            <a:pPr algn="l">
              <a:lnSpc>
                <a:spcPts val="6480"/>
              </a:lnSpc>
            </a:pPr>
            <a:r>
              <a:rPr sz="54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Kết luận &amp; hướng phát triển</a:t>
            </a:r>
            <a:endParaRPr lang="en-US" sz="5400"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41" name="Oval 40">
            <a:extLst>
              <a:ext uri="{FF2B5EF4-FFF2-40B4-BE49-F238E27FC236}">
                <a16:creationId xmlns:a16="http://schemas.microsoft.com/office/drawing/2014/main" id="{9A0D1426-C28A-B67A-30AA-CFC8992764CB}"/>
              </a:ext>
            </a:extLst>
          </p:cNvPr>
          <p:cNvSpPr/>
          <p:nvPr/>
        </p:nvSpPr>
        <p:spPr>
          <a:xfrm>
            <a:off x="5692218" y="2545695"/>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1</a:t>
            </a:r>
          </a:p>
        </p:txBody>
      </p:sp>
      <p:sp>
        <p:nvSpPr>
          <p:cNvPr id="43" name="Oval 42">
            <a:extLst>
              <a:ext uri="{FF2B5EF4-FFF2-40B4-BE49-F238E27FC236}">
                <a16:creationId xmlns:a16="http://schemas.microsoft.com/office/drawing/2014/main" id="{1F853B29-E9A4-A88C-DB47-4FDF08D4A47E}"/>
              </a:ext>
            </a:extLst>
          </p:cNvPr>
          <p:cNvSpPr/>
          <p:nvPr/>
        </p:nvSpPr>
        <p:spPr>
          <a:xfrm>
            <a:off x="5735081" y="3829503"/>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a:t>
            </a:r>
          </a:p>
        </p:txBody>
      </p:sp>
      <p:sp>
        <p:nvSpPr>
          <p:cNvPr id="44" name="Oval 43">
            <a:extLst>
              <a:ext uri="{FF2B5EF4-FFF2-40B4-BE49-F238E27FC236}">
                <a16:creationId xmlns:a16="http://schemas.microsoft.com/office/drawing/2014/main" id="{7ECCB37E-70AA-F024-37BB-02DC841FFCE5}"/>
              </a:ext>
            </a:extLst>
          </p:cNvPr>
          <p:cNvSpPr/>
          <p:nvPr/>
        </p:nvSpPr>
        <p:spPr>
          <a:xfrm>
            <a:off x="5754901" y="5318232"/>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3</a:t>
            </a:r>
          </a:p>
        </p:txBody>
      </p:sp>
      <p:sp>
        <p:nvSpPr>
          <p:cNvPr id="45" name="Oval 44">
            <a:extLst>
              <a:ext uri="{FF2B5EF4-FFF2-40B4-BE49-F238E27FC236}">
                <a16:creationId xmlns:a16="http://schemas.microsoft.com/office/drawing/2014/main" id="{9115C874-227D-F9A7-CCCD-3F3D37A3C3A6}"/>
              </a:ext>
            </a:extLst>
          </p:cNvPr>
          <p:cNvSpPr/>
          <p:nvPr/>
        </p:nvSpPr>
        <p:spPr>
          <a:xfrm>
            <a:off x="5777944" y="6611071"/>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4</a:t>
            </a:r>
          </a:p>
        </p:txBody>
      </p:sp>
      <p:sp>
        <p:nvSpPr>
          <p:cNvPr id="46" name="Oval 45">
            <a:extLst>
              <a:ext uri="{FF2B5EF4-FFF2-40B4-BE49-F238E27FC236}">
                <a16:creationId xmlns:a16="http://schemas.microsoft.com/office/drawing/2014/main" id="{EA274401-6606-7BA6-81BD-C6C537DAA1D3}"/>
              </a:ext>
            </a:extLst>
          </p:cNvPr>
          <p:cNvSpPr/>
          <p:nvPr/>
        </p:nvSpPr>
        <p:spPr>
          <a:xfrm>
            <a:off x="5754902" y="7971380"/>
            <a:ext cx="511927" cy="526160"/>
          </a:xfrm>
          <a:prstGeom prst="ellipse">
            <a:avLst/>
          </a:prstGeom>
          <a:solidFill>
            <a:srgbClr val="16458C"/>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5</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grpSp>
        <p:nvGrpSpPr>
          <p:cNvPr id="3" name="Group 3"/>
          <p:cNvGrpSpPr/>
          <p:nvPr/>
        </p:nvGrpSpPr>
        <p:grpSpPr>
          <a:xfrm>
            <a:off x="627578" y="2357469"/>
            <a:ext cx="1057782" cy="1071564"/>
            <a:chOff x="0" y="-19051"/>
            <a:chExt cx="1410376" cy="1428751"/>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a:p>
          </p:txBody>
        </p:sp>
        <p:sp>
          <p:nvSpPr>
            <p:cNvPr id="5" name="TextBox 5"/>
            <p:cNvSpPr txBox="1"/>
            <p:nvPr/>
          </p:nvSpPr>
          <p:spPr>
            <a:xfrm>
              <a:off x="0" y="-19051"/>
              <a:ext cx="1410376" cy="1428709"/>
            </a:xfrm>
            <a:prstGeom prst="rect">
              <a:avLst/>
            </a:prstGeom>
            <a:ln>
              <a:solidFill>
                <a:schemeClr val="bg1"/>
              </a:solidFill>
            </a:ln>
          </p:spPr>
          <p:txBody>
            <a:bodyPr lIns="50800" tIns="50800" rIns="50800" bIns="50800" rtlCol="0" anchor="ctr"/>
            <a:lstStyle/>
            <a:p>
              <a:pPr algn="ctr">
                <a:lnSpc>
                  <a:spcPts val="8640"/>
                </a:lnSpc>
              </a:pPr>
              <a:r>
                <a:rPr lang="en-US" sz="72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1</a:t>
              </a:r>
            </a:p>
          </p:txBody>
        </p:sp>
      </p:grpSp>
      <p:sp>
        <p:nvSpPr>
          <p:cNvPr id="6" name="TextBox 6"/>
          <p:cNvSpPr txBox="1"/>
          <p:nvPr/>
        </p:nvSpPr>
        <p:spPr>
          <a:xfrm>
            <a:off x="2549969" y="2398426"/>
            <a:ext cx="7438557" cy="1102866"/>
          </a:xfrm>
          <a:prstGeom prst="rect">
            <a:avLst/>
          </a:prstGeom>
        </p:spPr>
        <p:txBody>
          <a:bodyPr lIns="0" tIns="0" rIns="0" bIns="0" rtlCol="0" anchor="t">
            <a:spAutoFit/>
          </a:bodyPr>
          <a:lstStyle/>
          <a:p>
            <a:pPr algn="l">
              <a:lnSpc>
                <a:spcPts val="8640"/>
              </a:lnSpc>
            </a:pPr>
            <a:r>
              <a:rPr lang="en-US" sz="7200" b="1"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Bài toán</a:t>
            </a:r>
            <a:endParaRPr lang="en-US" sz="72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cxnSp>
        <p:nvCxnSpPr>
          <p:cNvPr id="10" name="Straight Connector 9">
            <a:extLst>
              <a:ext uri="{FF2B5EF4-FFF2-40B4-BE49-F238E27FC236}">
                <a16:creationId xmlns:a16="http://schemas.microsoft.com/office/drawing/2014/main" id="{CA672E5A-0621-C8A7-C4FD-953F9986D6D7}"/>
              </a:ext>
            </a:extLst>
          </p:cNvPr>
          <p:cNvCxnSpPr>
            <a:cxnSpLocks/>
          </p:cNvCxnSpPr>
          <p:nvPr/>
        </p:nvCxnSpPr>
        <p:spPr>
          <a:xfrm>
            <a:off x="1143000" y="3771900"/>
            <a:ext cx="0" cy="15240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79F0ABDA-DCB3-11E0-6098-594D83463C49}"/>
              </a:ext>
            </a:extLst>
          </p:cNvPr>
          <p:cNvSpPr txBox="1"/>
          <p:nvPr/>
        </p:nvSpPr>
        <p:spPr>
          <a:xfrm>
            <a:off x="1656221" y="3662634"/>
            <a:ext cx="14726779" cy="1754326"/>
          </a:xfrm>
          <a:prstGeom prst="rect">
            <a:avLst/>
          </a:prstGeom>
          <a:noFill/>
        </p:spPr>
        <p:txBody>
          <a:bodyPr wrap="square" rtlCol="0">
            <a:spAutoFit/>
          </a:bodyPr>
          <a:lstStyle/>
          <a:p>
            <a:pPr algn="just"/>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Dữ</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liệu</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doanh</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nghiệp</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ngày</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càng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lớn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và</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phân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tán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trên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nhiều</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hệ</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thống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Việc</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khai</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thác</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dữ</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liệu</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thường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yêu</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cầu</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kiến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thức</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về</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SQL, Data Warehouse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hoặc</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công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cụ</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BI.</a:t>
            </a:r>
          </a:p>
        </p:txBody>
      </p:sp>
      <p:sp>
        <p:nvSpPr>
          <p:cNvPr id="12" name="TextBox 11">
            <a:extLst>
              <a:ext uri="{FF2B5EF4-FFF2-40B4-BE49-F238E27FC236}">
                <a16:creationId xmlns:a16="http://schemas.microsoft.com/office/drawing/2014/main" id="{43B56940-6DFB-915D-144C-32FAA2F5BB54}"/>
              </a:ext>
            </a:extLst>
          </p:cNvPr>
          <p:cNvSpPr txBox="1"/>
          <p:nvPr/>
        </p:nvSpPr>
        <p:spPr>
          <a:xfrm>
            <a:off x="1685360" y="6009764"/>
            <a:ext cx="15078640" cy="1754326"/>
          </a:xfrm>
          <a:prstGeom prst="rect">
            <a:avLst/>
          </a:prstGeom>
          <a:noFill/>
        </p:spPr>
        <p:txBody>
          <a:bodyPr wrap="square" rtlCol="0">
            <a:spAutoFit/>
          </a:bodyPr>
          <a:lstStyle/>
          <a:p>
            <a:pPr algn="just"/>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Vấn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đề</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đặt</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ra</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làm</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thế</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nào</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để</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người</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dùng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có</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thể</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hỏi</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dữ</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liệu</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bằng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tiếng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Việt</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nhưng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vẫn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đảm</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bảo</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câu</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trả</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lời</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chính</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xác</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an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toàn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và</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có</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khả</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năng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kiểm</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soát</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endParaRPr lang="en-US"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cxnSp>
        <p:nvCxnSpPr>
          <p:cNvPr id="14" name="Straight Connector 13">
            <a:extLst>
              <a:ext uri="{FF2B5EF4-FFF2-40B4-BE49-F238E27FC236}">
                <a16:creationId xmlns:a16="http://schemas.microsoft.com/office/drawing/2014/main" id="{04DB7F3C-BD57-9D0F-8D4F-708EC7CFC7AF}"/>
              </a:ext>
            </a:extLst>
          </p:cNvPr>
          <p:cNvCxnSpPr>
            <a:cxnSpLocks/>
          </p:cNvCxnSpPr>
          <p:nvPr/>
        </p:nvCxnSpPr>
        <p:spPr>
          <a:xfrm>
            <a:off x="1166622" y="6057900"/>
            <a:ext cx="0" cy="15240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6" name="TextBox 6"/>
          <p:cNvSpPr txBox="1"/>
          <p:nvPr/>
        </p:nvSpPr>
        <p:spPr>
          <a:xfrm>
            <a:off x="1764853" y="2303799"/>
            <a:ext cx="7518123" cy="984821"/>
          </a:xfrm>
          <a:prstGeom prst="rect">
            <a:avLst/>
          </a:prstGeom>
        </p:spPr>
        <p:txBody>
          <a:bodyPr lIns="0" tIns="0" rIns="0" bIns="0" rtlCol="0" anchor="t">
            <a:spAutoFit/>
          </a:bodyPr>
          <a:lstStyle/>
          <a:p>
            <a:pPr algn="l">
              <a:lnSpc>
                <a:spcPts val="8640"/>
              </a:lnSpc>
            </a:pPr>
            <a:r>
              <a:rPr lang="en-US" sz="5400" b="1"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Mục tiêu &amp; phạm vi</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9" name="TextBox 9"/>
          <p:cNvSpPr txBox="1"/>
          <p:nvPr/>
        </p:nvSpPr>
        <p:spPr>
          <a:xfrm>
            <a:off x="1747661" y="3490392"/>
            <a:ext cx="15919508" cy="1563826"/>
          </a:xfrm>
          <a:prstGeom prst="rect">
            <a:avLst/>
          </a:prstGeom>
        </p:spPr>
        <p:txBody>
          <a:bodyPr wrap="square" lIns="0" tIns="0" rIns="0" bIns="0" rtlCol="0" anchor="t">
            <a:spAutoFit/>
          </a:bodyPr>
          <a:lstStyle/>
          <a:p>
            <a:pPr algn="just">
              <a:lnSpc>
                <a:spcPts val="6480"/>
              </a:lnSpc>
            </a:pPr>
            <a:r>
              <a:rPr sz="3600" b="1">
                <a:latin typeface="Arial"/>
              </a:rPr>
              <a:t>Mục tiêu:  </a:t>
            </a:r>
            <a:r>
              <a:rPr sz="3600" b="0">
                <a:latin typeface="Arial"/>
              </a:rPr>
              <a:t>giúp người dùng hỏi dữ liệu doanh nghiệp bằng tiếng Việt và nhận câu trả lời đúng, dễ hiểu.</a:t>
            </a:r>
          </a:p>
        </p:txBody>
      </p:sp>
      <p:sp>
        <p:nvSpPr>
          <p:cNvPr id="10" name="TextBox 10"/>
          <p:cNvSpPr txBox="1"/>
          <p:nvPr/>
        </p:nvSpPr>
        <p:spPr>
          <a:xfrm>
            <a:off x="1764853" y="5363707"/>
            <a:ext cx="15902312" cy="1563826"/>
          </a:xfrm>
          <a:prstGeom prst="rect">
            <a:avLst/>
          </a:prstGeom>
        </p:spPr>
        <p:txBody>
          <a:bodyPr wrap="square" lIns="0" tIns="0" rIns="0" bIns="0" rtlCol="0" anchor="t">
            <a:spAutoFit/>
          </a:bodyPr>
          <a:lstStyle/>
          <a:p>
            <a:pPr algn="just">
              <a:lnSpc>
                <a:spcPts val="6480"/>
              </a:lnSpc>
            </a:pPr>
            <a:r>
              <a:rPr sz="3600" b="1">
                <a:latin typeface="Arial"/>
              </a:rPr>
              <a:t>Yêu cầu:  </a:t>
            </a:r>
            <a:r>
              <a:rPr sz="3600" b="0">
                <a:latin typeface="Arial"/>
              </a:rPr>
              <a:t>hiểu đúng câu hỏi, lấy đúng dữ liệu liên quan, hạn chế trả lời sai và đảm bảo an toàn.</a:t>
            </a:r>
          </a:p>
        </p:txBody>
      </p:sp>
      <p:sp>
        <p:nvSpPr>
          <p:cNvPr id="11" name="TextBox 11"/>
          <p:cNvSpPr txBox="1"/>
          <p:nvPr/>
        </p:nvSpPr>
        <p:spPr>
          <a:xfrm>
            <a:off x="1747661" y="7061385"/>
            <a:ext cx="15630752" cy="1563826"/>
          </a:xfrm>
          <a:prstGeom prst="rect">
            <a:avLst/>
          </a:prstGeom>
        </p:spPr>
        <p:txBody>
          <a:bodyPr wrap="square" lIns="0" tIns="0" rIns="0" bIns="0" rtlCol="0" anchor="t">
            <a:spAutoFit/>
          </a:bodyPr>
          <a:lstStyle/>
          <a:p>
            <a:pPr algn="just">
              <a:lnSpc>
                <a:spcPts val="6480"/>
              </a:lnSpc>
            </a:pPr>
            <a:r>
              <a:rPr sz="3600" b="1" dirty="0" err="1">
                <a:latin typeface="Arial"/>
              </a:rPr>
              <a:t>Phạm</a:t>
            </a:r>
            <a:r>
              <a:rPr sz="3600" b="1" dirty="0">
                <a:latin typeface="Arial"/>
              </a:rPr>
              <a:t> vi:  </a:t>
            </a:r>
            <a:r>
              <a:rPr sz="3600" b="0" dirty="0" err="1">
                <a:latin typeface="Arial"/>
              </a:rPr>
              <a:t>tập</a:t>
            </a:r>
            <a:r>
              <a:rPr sz="3600" b="0" dirty="0">
                <a:latin typeface="Arial"/>
              </a:rPr>
              <a:t> </a:t>
            </a:r>
            <a:r>
              <a:rPr sz="3600" b="0" dirty="0" err="1">
                <a:latin typeface="Arial"/>
              </a:rPr>
              <a:t>trung</a:t>
            </a:r>
            <a:r>
              <a:rPr sz="3600" b="0" dirty="0">
                <a:latin typeface="Arial"/>
              </a:rPr>
              <a:t> </a:t>
            </a:r>
            <a:r>
              <a:rPr sz="3600" b="0" dirty="0" err="1">
                <a:latin typeface="Arial"/>
              </a:rPr>
              <a:t>vào</a:t>
            </a:r>
            <a:r>
              <a:rPr sz="3600" b="0" dirty="0">
                <a:latin typeface="Arial"/>
              </a:rPr>
              <a:t> 2 </a:t>
            </a:r>
            <a:r>
              <a:rPr sz="3600" b="0" dirty="0" err="1">
                <a:latin typeface="Arial"/>
              </a:rPr>
              <a:t>lớp</a:t>
            </a:r>
            <a:r>
              <a:rPr sz="3600" b="0" dirty="0">
                <a:latin typeface="Arial"/>
              </a:rPr>
              <a:t> — </a:t>
            </a:r>
            <a:r>
              <a:rPr sz="3600" b="0" dirty="0" err="1">
                <a:latin typeface="Arial"/>
              </a:rPr>
              <a:t>chuẩn</a:t>
            </a:r>
            <a:r>
              <a:rPr sz="3600" b="0" dirty="0">
                <a:latin typeface="Arial"/>
              </a:rPr>
              <a:t> </a:t>
            </a:r>
            <a:r>
              <a:rPr sz="3600" b="0" dirty="0" err="1">
                <a:latin typeface="Arial"/>
              </a:rPr>
              <a:t>bị</a:t>
            </a:r>
            <a:r>
              <a:rPr sz="3600" b="0" dirty="0">
                <a:latin typeface="Arial"/>
              </a:rPr>
              <a:t> </a:t>
            </a:r>
            <a:r>
              <a:rPr sz="3600" b="0" dirty="0" err="1">
                <a:latin typeface="Arial"/>
              </a:rPr>
              <a:t>dữ</a:t>
            </a:r>
            <a:r>
              <a:rPr sz="3600" b="0" dirty="0">
                <a:latin typeface="Arial"/>
              </a:rPr>
              <a:t> </a:t>
            </a:r>
            <a:r>
              <a:rPr sz="3600" b="0" dirty="0" err="1">
                <a:latin typeface="Arial"/>
              </a:rPr>
              <a:t>liệu</a:t>
            </a:r>
            <a:r>
              <a:rPr sz="3600" b="0" dirty="0">
                <a:latin typeface="Arial"/>
              </a:rPr>
              <a:t> </a:t>
            </a:r>
            <a:r>
              <a:rPr sz="3600" b="0" dirty="0" err="1">
                <a:latin typeface="Arial"/>
              </a:rPr>
              <a:t>và</a:t>
            </a:r>
            <a:r>
              <a:rPr sz="3600" b="0" dirty="0">
                <a:latin typeface="Arial"/>
              </a:rPr>
              <a:t> </a:t>
            </a:r>
            <a:r>
              <a:rPr sz="3600" b="0" dirty="0" err="1">
                <a:latin typeface="Arial"/>
              </a:rPr>
              <a:t>trợ</a:t>
            </a:r>
            <a:r>
              <a:rPr sz="3600" b="0" dirty="0">
                <a:latin typeface="Arial"/>
              </a:rPr>
              <a:t> </a:t>
            </a:r>
            <a:r>
              <a:rPr sz="3600" b="0" dirty="0" err="1">
                <a:latin typeface="Arial"/>
              </a:rPr>
              <a:t>lý</a:t>
            </a:r>
            <a:r>
              <a:rPr sz="3600" b="0" dirty="0">
                <a:latin typeface="Arial"/>
              </a:rPr>
              <a:t> AI; </a:t>
            </a:r>
            <a:r>
              <a:rPr sz="3600" b="0" dirty="0" err="1">
                <a:latin typeface="Arial"/>
              </a:rPr>
              <a:t>chạy</a:t>
            </a:r>
            <a:r>
              <a:rPr sz="3600" b="0" dirty="0">
                <a:latin typeface="Arial"/>
              </a:rPr>
              <a:t> </a:t>
            </a:r>
            <a:r>
              <a:rPr sz="3600" b="0" dirty="0" err="1">
                <a:latin typeface="Arial"/>
              </a:rPr>
              <a:t>thử</a:t>
            </a:r>
            <a:r>
              <a:rPr sz="3600" b="0" dirty="0">
                <a:latin typeface="Arial"/>
              </a:rPr>
              <a:t> </a:t>
            </a:r>
            <a:r>
              <a:rPr sz="3600" b="0" dirty="0" err="1">
                <a:latin typeface="Arial"/>
              </a:rPr>
              <a:t>nghiệm</a:t>
            </a:r>
            <a:r>
              <a:rPr sz="3600" b="0" dirty="0">
                <a:latin typeface="Arial"/>
              </a:rPr>
              <a:t> </a:t>
            </a:r>
            <a:r>
              <a:rPr sz="3600" b="0" dirty="0" err="1">
                <a:latin typeface="Arial"/>
              </a:rPr>
              <a:t>trên</a:t>
            </a:r>
            <a:r>
              <a:rPr sz="3600" b="0" dirty="0">
                <a:latin typeface="Arial"/>
              </a:rPr>
              <a:t> </a:t>
            </a:r>
            <a:r>
              <a:rPr sz="3600" b="0" dirty="0" err="1">
                <a:latin typeface="Arial"/>
              </a:rPr>
              <a:t>một</a:t>
            </a:r>
            <a:r>
              <a:rPr sz="3600" b="0" dirty="0">
                <a:latin typeface="Arial"/>
              </a:rPr>
              <a:t> </a:t>
            </a:r>
            <a:r>
              <a:rPr sz="3600" b="0" dirty="0" err="1">
                <a:latin typeface="Arial"/>
              </a:rPr>
              <a:t>máy</a:t>
            </a:r>
            <a:r>
              <a:rPr sz="3600" b="0" dirty="0">
                <a:latin typeface="Arial"/>
              </a:rPr>
              <a:t> </a:t>
            </a:r>
            <a:r>
              <a:rPr sz="3600" b="0" dirty="0" err="1">
                <a:latin typeface="Arial"/>
              </a:rPr>
              <a:t>tính</a:t>
            </a:r>
            <a:r>
              <a:rPr sz="3600" b="0" dirty="0">
                <a:latin typeface="Arial"/>
              </a:rPr>
              <a:t>.</a:t>
            </a:r>
          </a:p>
        </p:txBody>
      </p:sp>
      <p:cxnSp>
        <p:nvCxnSpPr>
          <p:cNvPr id="13" name="Straight Connector 12">
            <a:extLst>
              <a:ext uri="{FF2B5EF4-FFF2-40B4-BE49-F238E27FC236}">
                <a16:creationId xmlns:a16="http://schemas.microsoft.com/office/drawing/2014/main" id="{F401758A-CF71-8812-F2C3-662E19B42B04}"/>
              </a:ext>
            </a:extLst>
          </p:cNvPr>
          <p:cNvCxnSpPr>
            <a:cxnSpLocks/>
          </p:cNvCxnSpPr>
          <p:nvPr/>
        </p:nvCxnSpPr>
        <p:spPr>
          <a:xfrm>
            <a:off x="1447800" y="3771900"/>
            <a:ext cx="0" cy="12192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6B4F637-D06A-C866-2F06-73DD4E116D69}"/>
              </a:ext>
            </a:extLst>
          </p:cNvPr>
          <p:cNvCxnSpPr>
            <a:cxnSpLocks/>
          </p:cNvCxnSpPr>
          <p:nvPr/>
        </p:nvCxnSpPr>
        <p:spPr>
          <a:xfrm>
            <a:off x="1447800" y="5676900"/>
            <a:ext cx="0" cy="12954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51DFF8F-7EFC-E0BA-C74E-BF5BB77D3767}"/>
              </a:ext>
            </a:extLst>
          </p:cNvPr>
          <p:cNvCxnSpPr>
            <a:cxnSpLocks/>
          </p:cNvCxnSpPr>
          <p:nvPr/>
        </p:nvCxnSpPr>
        <p:spPr>
          <a:xfrm>
            <a:off x="1447800" y="7429500"/>
            <a:ext cx="0" cy="10668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sp>
        <p:nvSpPr>
          <p:cNvPr id="4" name="TextBox 4"/>
          <p:cNvSpPr txBox="1"/>
          <p:nvPr/>
        </p:nvSpPr>
        <p:spPr>
          <a:xfrm>
            <a:off x="803118" y="1944245"/>
            <a:ext cx="8721882" cy="1487587"/>
          </a:xfrm>
          <a:prstGeom prst="rect">
            <a:avLst/>
          </a:prstGeom>
        </p:spPr>
        <p:txBody>
          <a:bodyPr wrap="square" lIns="0" tIns="0" rIns="0" bIns="0" rtlCol="0" anchor="t">
            <a:spAutoFit/>
          </a:bodyPr>
          <a:lstStyle/>
          <a:p>
            <a:pPr algn="l">
              <a:lnSpc>
                <a:spcPts val="5759"/>
              </a:lnSpc>
            </a:pPr>
            <a:r>
              <a:rPr sz="54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Kiến trúc tổng thể hệ thống</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cxnSp>
        <p:nvCxnSpPr>
          <p:cNvPr id="7" name="Straight Connector 6">
            <a:extLst>
              <a:ext uri="{FF2B5EF4-FFF2-40B4-BE49-F238E27FC236}">
                <a16:creationId xmlns:a16="http://schemas.microsoft.com/office/drawing/2014/main" id="{D5C2541B-4CDB-536C-5BCF-CA710F8651E4}"/>
              </a:ext>
            </a:extLst>
          </p:cNvPr>
          <p:cNvCxnSpPr>
            <a:cxnSpLocks/>
          </p:cNvCxnSpPr>
          <p:nvPr/>
        </p:nvCxnSpPr>
        <p:spPr>
          <a:xfrm>
            <a:off x="609600" y="1944245"/>
            <a:ext cx="0" cy="608455"/>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14400" y="4297680"/>
            <a:ext cx="2743200" cy="2103120"/>
          </a:xfrm>
          <a:prstGeom prst="roundRect">
            <a:avLst/>
          </a:prstGeom>
          <a:solidFill>
            <a:srgbClr val="5A636E"/>
          </a:solidFill>
          <a:ln>
            <a:solidFill>
              <a:srgbClr val="5A636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NGUỒN</a:t>
            </a:r>
          </a:p>
          <a:p>
            <a:pPr algn="ctr"/>
            <a:r>
              <a:rPr sz="130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dữ liệu doanh nghiệp</a:t>
            </a:r>
          </a:p>
        </p:txBody>
      </p:sp>
      <p:sp>
        <p:nvSpPr>
          <p:cNvPr id="9" name="Rounded Rectangle 8"/>
          <p:cNvSpPr/>
          <p:nvPr/>
        </p:nvSpPr>
        <p:spPr>
          <a:xfrm>
            <a:off x="4206240" y="4297680"/>
            <a:ext cx="4023360" cy="2103120"/>
          </a:xfrm>
          <a:prstGeom prst="roundRect">
            <a:avLst/>
          </a:prstGeom>
          <a:solidFill>
            <a:srgbClr val="16458C"/>
          </a:solidFill>
          <a:ln>
            <a:solidFill>
              <a:srgbClr val="16458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LỚP DỮ LIỆU</a:t>
            </a:r>
          </a:p>
          <a:p>
            <a:pPr lvl="1"/>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ETL &amp; Data Warehouse</a:t>
            </a:r>
          </a:p>
        </p:txBody>
      </p:sp>
      <p:sp>
        <p:nvSpPr>
          <p:cNvPr id="10" name="Rounded Rectangle 9"/>
          <p:cNvSpPr/>
          <p:nvPr/>
        </p:nvSpPr>
        <p:spPr>
          <a:xfrm>
            <a:off x="9006840" y="4297680"/>
            <a:ext cx="4206240" cy="2103120"/>
          </a:xfrm>
          <a:prstGeom prst="roundRect">
            <a:avLst/>
          </a:prstGeom>
          <a:solidFill>
            <a:srgbClr val="16458C"/>
          </a:solidFill>
          <a:ln>
            <a:solidFill>
              <a:srgbClr val="16458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LỚP AI AGENT</a:t>
            </a:r>
          </a:p>
          <a:p>
            <a:pPr lvl="1"/>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Hiểu</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câu</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hỏi</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&amp;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truy</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vấn</a:t>
            </a:r>
            <a:endPar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1" name="Rounded Rectangle 10"/>
          <p:cNvSpPr/>
          <p:nvPr/>
        </p:nvSpPr>
        <p:spPr>
          <a:xfrm>
            <a:off x="13807440" y="4297680"/>
            <a:ext cx="3200400" cy="2103120"/>
          </a:xfrm>
          <a:prstGeom prst="roundRect">
            <a:avLst/>
          </a:prstGeom>
          <a:solidFill>
            <a:srgbClr val="5A636E"/>
          </a:solidFill>
          <a:ln>
            <a:solidFill>
              <a:srgbClr val="5A636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NGƯỜI DÙNG</a:t>
            </a:r>
          </a:p>
          <a:p>
            <a:pPr algn="ctr"/>
            <a:r>
              <a:rPr sz="1300" dirty="0" err="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hỏi</a:t>
            </a:r>
            <a:r>
              <a:rPr sz="1300"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&amp; </a:t>
            </a:r>
            <a:r>
              <a:rPr sz="1300" dirty="0" err="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xem</a:t>
            </a:r>
            <a:r>
              <a:rPr sz="1300"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300" dirty="0" err="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kết</a:t>
            </a:r>
            <a:r>
              <a:rPr sz="1300"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1300" dirty="0" err="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quả</a:t>
            </a:r>
            <a:endParaRPr sz="1300"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2" name="Right Arrow 11"/>
          <p:cNvSpPr/>
          <p:nvPr/>
        </p:nvSpPr>
        <p:spPr>
          <a:xfrm>
            <a:off x="3703320" y="5074920"/>
            <a:ext cx="457200" cy="54864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8503920" y="5074920"/>
            <a:ext cx="457200" cy="54864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13304520" y="5074920"/>
            <a:ext cx="457200" cy="54864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06240" y="6537960"/>
            <a:ext cx="4206240" cy="512448"/>
          </a:xfrm>
          <a:prstGeom prst="rect">
            <a:avLst/>
          </a:prstGeom>
          <a:noFill/>
        </p:spPr>
        <p:txBody>
          <a:bodyPr wrap="square" anchor="t">
            <a:spAutoFit/>
          </a:bodyPr>
          <a:lstStyle/>
          <a:p>
            <a:pPr algn="ctr">
              <a:lnSpc>
                <a:spcPct val="105000"/>
              </a:lnSpc>
              <a:spcAft>
                <a:spcPts val="600"/>
              </a:spcAft>
            </a:pPr>
            <a:r>
              <a:rPr sz="1300" b="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Làm sạch, chuẩn hóa và tổ chức dữ liệu phục vụ phân tích</a:t>
            </a:r>
          </a:p>
        </p:txBody>
      </p:sp>
      <p:sp>
        <p:nvSpPr>
          <p:cNvPr id="16" name="TextBox 15"/>
          <p:cNvSpPr txBox="1"/>
          <p:nvPr/>
        </p:nvSpPr>
        <p:spPr>
          <a:xfrm>
            <a:off x="9006840" y="6537960"/>
            <a:ext cx="4206240" cy="512448"/>
          </a:xfrm>
          <a:prstGeom prst="rect">
            <a:avLst/>
          </a:prstGeom>
          <a:noFill/>
        </p:spPr>
        <p:txBody>
          <a:bodyPr wrap="square" anchor="t">
            <a:spAutoFit/>
          </a:bodyPr>
          <a:lstStyle/>
          <a:p>
            <a:pPr algn="ctr">
              <a:lnSpc>
                <a:spcPct val="105000"/>
              </a:lnSpc>
              <a:spcAft>
                <a:spcPts val="600"/>
              </a:spcAft>
            </a:pPr>
            <a:r>
              <a:rPr sz="1300" b="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Tìm metadata liên quan, sinh truy vấn và trả lời có kiểm soát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grpSp>
        <p:nvGrpSpPr>
          <p:cNvPr id="3" name="Group 3"/>
          <p:cNvGrpSpPr/>
          <p:nvPr/>
        </p:nvGrpSpPr>
        <p:grpSpPr>
          <a:xfrm>
            <a:off x="627578" y="2371787"/>
            <a:ext cx="1028643" cy="1057214"/>
            <a:chOff x="0" y="-19009"/>
            <a:chExt cx="1371600" cy="1428709"/>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a:p>
          </p:txBody>
        </p:sp>
        <p:sp>
          <p:nvSpPr>
            <p:cNvPr id="5" name="TextBox 5"/>
            <p:cNvSpPr txBox="1"/>
            <p:nvPr/>
          </p:nvSpPr>
          <p:spPr>
            <a:xfrm>
              <a:off x="76" y="-19009"/>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2</a:t>
              </a:r>
            </a:p>
          </p:txBody>
        </p:sp>
      </p:grpSp>
      <p:sp>
        <p:nvSpPr>
          <p:cNvPr id="6" name="TextBox 6"/>
          <p:cNvSpPr txBox="1"/>
          <p:nvPr/>
        </p:nvSpPr>
        <p:spPr>
          <a:xfrm>
            <a:off x="1764853" y="2303799"/>
            <a:ext cx="7518123" cy="984821"/>
          </a:xfrm>
          <a:prstGeom prst="rect">
            <a:avLst/>
          </a:prstGeom>
        </p:spPr>
        <p:txBody>
          <a:bodyPr lIns="0" tIns="0" rIns="0" bIns="0" rtlCol="0" anchor="t">
            <a:spAutoFit/>
          </a:bodyPr>
          <a:lstStyle/>
          <a:p>
            <a:pPr algn="l">
              <a:lnSpc>
                <a:spcPts val="8640"/>
              </a:lnSpc>
            </a:pPr>
            <a:r>
              <a:rPr lang="en-US" sz="5400" b="1"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Công nghệ sử dụng</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9" name="TextBox 9"/>
          <p:cNvSpPr txBox="1"/>
          <p:nvPr/>
        </p:nvSpPr>
        <p:spPr>
          <a:xfrm>
            <a:off x="1747661" y="3490392"/>
            <a:ext cx="15919508" cy="1563826"/>
          </a:xfrm>
          <a:prstGeom prst="rect">
            <a:avLst/>
          </a:prstGeom>
        </p:spPr>
        <p:txBody>
          <a:bodyPr wrap="square" lIns="0" tIns="0" rIns="0" bIns="0" rtlCol="0" anchor="t">
            <a:spAutoFit/>
          </a:bodyPr>
          <a:lstStyle/>
          <a:p>
            <a:pPr algn="just">
              <a:lnSpc>
                <a:spcPts val="6480"/>
              </a:lnSpc>
            </a:pPr>
            <a:r>
              <a:rPr sz="3600" b="1">
                <a:latin typeface="Arial"/>
              </a:rPr>
              <a:t>Lớp dữ liệu:  </a:t>
            </a:r>
            <a:r>
              <a:rPr sz="3600" b="0">
                <a:latin typeface="Arial"/>
              </a:rPr>
              <a:t>PostgreSQL · Debezium · Kafka · NiFi · Hadoop/HDFS · Spark · Hive · Airflow</a:t>
            </a:r>
          </a:p>
        </p:txBody>
      </p:sp>
      <p:sp>
        <p:nvSpPr>
          <p:cNvPr id="10" name="TextBox 10"/>
          <p:cNvSpPr txBox="1"/>
          <p:nvPr/>
        </p:nvSpPr>
        <p:spPr>
          <a:xfrm>
            <a:off x="1764853" y="5363707"/>
            <a:ext cx="15902312" cy="1563826"/>
          </a:xfrm>
          <a:prstGeom prst="rect">
            <a:avLst/>
          </a:prstGeom>
        </p:spPr>
        <p:txBody>
          <a:bodyPr wrap="square" lIns="0" tIns="0" rIns="0" bIns="0" rtlCol="0" anchor="t">
            <a:spAutoFit/>
          </a:bodyPr>
          <a:lstStyle/>
          <a:p>
            <a:pPr algn="just">
              <a:lnSpc>
                <a:spcPts val="6480"/>
              </a:lnSpc>
            </a:pPr>
            <a:r>
              <a:rPr sz="3600" b="1">
                <a:latin typeface="Arial"/>
              </a:rPr>
              <a:t>Lớp trợ lý AI:  </a:t>
            </a:r>
            <a:r>
              <a:rPr sz="3600" b="0">
                <a:latin typeface="Arial"/>
              </a:rPr>
              <a:t>FastAPI · OpenSearch · LangChain · Sentence-Transformers · Next.js · Docker</a:t>
            </a:r>
          </a:p>
        </p:txBody>
      </p:sp>
      <p:sp>
        <p:nvSpPr>
          <p:cNvPr id="11" name="TextBox 11"/>
          <p:cNvSpPr txBox="1"/>
          <p:nvPr/>
        </p:nvSpPr>
        <p:spPr>
          <a:xfrm>
            <a:off x="1747661" y="7061385"/>
            <a:ext cx="15630752" cy="1563826"/>
          </a:xfrm>
          <a:prstGeom prst="rect">
            <a:avLst/>
          </a:prstGeom>
        </p:spPr>
        <p:txBody>
          <a:bodyPr wrap="square" lIns="0" tIns="0" rIns="0" bIns="0" rtlCol="0" anchor="t">
            <a:spAutoFit/>
          </a:bodyPr>
          <a:lstStyle/>
          <a:p>
            <a:pPr algn="just">
              <a:lnSpc>
                <a:spcPts val="6480"/>
              </a:lnSpc>
            </a:pPr>
            <a:r>
              <a:rPr sz="3600" b="1">
                <a:latin typeface="Arial"/>
              </a:rPr>
              <a:t>Mô hình AI:  </a:t>
            </a:r>
            <a:r>
              <a:rPr sz="3600" b="0">
                <a:latin typeface="Arial"/>
              </a:rPr>
              <a:t>Claude · OpenAI · Gemini · Ollama</a:t>
            </a:r>
          </a:p>
        </p:txBody>
      </p:sp>
      <p:cxnSp>
        <p:nvCxnSpPr>
          <p:cNvPr id="13" name="Straight Connector 12">
            <a:extLst>
              <a:ext uri="{FF2B5EF4-FFF2-40B4-BE49-F238E27FC236}">
                <a16:creationId xmlns:a16="http://schemas.microsoft.com/office/drawing/2014/main" id="{F401758A-CF71-8812-F2C3-662E19B42B04}"/>
              </a:ext>
            </a:extLst>
          </p:cNvPr>
          <p:cNvCxnSpPr>
            <a:cxnSpLocks/>
          </p:cNvCxnSpPr>
          <p:nvPr/>
        </p:nvCxnSpPr>
        <p:spPr>
          <a:xfrm>
            <a:off x="1447800" y="3771900"/>
            <a:ext cx="0" cy="12192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6B4F637-D06A-C866-2F06-73DD4E116D69}"/>
              </a:ext>
            </a:extLst>
          </p:cNvPr>
          <p:cNvCxnSpPr>
            <a:cxnSpLocks/>
          </p:cNvCxnSpPr>
          <p:nvPr/>
        </p:nvCxnSpPr>
        <p:spPr>
          <a:xfrm>
            <a:off x="1447800" y="5676900"/>
            <a:ext cx="0" cy="12954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51DFF8F-7EFC-E0BA-C74E-BF5BB77D3767}"/>
              </a:ext>
            </a:extLst>
          </p:cNvPr>
          <p:cNvCxnSpPr>
            <a:cxnSpLocks/>
          </p:cNvCxnSpPr>
          <p:nvPr/>
        </p:nvCxnSpPr>
        <p:spPr>
          <a:xfrm>
            <a:off x="1447800" y="7429500"/>
            <a:ext cx="0" cy="1066800"/>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 y="-419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grpSp>
        <p:nvGrpSpPr>
          <p:cNvPr id="3" name="Group 3"/>
          <p:cNvGrpSpPr/>
          <p:nvPr/>
        </p:nvGrpSpPr>
        <p:grpSpPr>
          <a:xfrm>
            <a:off x="533400" y="1483798"/>
            <a:ext cx="1028643" cy="1057214"/>
            <a:chOff x="0" y="-19009"/>
            <a:chExt cx="1371600" cy="1428709"/>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a:p>
          </p:txBody>
        </p:sp>
        <p:sp>
          <p:nvSpPr>
            <p:cNvPr id="5" name="TextBox 5"/>
            <p:cNvSpPr txBox="1"/>
            <p:nvPr/>
          </p:nvSpPr>
          <p:spPr>
            <a:xfrm>
              <a:off x="76" y="-19009"/>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3</a:t>
              </a:r>
            </a:p>
          </p:txBody>
        </p:sp>
      </p:grpSp>
      <p:sp>
        <p:nvSpPr>
          <p:cNvPr id="6" name="TextBox 6"/>
          <p:cNvSpPr txBox="1"/>
          <p:nvPr/>
        </p:nvSpPr>
        <p:spPr>
          <a:xfrm>
            <a:off x="1808757" y="1572609"/>
            <a:ext cx="7518123" cy="984821"/>
          </a:xfrm>
          <a:prstGeom prst="rect">
            <a:avLst/>
          </a:prstGeom>
        </p:spPr>
        <p:txBody>
          <a:bodyPr wrap="square" lIns="0" tIns="0" rIns="0" bIns="0" rtlCol="0" anchor="t">
            <a:spAutoFit/>
          </a:bodyPr>
          <a:lstStyle/>
          <a:p>
            <a:pPr algn="l">
              <a:lnSpc>
                <a:spcPts val="8640"/>
              </a:lnSpc>
            </a:pPr>
            <a:r>
              <a:rPr sz="54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Quy</a:t>
            </a:r>
            <a:r>
              <a:rPr sz="5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trình</a:t>
            </a:r>
            <a:r>
              <a:rPr sz="5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xử</a:t>
            </a:r>
            <a:r>
              <a:rPr sz="5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lý</a:t>
            </a:r>
            <a:r>
              <a:rPr sz="5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dữ</a:t>
            </a:r>
            <a:r>
              <a:rPr sz="5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54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liệu</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7" name="TextBox 6"/>
          <p:cNvSpPr txBox="1"/>
          <p:nvPr/>
        </p:nvSpPr>
        <p:spPr>
          <a:xfrm>
            <a:off x="777240" y="3561953"/>
            <a:ext cx="2103120" cy="365760"/>
          </a:xfrm>
          <a:prstGeom prst="rect">
            <a:avLst/>
          </a:prstGeom>
          <a:noFill/>
        </p:spPr>
        <p:txBody>
          <a:bodyPr wrap="square">
            <a:spAutoFit/>
          </a:bodyPr>
          <a:lstStyle/>
          <a:p>
            <a:pPr algn="ctr"/>
            <a:r>
              <a:rPr sz="1300" b="1">
                <a:solidFill>
                  <a:srgbClr val="16458C"/>
                </a:solidFill>
                <a:latin typeface="Arial"/>
              </a:rPr>
              <a:t>3 nguồn dữ liệu</a:t>
            </a:r>
          </a:p>
        </p:txBody>
      </p:sp>
      <p:sp>
        <p:nvSpPr>
          <p:cNvPr id="8" name="Rounded Rectangle 7"/>
          <p:cNvSpPr/>
          <p:nvPr/>
        </p:nvSpPr>
        <p:spPr>
          <a:xfrm>
            <a:off x="777240" y="4060667"/>
            <a:ext cx="2103120" cy="82296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FFFFF"/>
                </a:solidFill>
                <a:latin typeface="Arial"/>
              </a:rPr>
              <a:t>ERP</a:t>
            </a:r>
          </a:p>
          <a:p>
            <a:pPr algn="ctr"/>
            <a:r>
              <a:rPr sz="900">
                <a:solidFill>
                  <a:srgbClr val="FFFFFF"/>
                </a:solidFill>
                <a:latin typeface="Arial"/>
              </a:rPr>
              <a:t>Kế toán / vận hành</a:t>
            </a:r>
          </a:p>
        </p:txBody>
      </p:sp>
      <p:sp>
        <p:nvSpPr>
          <p:cNvPr id="9" name="Rounded Rectangle 8"/>
          <p:cNvSpPr/>
          <p:nvPr/>
        </p:nvSpPr>
        <p:spPr>
          <a:xfrm>
            <a:off x="794489" y="5200161"/>
            <a:ext cx="2103120" cy="82296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dirty="0">
                <a:solidFill>
                  <a:srgbClr val="FFFFFF"/>
                </a:solidFill>
                <a:latin typeface="Arial"/>
              </a:rPr>
              <a:t>Payment</a:t>
            </a:r>
          </a:p>
          <a:p>
            <a:pPr algn="ctr"/>
            <a:r>
              <a:rPr sz="900" dirty="0" err="1">
                <a:solidFill>
                  <a:srgbClr val="FFFFFF"/>
                </a:solidFill>
                <a:latin typeface="Arial"/>
              </a:rPr>
              <a:t>Thanh</a:t>
            </a:r>
            <a:r>
              <a:rPr sz="900" dirty="0">
                <a:solidFill>
                  <a:srgbClr val="FFFFFF"/>
                </a:solidFill>
                <a:latin typeface="Arial"/>
              </a:rPr>
              <a:t> </a:t>
            </a:r>
            <a:r>
              <a:rPr sz="900" dirty="0" err="1">
                <a:solidFill>
                  <a:srgbClr val="FFFFFF"/>
                </a:solidFill>
                <a:latin typeface="Arial"/>
              </a:rPr>
              <a:t>toán</a:t>
            </a:r>
            <a:endParaRPr sz="900" dirty="0">
              <a:solidFill>
                <a:srgbClr val="FFFFFF"/>
              </a:solidFill>
              <a:latin typeface="Arial"/>
            </a:endParaRPr>
          </a:p>
        </p:txBody>
      </p:sp>
      <p:sp>
        <p:nvSpPr>
          <p:cNvPr id="10" name="Rounded Rectangle 9"/>
          <p:cNvSpPr/>
          <p:nvPr/>
        </p:nvSpPr>
        <p:spPr>
          <a:xfrm>
            <a:off x="777240" y="6682740"/>
            <a:ext cx="2103120" cy="82296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FFFFF"/>
                </a:solidFill>
                <a:latin typeface="Arial"/>
              </a:rPr>
              <a:t>Warehouse</a:t>
            </a:r>
          </a:p>
          <a:p>
            <a:pPr algn="ctr"/>
            <a:r>
              <a:rPr sz="900">
                <a:solidFill>
                  <a:srgbClr val="FFFFFF"/>
                </a:solidFill>
                <a:latin typeface="Arial"/>
              </a:rPr>
              <a:t>Kho hàng</a:t>
            </a:r>
          </a:p>
        </p:txBody>
      </p:sp>
      <p:cxnSp>
        <p:nvCxnSpPr>
          <p:cNvPr id="11" name="Connector 10"/>
          <p:cNvCxnSpPr/>
          <p:nvPr/>
        </p:nvCxnSpPr>
        <p:spPr>
          <a:xfrm>
            <a:off x="3003804" y="4409903"/>
            <a:ext cx="1188720" cy="1097280"/>
          </a:xfrm>
          <a:prstGeom prst="line">
            <a:avLst/>
          </a:prstGeom>
          <a:ln w="28575">
            <a:solidFill>
              <a:srgbClr val="FCB618"/>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017520" y="5656811"/>
            <a:ext cx="1188720" cy="0"/>
          </a:xfrm>
          <a:prstGeom prst="line">
            <a:avLst/>
          </a:prstGeom>
          <a:ln w="28575">
            <a:solidFill>
              <a:srgbClr val="FCB618"/>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959331" y="5806440"/>
            <a:ext cx="1188720" cy="1097280"/>
          </a:xfrm>
          <a:prstGeom prst="line">
            <a:avLst/>
          </a:prstGeom>
          <a:ln w="28575">
            <a:solidFill>
              <a:srgbClr val="FCB618"/>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29684" y="5063001"/>
            <a:ext cx="2011680" cy="109728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600" b="1">
                <a:solidFill>
                  <a:srgbClr val="FFFFFF"/>
                </a:solidFill>
                <a:latin typeface="Arial"/>
              </a:rPr>
              <a:t>NiFi</a:t>
            </a:r>
          </a:p>
          <a:p>
            <a:pPr algn="ctr"/>
            <a:r>
              <a:rPr sz="1000">
                <a:solidFill>
                  <a:srgbClr val="FFFFFF"/>
                </a:solidFill>
                <a:latin typeface="Arial"/>
              </a:rPr>
              <a:t>Thu thập dữ liệu</a:t>
            </a:r>
          </a:p>
        </p:txBody>
      </p:sp>
      <p:sp>
        <p:nvSpPr>
          <p:cNvPr id="15" name="Right Arrow 14"/>
          <p:cNvSpPr/>
          <p:nvPr/>
        </p:nvSpPr>
        <p:spPr>
          <a:xfrm>
            <a:off x="6418049" y="5383041"/>
            <a:ext cx="777240" cy="45720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251192" y="5063001"/>
            <a:ext cx="2011680" cy="109728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600" b="1" dirty="0">
                <a:solidFill>
                  <a:srgbClr val="FFFFFF"/>
                </a:solidFill>
                <a:latin typeface="Arial"/>
              </a:rPr>
              <a:t>Kafka</a:t>
            </a:r>
          </a:p>
          <a:p>
            <a:pPr algn="ctr"/>
            <a:r>
              <a:rPr sz="1000" dirty="0" err="1">
                <a:solidFill>
                  <a:srgbClr val="FFFFFF"/>
                </a:solidFill>
                <a:latin typeface="Arial"/>
              </a:rPr>
              <a:t>Hàng</a:t>
            </a:r>
            <a:r>
              <a:rPr sz="1000" dirty="0">
                <a:solidFill>
                  <a:srgbClr val="FFFFFF"/>
                </a:solidFill>
                <a:latin typeface="Arial"/>
              </a:rPr>
              <a:t> </a:t>
            </a:r>
            <a:r>
              <a:rPr sz="1000" dirty="0" err="1">
                <a:solidFill>
                  <a:srgbClr val="FFFFFF"/>
                </a:solidFill>
                <a:latin typeface="Arial"/>
              </a:rPr>
              <a:t>đợi</a:t>
            </a:r>
            <a:r>
              <a:rPr sz="1000" dirty="0">
                <a:solidFill>
                  <a:srgbClr val="FFFFFF"/>
                </a:solidFill>
                <a:latin typeface="Arial"/>
              </a:rPr>
              <a:t> </a:t>
            </a:r>
            <a:r>
              <a:rPr sz="1000" dirty="0" err="1">
                <a:solidFill>
                  <a:srgbClr val="FFFFFF"/>
                </a:solidFill>
                <a:latin typeface="Arial"/>
              </a:rPr>
              <a:t>sự</a:t>
            </a:r>
            <a:r>
              <a:rPr sz="1000" dirty="0">
                <a:solidFill>
                  <a:srgbClr val="FFFFFF"/>
                </a:solidFill>
                <a:latin typeface="Arial"/>
              </a:rPr>
              <a:t> </a:t>
            </a:r>
            <a:r>
              <a:rPr sz="1000" dirty="0" err="1">
                <a:solidFill>
                  <a:srgbClr val="FFFFFF"/>
                </a:solidFill>
                <a:latin typeface="Arial"/>
              </a:rPr>
              <a:t>kiện</a:t>
            </a:r>
            <a:endParaRPr sz="1000" dirty="0">
              <a:solidFill>
                <a:srgbClr val="FFFFFF"/>
              </a:solidFill>
              <a:latin typeface="Arial"/>
            </a:endParaRPr>
          </a:p>
        </p:txBody>
      </p:sp>
      <p:sp>
        <p:nvSpPr>
          <p:cNvPr id="17" name="Right Arrow 16"/>
          <p:cNvSpPr/>
          <p:nvPr/>
        </p:nvSpPr>
        <p:spPr>
          <a:xfrm>
            <a:off x="9430789" y="5383041"/>
            <a:ext cx="1417320" cy="45720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1338560" y="3535680"/>
            <a:ext cx="4937760" cy="1188720"/>
          </a:xfrm>
          <a:prstGeom prst="roundRect">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800" b="1">
                <a:solidFill>
                  <a:srgbClr val="1A2A44"/>
                </a:solidFill>
                <a:latin typeface="Arial"/>
              </a:rPr>
              <a:t>Spark</a:t>
            </a:r>
          </a:p>
          <a:p>
            <a:pPr algn="ctr"/>
            <a:r>
              <a:rPr sz="1100">
                <a:solidFill>
                  <a:srgbClr val="1A2A44"/>
                </a:solidFill>
                <a:latin typeface="Arial"/>
              </a:rPr>
              <a:t>Xử lý &amp; biến đổi dữ liệu (ETL)</a:t>
            </a:r>
          </a:p>
        </p:txBody>
      </p:sp>
      <p:sp>
        <p:nvSpPr>
          <p:cNvPr id="19" name="Down Arrow 18"/>
          <p:cNvSpPr/>
          <p:nvPr/>
        </p:nvSpPr>
        <p:spPr>
          <a:xfrm>
            <a:off x="13560552" y="4823460"/>
            <a:ext cx="493776" cy="502920"/>
          </a:xfrm>
          <a:prstGeom prst="down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2847320" y="5425440"/>
            <a:ext cx="1920240" cy="91440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dirty="0">
                <a:solidFill>
                  <a:srgbClr val="FFFFFF"/>
                </a:solidFill>
                <a:latin typeface="Arial"/>
              </a:rPr>
              <a:t>Airflow</a:t>
            </a:r>
          </a:p>
          <a:p>
            <a:pPr algn="ctr"/>
            <a:r>
              <a:rPr sz="1000" dirty="0" err="1">
                <a:solidFill>
                  <a:srgbClr val="FFFFFF"/>
                </a:solidFill>
                <a:latin typeface="Arial"/>
              </a:rPr>
              <a:t>Điều</a:t>
            </a:r>
            <a:r>
              <a:rPr sz="1000" dirty="0">
                <a:solidFill>
                  <a:srgbClr val="FFFFFF"/>
                </a:solidFill>
                <a:latin typeface="Arial"/>
              </a:rPr>
              <a:t> </a:t>
            </a:r>
            <a:r>
              <a:rPr sz="1000" dirty="0" err="1">
                <a:solidFill>
                  <a:srgbClr val="FFFFFF"/>
                </a:solidFill>
                <a:latin typeface="Arial"/>
              </a:rPr>
              <a:t>phối</a:t>
            </a:r>
            <a:r>
              <a:rPr sz="1000" dirty="0">
                <a:solidFill>
                  <a:srgbClr val="FFFFFF"/>
                </a:solidFill>
                <a:latin typeface="Arial"/>
              </a:rPr>
              <a:t> </a:t>
            </a:r>
            <a:r>
              <a:rPr sz="1000" dirty="0" err="1">
                <a:solidFill>
                  <a:srgbClr val="FFFFFF"/>
                </a:solidFill>
                <a:latin typeface="Arial"/>
              </a:rPr>
              <a:t>luồng</a:t>
            </a:r>
            <a:endParaRPr sz="1000" dirty="0">
              <a:solidFill>
                <a:srgbClr val="FFFFFF"/>
              </a:solidFill>
              <a:latin typeface="Arial"/>
            </a:endParaRPr>
          </a:p>
        </p:txBody>
      </p:sp>
      <p:sp>
        <p:nvSpPr>
          <p:cNvPr id="21" name="Down Arrow 20"/>
          <p:cNvSpPr/>
          <p:nvPr/>
        </p:nvSpPr>
        <p:spPr>
          <a:xfrm>
            <a:off x="13568865" y="6438900"/>
            <a:ext cx="493776" cy="502920"/>
          </a:xfrm>
          <a:prstGeom prst="down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338560" y="6946669"/>
            <a:ext cx="4937760" cy="365760"/>
          </a:xfrm>
          <a:prstGeom prst="rect">
            <a:avLst/>
          </a:prstGeom>
          <a:noFill/>
        </p:spPr>
        <p:txBody>
          <a:bodyPr wrap="square">
            <a:spAutoFit/>
          </a:bodyPr>
          <a:lstStyle/>
          <a:p>
            <a:pPr algn="ctr"/>
            <a:r>
              <a:rPr sz="1200" b="1" dirty="0">
                <a:solidFill>
                  <a:srgbClr val="16458C"/>
                </a:solidFill>
                <a:latin typeface="Arial"/>
              </a:rPr>
              <a:t>Kho </a:t>
            </a:r>
            <a:r>
              <a:rPr sz="1200" b="1" dirty="0" err="1">
                <a:solidFill>
                  <a:srgbClr val="16458C"/>
                </a:solidFill>
                <a:latin typeface="Arial"/>
              </a:rPr>
              <a:t>dữ</a:t>
            </a:r>
            <a:r>
              <a:rPr sz="1200" b="1" dirty="0">
                <a:solidFill>
                  <a:srgbClr val="16458C"/>
                </a:solidFill>
                <a:latin typeface="Arial"/>
              </a:rPr>
              <a:t> </a:t>
            </a:r>
            <a:r>
              <a:rPr sz="1200" b="1" dirty="0" err="1">
                <a:solidFill>
                  <a:srgbClr val="16458C"/>
                </a:solidFill>
                <a:latin typeface="Arial"/>
              </a:rPr>
              <a:t>liệu</a:t>
            </a:r>
            <a:r>
              <a:rPr sz="1200" b="1" dirty="0">
                <a:solidFill>
                  <a:srgbClr val="16458C"/>
                </a:solidFill>
                <a:latin typeface="Arial"/>
              </a:rPr>
              <a:t> Hive (Data Warehouse)</a:t>
            </a:r>
          </a:p>
        </p:txBody>
      </p:sp>
      <p:sp>
        <p:nvSpPr>
          <p:cNvPr id="23" name="Rounded Rectangle 22"/>
          <p:cNvSpPr/>
          <p:nvPr/>
        </p:nvSpPr>
        <p:spPr>
          <a:xfrm>
            <a:off x="11308080" y="7267576"/>
            <a:ext cx="1463040" cy="960120"/>
          </a:xfrm>
          <a:prstGeom prst="roundRect">
            <a:avLst/>
          </a:prstGeom>
          <a:solidFill>
            <a:srgbClr val="B07C4B"/>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a:solidFill>
                  <a:srgbClr val="FFFFFF"/>
                </a:solidFill>
                <a:latin typeface="Arial"/>
              </a:rPr>
              <a:t>BRONZE</a:t>
            </a:r>
          </a:p>
          <a:p>
            <a:pPr algn="ctr"/>
            <a:r>
              <a:rPr sz="900">
                <a:solidFill>
                  <a:srgbClr val="FFFFFF"/>
                </a:solidFill>
                <a:latin typeface="Arial"/>
              </a:rPr>
              <a:t>Dữ liệu thô</a:t>
            </a:r>
          </a:p>
        </p:txBody>
      </p:sp>
      <p:sp>
        <p:nvSpPr>
          <p:cNvPr id="24" name="Rounded Rectangle 23"/>
          <p:cNvSpPr/>
          <p:nvPr/>
        </p:nvSpPr>
        <p:spPr>
          <a:xfrm>
            <a:off x="13068300" y="7274676"/>
            <a:ext cx="1463040" cy="960120"/>
          </a:xfrm>
          <a:prstGeom prst="roundRect">
            <a:avLst/>
          </a:prstGeom>
          <a:solidFill>
            <a:srgbClr val="AAB0B8"/>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dirty="0">
                <a:solidFill>
                  <a:srgbClr val="1A2A44"/>
                </a:solidFill>
                <a:latin typeface="Arial"/>
              </a:rPr>
              <a:t>SILVER</a:t>
            </a:r>
          </a:p>
          <a:p>
            <a:pPr algn="ctr"/>
            <a:r>
              <a:rPr sz="900" dirty="0" err="1">
                <a:solidFill>
                  <a:srgbClr val="1A2A44"/>
                </a:solidFill>
                <a:latin typeface="Arial"/>
              </a:rPr>
              <a:t>Làm</a:t>
            </a:r>
            <a:r>
              <a:rPr sz="900" dirty="0">
                <a:solidFill>
                  <a:srgbClr val="1A2A44"/>
                </a:solidFill>
                <a:latin typeface="Arial"/>
              </a:rPr>
              <a:t> </a:t>
            </a:r>
            <a:r>
              <a:rPr sz="900" dirty="0" err="1">
                <a:solidFill>
                  <a:srgbClr val="1A2A44"/>
                </a:solidFill>
                <a:latin typeface="Arial"/>
              </a:rPr>
              <a:t>sạch</a:t>
            </a:r>
            <a:endParaRPr sz="900" dirty="0">
              <a:solidFill>
                <a:srgbClr val="1A2A44"/>
              </a:solidFill>
              <a:latin typeface="Arial"/>
            </a:endParaRPr>
          </a:p>
        </p:txBody>
      </p:sp>
      <p:sp>
        <p:nvSpPr>
          <p:cNvPr id="25" name="Rounded Rectangle 24"/>
          <p:cNvSpPr/>
          <p:nvPr/>
        </p:nvSpPr>
        <p:spPr>
          <a:xfrm>
            <a:off x="14767560" y="7267576"/>
            <a:ext cx="1463040" cy="960120"/>
          </a:xfrm>
          <a:prstGeom prst="roundRect">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a:solidFill>
                  <a:srgbClr val="1A2A44"/>
                </a:solidFill>
                <a:latin typeface="Arial"/>
              </a:rPr>
              <a:t>GOLD</a:t>
            </a:r>
          </a:p>
          <a:p>
            <a:pPr algn="ctr"/>
            <a:r>
              <a:rPr sz="900">
                <a:solidFill>
                  <a:srgbClr val="1A2A44"/>
                </a:solidFill>
                <a:latin typeface="Arial"/>
              </a:rPr>
              <a:t>Sẵn dùng</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sp>
        <p:nvSpPr>
          <p:cNvPr id="4" name="TextBox 4"/>
          <p:cNvSpPr txBox="1"/>
          <p:nvPr/>
        </p:nvSpPr>
        <p:spPr>
          <a:xfrm>
            <a:off x="803120" y="1944245"/>
            <a:ext cx="7883680" cy="743793"/>
          </a:xfrm>
          <a:prstGeom prst="rect">
            <a:avLst/>
          </a:prstGeom>
        </p:spPr>
        <p:txBody>
          <a:bodyPr wrap="square" lIns="0" tIns="0" rIns="0" bIns="0" rtlCol="0" anchor="t">
            <a:spAutoFit/>
          </a:bodyPr>
          <a:lstStyle/>
          <a:p>
            <a:pPr algn="l">
              <a:lnSpc>
                <a:spcPts val="5759"/>
              </a:lnSpc>
            </a:pPr>
            <a:r>
              <a:rPr sz="54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Kiến trúc lớp dữ liệu</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20989A2B-1288-7987-8AEB-AAF71DC7F7A5}"/>
              </a:ext>
            </a:extLst>
          </p:cNvPr>
          <p:cNvCxnSpPr>
            <a:cxnSpLocks/>
          </p:cNvCxnSpPr>
          <p:nvPr/>
        </p:nvCxnSpPr>
        <p:spPr>
          <a:xfrm>
            <a:off x="609600" y="1944245"/>
            <a:ext cx="0" cy="608455"/>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371600" y="4572000"/>
            <a:ext cx="4389120" cy="2011680"/>
          </a:xfrm>
          <a:prstGeom prst="roundRect">
            <a:avLst/>
          </a:prstGeom>
          <a:solidFill>
            <a:srgbClr val="5A636E"/>
          </a:solidFill>
          <a:ln>
            <a:solidFill>
              <a:srgbClr val="5A636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BRONZE</a:t>
            </a:r>
          </a:p>
          <a:p>
            <a:r>
              <a:rPr lang="en-US" sz="20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lưu</a:t>
            </a:r>
            <a:r>
              <a:rPr sz="20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dữ</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liệu</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gốc</a:t>
            </a:r>
            <a:r>
              <a:rPr lang="en-US" sz="20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endPar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0" name="Rounded Rectangle 9"/>
          <p:cNvSpPr/>
          <p:nvPr/>
        </p:nvSpPr>
        <p:spPr>
          <a:xfrm>
            <a:off x="6400800" y="4572000"/>
            <a:ext cx="4389120" cy="2011680"/>
          </a:xfrm>
          <a:prstGeom prst="roundRect">
            <a:avLst/>
          </a:prstGeom>
          <a:solidFill>
            <a:srgbClr val="16458C"/>
          </a:solidFill>
          <a:ln>
            <a:solidFill>
              <a:srgbClr val="16458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SILVER</a:t>
            </a:r>
          </a:p>
          <a:p>
            <a:r>
              <a:rPr lang="en-US" sz="20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làm</a:t>
            </a:r>
            <a:r>
              <a:rPr sz="20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sạch</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&amp;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chuẩn</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hóa</a:t>
            </a:r>
            <a:endPar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1" name="Rounded Rectangle 10"/>
          <p:cNvSpPr/>
          <p:nvPr/>
        </p:nvSpPr>
        <p:spPr>
          <a:xfrm>
            <a:off x="11430000" y="4572000"/>
            <a:ext cx="4389120" cy="2011680"/>
          </a:xfrm>
          <a:prstGeom prst="roundRect">
            <a:avLst/>
          </a:prstGeom>
          <a:solidFill>
            <a:srgbClr val="FCB618"/>
          </a:solidFill>
          <a:ln>
            <a:solidFill>
              <a:srgbClr val="FCB618"/>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GOLD</a:t>
            </a:r>
          </a:p>
          <a:p>
            <a:r>
              <a:rPr lang="en-US" sz="20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tối</a:t>
            </a:r>
            <a:r>
              <a:rPr sz="20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ưu</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2000" b="1"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cho</a:t>
            </a:r>
            <a:r>
              <a:rPr sz="20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BI &amp; AI Query</a:t>
            </a:r>
          </a:p>
        </p:txBody>
      </p:sp>
      <p:sp>
        <p:nvSpPr>
          <p:cNvPr id="12" name="Right Arrow 11"/>
          <p:cNvSpPr/>
          <p:nvPr/>
        </p:nvSpPr>
        <p:spPr>
          <a:xfrm>
            <a:off x="5852160" y="5303520"/>
            <a:ext cx="457200" cy="54864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10881360" y="5303520"/>
            <a:ext cx="457200" cy="54864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sp>
        <p:nvSpPr>
          <p:cNvPr id="3" name="Freeform 3"/>
          <p:cNvSpPr/>
          <p:nvPr/>
        </p:nvSpPr>
        <p:spPr>
          <a:xfrm>
            <a:off x="7053098" y="7775262"/>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a:p>
        </p:txBody>
      </p:sp>
      <p:sp>
        <p:nvSpPr>
          <p:cNvPr id="4" name="TextBox 4"/>
          <p:cNvSpPr txBox="1"/>
          <p:nvPr/>
        </p:nvSpPr>
        <p:spPr>
          <a:xfrm>
            <a:off x="935586" y="2312649"/>
            <a:ext cx="8116974" cy="743793"/>
          </a:xfrm>
          <a:prstGeom prst="rect">
            <a:avLst/>
          </a:prstGeom>
        </p:spPr>
        <p:txBody>
          <a:bodyPr wrap="square" lIns="0" tIns="0" rIns="0" bIns="0" rtlCol="0" anchor="t">
            <a:spAutoFit/>
          </a:bodyPr>
          <a:lstStyle/>
          <a:p>
            <a:pPr algn="l">
              <a:lnSpc>
                <a:spcPts val="5759"/>
              </a:lnSpc>
            </a:pPr>
            <a:r>
              <a:rPr sz="54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Kiến trúc AI Agent</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grpSp>
        <p:nvGrpSpPr>
          <p:cNvPr id="6" name="Group 6"/>
          <p:cNvGrpSpPr/>
          <p:nvPr/>
        </p:nvGrpSpPr>
        <p:grpSpPr>
          <a:xfrm>
            <a:off x="711680" y="3211149"/>
            <a:ext cx="1368870" cy="2345774"/>
            <a:chOff x="0" y="0"/>
            <a:chExt cx="1825160" cy="3127698"/>
          </a:xfrm>
        </p:grpSpPr>
        <p:sp>
          <p:nvSpPr>
            <p:cNvPr id="7" name="Freeform 7"/>
            <p:cNvSpPr/>
            <p:nvPr/>
          </p:nvSpPr>
          <p:spPr>
            <a:xfrm>
              <a:off x="0" y="0"/>
              <a:ext cx="1825117" cy="3127756"/>
            </a:xfrm>
            <a:custGeom>
              <a:avLst/>
              <a:gdLst/>
              <a:ahLst/>
              <a:cxnLst/>
              <a:rect l="l" t="t" r="r" b="b"/>
              <a:pathLst>
                <a:path w="1825117" h="3127756">
                  <a:moveTo>
                    <a:pt x="0" y="0"/>
                  </a:moveTo>
                  <a:lnTo>
                    <a:pt x="1825117" y="0"/>
                  </a:lnTo>
                  <a:lnTo>
                    <a:pt x="1825117" y="3127756"/>
                  </a:lnTo>
                  <a:lnTo>
                    <a:pt x="0" y="3127756"/>
                  </a:lnTo>
                  <a:lnTo>
                    <a:pt x="0" y="0"/>
                  </a:lnTo>
                  <a:close/>
                </a:path>
              </a:pathLst>
            </a:custGeom>
            <a:blipFill>
              <a:blip r:embed="rId5"/>
              <a:stretch>
                <a:fillRect r="-2" b="1"/>
              </a:stretch>
            </a:blipFill>
          </p:spPr>
          <p:txBody>
            <a:bodyPr/>
            <a:lstStyle/>
            <a:p>
              <a:endParaRPr/>
            </a:p>
          </p:txBody>
        </p:sp>
      </p:grpSp>
      <p:sp>
        <p:nvSpPr>
          <p:cNvPr id="8" name="TextBox 8"/>
          <p:cNvSpPr txBox="1"/>
          <p:nvPr/>
        </p:nvSpPr>
        <p:spPr>
          <a:xfrm>
            <a:off x="160228" y="5801503"/>
            <a:ext cx="2849078" cy="820738"/>
          </a:xfrm>
          <a:prstGeom prst="rect">
            <a:avLst/>
          </a:prstGeom>
        </p:spPr>
        <p:txBody>
          <a:bodyPr wrap="square" lIns="0" tIns="0" rIns="0" bIns="0" rtlCol="0" anchor="t">
            <a:spAutoFit/>
          </a:bodyPr>
          <a:lstStyle/>
          <a:p>
            <a:pPr algn="ctr">
              <a:lnSpc>
                <a:spcPts val="3240"/>
              </a:lnSpc>
            </a:pPr>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Tiếp nhận câu hỏi tiếng Việt</a:t>
            </a:r>
          </a:p>
        </p:txBody>
      </p:sp>
      <p:sp>
        <p:nvSpPr>
          <p:cNvPr id="9" name="Freeform 9"/>
          <p:cNvSpPr/>
          <p:nvPr/>
        </p:nvSpPr>
        <p:spPr>
          <a:xfrm>
            <a:off x="1206836" y="7692918"/>
            <a:ext cx="645807" cy="678741"/>
          </a:xfrm>
          <a:custGeom>
            <a:avLst/>
            <a:gdLst/>
            <a:ahLst/>
            <a:cxnLst/>
            <a:rect l="l" t="t" r="r" b="b"/>
            <a:pathLst>
              <a:path w="645807" h="678741">
                <a:moveTo>
                  <a:pt x="0" y="0"/>
                </a:moveTo>
                <a:lnTo>
                  <a:pt x="645806" y="0"/>
                </a:lnTo>
                <a:lnTo>
                  <a:pt x="645806" y="678741"/>
                </a:lnTo>
                <a:lnTo>
                  <a:pt x="0" y="678741"/>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a:p>
        </p:txBody>
      </p:sp>
      <p:sp>
        <p:nvSpPr>
          <p:cNvPr id="10" name="TextBox 10"/>
          <p:cNvSpPr txBox="1"/>
          <p:nvPr/>
        </p:nvSpPr>
        <p:spPr>
          <a:xfrm>
            <a:off x="1311169" y="7844429"/>
            <a:ext cx="409522" cy="320601"/>
          </a:xfrm>
          <a:prstGeom prst="rect">
            <a:avLst/>
          </a:prstGeom>
        </p:spPr>
        <p:txBody>
          <a:bodyPr lIns="0" tIns="0" rIns="0" bIns="0" rtlCol="0" anchor="t">
            <a:spAutoFit/>
          </a:bodyPr>
          <a:lstStyle/>
          <a:p>
            <a:pPr algn="l">
              <a:lnSpc>
                <a:spcPts val="2520"/>
              </a:lnSpc>
            </a:pPr>
            <a:r>
              <a:rPr lang="en-US" sz="2100" b="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01</a:t>
            </a:r>
          </a:p>
        </p:txBody>
      </p:sp>
      <p:sp>
        <p:nvSpPr>
          <p:cNvPr id="11" name="TextBox 11"/>
          <p:cNvSpPr txBox="1"/>
          <p:nvPr/>
        </p:nvSpPr>
        <p:spPr>
          <a:xfrm>
            <a:off x="447750" y="8644243"/>
            <a:ext cx="2728762" cy="820738"/>
          </a:xfrm>
          <a:prstGeom prst="rect">
            <a:avLst/>
          </a:prstGeom>
        </p:spPr>
        <p:txBody>
          <a:bodyPr wrap="square" lIns="0" tIns="0" rIns="0" bIns="0" rtlCol="0" anchor="t">
            <a:spAutoFit/>
          </a:bodyPr>
          <a:lstStyle/>
          <a:p>
            <a:pPr algn="l">
              <a:lnSpc>
                <a:spcPts val="3240"/>
              </a:lnSpc>
            </a:pPr>
            <a:r>
              <a:rPr sz="27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NGƯỜI DÙNG → AI AGENT</a:t>
            </a:r>
          </a:p>
        </p:txBody>
      </p:sp>
      <p:sp>
        <p:nvSpPr>
          <p:cNvPr id="12" name="Freeform 12"/>
          <p:cNvSpPr/>
          <p:nvPr/>
        </p:nvSpPr>
        <p:spPr>
          <a:xfrm>
            <a:off x="3749674" y="6416528"/>
            <a:ext cx="1449168" cy="1520161"/>
          </a:xfrm>
          <a:custGeom>
            <a:avLst/>
            <a:gdLst/>
            <a:ahLst/>
            <a:cxnLst/>
            <a:rect l="l" t="t" r="r" b="b"/>
            <a:pathLst>
              <a:path w="1449168" h="1520161">
                <a:moveTo>
                  <a:pt x="0" y="0"/>
                </a:moveTo>
                <a:lnTo>
                  <a:pt x="1449168" y="0"/>
                </a:lnTo>
                <a:lnTo>
                  <a:pt x="1449168" y="1520161"/>
                </a:lnTo>
                <a:lnTo>
                  <a:pt x="0" y="152016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a:p>
        </p:txBody>
      </p:sp>
      <p:sp>
        <p:nvSpPr>
          <p:cNvPr id="13" name="TextBox 13"/>
          <p:cNvSpPr txBox="1"/>
          <p:nvPr/>
        </p:nvSpPr>
        <p:spPr>
          <a:xfrm>
            <a:off x="3154353" y="4316445"/>
            <a:ext cx="2488872" cy="410369"/>
          </a:xfrm>
          <a:prstGeom prst="rect">
            <a:avLst/>
          </a:prstGeom>
        </p:spPr>
        <p:txBody>
          <a:bodyPr wrap="square" lIns="0" tIns="0" rIns="0" bIns="0" rtlCol="0" anchor="t">
            <a:spAutoFit/>
          </a:bodyPr>
          <a:lstStyle/>
          <a:p>
            <a:pPr algn="ctr">
              <a:lnSpc>
                <a:spcPts val="3240"/>
              </a:lnSpc>
            </a:pPr>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Phân tích ý định</a:t>
            </a:r>
          </a:p>
        </p:txBody>
      </p:sp>
      <p:sp>
        <p:nvSpPr>
          <p:cNvPr id="14" name="Freeform 14"/>
          <p:cNvSpPr/>
          <p:nvPr/>
        </p:nvSpPr>
        <p:spPr>
          <a:xfrm>
            <a:off x="4103921" y="3498111"/>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a:p>
        </p:txBody>
      </p:sp>
      <p:sp>
        <p:nvSpPr>
          <p:cNvPr id="15" name="TextBox 15"/>
          <p:cNvSpPr txBox="1"/>
          <p:nvPr/>
        </p:nvSpPr>
        <p:spPr>
          <a:xfrm>
            <a:off x="4200579" y="3634749"/>
            <a:ext cx="731520" cy="320601"/>
          </a:xfrm>
          <a:prstGeom prst="rect">
            <a:avLst/>
          </a:prstGeom>
        </p:spPr>
        <p:txBody>
          <a:bodyPr lIns="0" tIns="0" rIns="0" bIns="0" rtlCol="0" anchor="t">
            <a:spAutoFit/>
          </a:bodyPr>
          <a:lstStyle/>
          <a:p>
            <a:pPr algn="l">
              <a:lnSpc>
                <a:spcPts val="2520"/>
              </a:lnSpc>
            </a:pPr>
            <a:r>
              <a:rPr lang="en-US" sz="2100" b="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02</a:t>
            </a:r>
          </a:p>
        </p:txBody>
      </p:sp>
      <p:sp>
        <p:nvSpPr>
          <p:cNvPr id="16" name="Freeform 16"/>
          <p:cNvSpPr/>
          <p:nvPr/>
        </p:nvSpPr>
        <p:spPr>
          <a:xfrm>
            <a:off x="6717028" y="3349443"/>
            <a:ext cx="1730691" cy="2425391"/>
          </a:xfrm>
          <a:custGeom>
            <a:avLst/>
            <a:gdLst/>
            <a:ahLst/>
            <a:cxnLst/>
            <a:rect l="l" t="t" r="r" b="b"/>
            <a:pathLst>
              <a:path w="1730691" h="2425391">
                <a:moveTo>
                  <a:pt x="0" y="0"/>
                </a:moveTo>
                <a:lnTo>
                  <a:pt x="1730691" y="0"/>
                </a:lnTo>
                <a:lnTo>
                  <a:pt x="1730691" y="2425391"/>
                </a:lnTo>
                <a:lnTo>
                  <a:pt x="0" y="2425391"/>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a:p>
        </p:txBody>
      </p:sp>
      <p:sp>
        <p:nvSpPr>
          <p:cNvPr id="17" name="TextBox 17"/>
          <p:cNvSpPr txBox="1"/>
          <p:nvPr/>
        </p:nvSpPr>
        <p:spPr>
          <a:xfrm>
            <a:off x="6084710" y="5826135"/>
            <a:ext cx="2977249" cy="820738"/>
          </a:xfrm>
          <a:prstGeom prst="rect">
            <a:avLst/>
          </a:prstGeom>
        </p:spPr>
        <p:txBody>
          <a:bodyPr wrap="square" lIns="0" tIns="0" rIns="0" bIns="0" rtlCol="0" anchor="t">
            <a:spAutoFit/>
          </a:bodyPr>
          <a:lstStyle/>
          <a:p>
            <a:pPr algn="ctr">
              <a:lnSpc>
                <a:spcPts val="3240"/>
              </a:lnSpc>
            </a:pPr>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Tìm metadata liên quan</a:t>
            </a:r>
            <a:endPar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18" name="TextBox 18"/>
          <p:cNvSpPr txBox="1"/>
          <p:nvPr/>
        </p:nvSpPr>
        <p:spPr>
          <a:xfrm>
            <a:off x="7150605" y="7900603"/>
            <a:ext cx="586501" cy="320601"/>
          </a:xfrm>
          <a:prstGeom prst="rect">
            <a:avLst/>
          </a:prstGeom>
        </p:spPr>
        <p:txBody>
          <a:bodyPr lIns="0" tIns="0" rIns="0" bIns="0" rtlCol="0" anchor="t">
            <a:spAutoFit/>
          </a:bodyPr>
          <a:lstStyle/>
          <a:p>
            <a:pPr algn="l">
              <a:lnSpc>
                <a:spcPts val="2520"/>
              </a:lnSpc>
            </a:pPr>
            <a:r>
              <a:rPr lang="en-US" sz="2100" b="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03</a:t>
            </a:r>
          </a:p>
        </p:txBody>
      </p:sp>
      <p:sp>
        <p:nvSpPr>
          <p:cNvPr id="19" name="Freeform 19"/>
          <p:cNvSpPr/>
          <p:nvPr/>
        </p:nvSpPr>
        <p:spPr>
          <a:xfrm>
            <a:off x="10881281" y="3534734"/>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a:p>
        </p:txBody>
      </p:sp>
      <p:sp>
        <p:nvSpPr>
          <p:cNvPr id="20" name="TextBox 20"/>
          <p:cNvSpPr txBox="1"/>
          <p:nvPr/>
        </p:nvSpPr>
        <p:spPr>
          <a:xfrm>
            <a:off x="9628316" y="4410705"/>
            <a:ext cx="3123871" cy="820738"/>
          </a:xfrm>
          <a:prstGeom prst="rect">
            <a:avLst/>
          </a:prstGeom>
        </p:spPr>
        <p:txBody>
          <a:bodyPr wrap="square" lIns="0" tIns="0" rIns="0" bIns="0" rtlCol="0" anchor="t">
            <a:spAutoFit/>
          </a:bodyPr>
          <a:lstStyle/>
          <a:p>
            <a:pPr algn="ctr">
              <a:lnSpc>
                <a:spcPts val="3240"/>
              </a:lnSpc>
            </a:pPr>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Sinh truy vấn dữ liệu</a:t>
            </a:r>
          </a:p>
        </p:txBody>
      </p:sp>
      <p:sp>
        <p:nvSpPr>
          <p:cNvPr id="21" name="Freeform 21"/>
          <p:cNvSpPr/>
          <p:nvPr/>
        </p:nvSpPr>
        <p:spPr>
          <a:xfrm>
            <a:off x="10393671" y="6454245"/>
            <a:ext cx="1488402" cy="1688928"/>
          </a:xfrm>
          <a:custGeom>
            <a:avLst/>
            <a:gdLst/>
            <a:ahLst/>
            <a:cxnLst/>
            <a:rect l="l" t="t" r="r" b="b"/>
            <a:pathLst>
              <a:path w="1488402" h="1688928">
                <a:moveTo>
                  <a:pt x="0" y="0"/>
                </a:moveTo>
                <a:lnTo>
                  <a:pt x="1488402" y="0"/>
                </a:lnTo>
                <a:lnTo>
                  <a:pt x="1488402" y="1688928"/>
                </a:lnTo>
                <a:lnTo>
                  <a:pt x="0" y="1688928"/>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txBody>
          <a:bodyPr/>
          <a:lstStyle/>
          <a:p>
            <a:endParaRPr/>
          </a:p>
        </p:txBody>
      </p:sp>
      <p:sp>
        <p:nvSpPr>
          <p:cNvPr id="22" name="Freeform 22"/>
          <p:cNvSpPr/>
          <p:nvPr/>
        </p:nvSpPr>
        <p:spPr>
          <a:xfrm>
            <a:off x="13620525" y="3478344"/>
            <a:ext cx="1604562" cy="1744498"/>
          </a:xfrm>
          <a:custGeom>
            <a:avLst/>
            <a:gdLst/>
            <a:ahLst/>
            <a:cxnLst/>
            <a:rect l="l" t="t" r="r" b="b"/>
            <a:pathLst>
              <a:path w="1604562" h="1744498">
                <a:moveTo>
                  <a:pt x="0" y="0"/>
                </a:moveTo>
                <a:lnTo>
                  <a:pt x="1604562" y="0"/>
                </a:lnTo>
                <a:lnTo>
                  <a:pt x="1604562" y="1744498"/>
                </a:lnTo>
                <a:lnTo>
                  <a:pt x="0" y="1744498"/>
                </a:lnTo>
                <a:lnTo>
                  <a:pt x="0" y="0"/>
                </a:lnTo>
                <a:close/>
              </a:path>
            </a:pathLst>
          </a:custGeom>
          <a:blipFill>
            <a:blip r:embed="rId14">
              <a:extLst>
                <a:ext uri="{96DAC541-7B7A-43D3-8B79-37D633B846F1}">
                  <asvg:svgBlip xmlns:asvg="http://schemas.microsoft.com/office/drawing/2016/SVG/main" xmlns="" r:embed="rId15"/>
                </a:ext>
              </a:extLst>
            </a:blip>
            <a:stretch>
              <a:fillRect/>
            </a:stretch>
          </a:blipFill>
        </p:spPr>
        <p:txBody>
          <a:bodyPr/>
          <a:lstStyle/>
          <a:p>
            <a:endParaRPr/>
          </a:p>
        </p:txBody>
      </p:sp>
      <p:sp>
        <p:nvSpPr>
          <p:cNvPr id="23" name="TextBox 23"/>
          <p:cNvSpPr txBox="1"/>
          <p:nvPr/>
        </p:nvSpPr>
        <p:spPr>
          <a:xfrm>
            <a:off x="13624564" y="5518701"/>
            <a:ext cx="1684416" cy="820738"/>
          </a:xfrm>
          <a:prstGeom prst="rect">
            <a:avLst/>
          </a:prstGeom>
        </p:spPr>
        <p:txBody>
          <a:bodyPr lIns="0" tIns="0" rIns="0" bIns="0" rtlCol="0" anchor="t">
            <a:spAutoFit/>
          </a:bodyPr>
          <a:lstStyle/>
          <a:p>
            <a:pPr algn="ctr">
              <a:lnSpc>
                <a:spcPts val="3240"/>
              </a:lnSpc>
            </a:pP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Kiểm</a:t>
            </a:r>
            <a:r>
              <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tra</a:t>
            </a:r>
            <a:r>
              <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an </a:t>
            </a: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toàn</a:t>
            </a:r>
            <a:endPar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24" name="Freeform 24"/>
          <p:cNvSpPr/>
          <p:nvPr/>
        </p:nvSpPr>
        <p:spPr>
          <a:xfrm>
            <a:off x="14157803" y="7646181"/>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a:p>
        </p:txBody>
      </p:sp>
      <p:sp>
        <p:nvSpPr>
          <p:cNvPr id="25" name="Freeform 25"/>
          <p:cNvSpPr/>
          <p:nvPr/>
        </p:nvSpPr>
        <p:spPr>
          <a:xfrm>
            <a:off x="16648367" y="3505064"/>
            <a:ext cx="617938" cy="649453"/>
          </a:xfrm>
          <a:custGeom>
            <a:avLst/>
            <a:gdLst/>
            <a:ahLst/>
            <a:cxnLst/>
            <a:rect l="l" t="t" r="r" b="b"/>
            <a:pathLst>
              <a:path w="617938" h="649453">
                <a:moveTo>
                  <a:pt x="0" y="0"/>
                </a:moveTo>
                <a:lnTo>
                  <a:pt x="617939" y="0"/>
                </a:lnTo>
                <a:lnTo>
                  <a:pt x="617939" y="649453"/>
                </a:lnTo>
                <a:lnTo>
                  <a:pt x="0" y="64945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a:p>
        </p:txBody>
      </p:sp>
      <p:sp>
        <p:nvSpPr>
          <p:cNvPr id="26" name="TextBox 26"/>
          <p:cNvSpPr txBox="1"/>
          <p:nvPr/>
        </p:nvSpPr>
        <p:spPr>
          <a:xfrm>
            <a:off x="15971922" y="4485759"/>
            <a:ext cx="1993020" cy="1231106"/>
          </a:xfrm>
          <a:prstGeom prst="rect">
            <a:avLst/>
          </a:prstGeom>
        </p:spPr>
        <p:txBody>
          <a:bodyPr lIns="0" tIns="0" rIns="0" bIns="0" rtlCol="0" anchor="t">
            <a:spAutoFit/>
          </a:bodyPr>
          <a:lstStyle/>
          <a:p>
            <a:pPr algn="ctr">
              <a:lnSpc>
                <a:spcPts val="3240"/>
              </a:lnSpc>
            </a:pP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Trả</a:t>
            </a:r>
            <a:r>
              <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kết</a:t>
            </a:r>
            <a:r>
              <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quả</a:t>
            </a:r>
            <a:r>
              <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kèm</a:t>
            </a:r>
            <a:r>
              <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giải</a:t>
            </a:r>
            <a:r>
              <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2700" dirty="0" err="1">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thích</a:t>
            </a:r>
            <a:endParaRPr lang="en-US" sz="2700" dirty="0">
              <a:solidFill>
                <a:srgbClr val="000000"/>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grpSp>
        <p:nvGrpSpPr>
          <p:cNvPr id="27" name="Group 27"/>
          <p:cNvGrpSpPr/>
          <p:nvPr/>
        </p:nvGrpSpPr>
        <p:grpSpPr>
          <a:xfrm>
            <a:off x="16140212" y="7369077"/>
            <a:ext cx="1916171" cy="1248497"/>
            <a:chOff x="0" y="0"/>
            <a:chExt cx="2554894" cy="1664662"/>
          </a:xfrm>
        </p:grpSpPr>
        <p:sp>
          <p:nvSpPr>
            <p:cNvPr id="28" name="Freeform 28"/>
            <p:cNvSpPr/>
            <p:nvPr/>
          </p:nvSpPr>
          <p:spPr>
            <a:xfrm>
              <a:off x="0" y="0"/>
              <a:ext cx="2554859" cy="1664716"/>
            </a:xfrm>
            <a:custGeom>
              <a:avLst/>
              <a:gdLst/>
              <a:ahLst/>
              <a:cxnLst/>
              <a:rect l="l" t="t" r="r" b="b"/>
              <a:pathLst>
                <a:path w="2554859" h="1664716">
                  <a:moveTo>
                    <a:pt x="0" y="0"/>
                  </a:moveTo>
                  <a:lnTo>
                    <a:pt x="2554859" y="0"/>
                  </a:lnTo>
                  <a:lnTo>
                    <a:pt x="2554859" y="1664716"/>
                  </a:lnTo>
                  <a:lnTo>
                    <a:pt x="0" y="1664716"/>
                  </a:lnTo>
                  <a:lnTo>
                    <a:pt x="0" y="0"/>
                  </a:lnTo>
                  <a:close/>
                </a:path>
              </a:pathLst>
            </a:custGeom>
            <a:blipFill>
              <a:blip r:embed="rId16"/>
              <a:stretch>
                <a:fillRect r="-1" b="3"/>
              </a:stretch>
            </a:blipFill>
          </p:spPr>
          <p:txBody>
            <a:bodyPr/>
            <a:lstStyle/>
            <a:p>
              <a:endParaRPr/>
            </a:p>
          </p:txBody>
        </p:sp>
      </p:grpSp>
      <p:sp>
        <p:nvSpPr>
          <p:cNvPr id="29" name="TextBox 29"/>
          <p:cNvSpPr txBox="1"/>
          <p:nvPr/>
        </p:nvSpPr>
        <p:spPr>
          <a:xfrm>
            <a:off x="10967542" y="3634749"/>
            <a:ext cx="605436" cy="320601"/>
          </a:xfrm>
          <a:prstGeom prst="rect">
            <a:avLst/>
          </a:prstGeom>
        </p:spPr>
        <p:txBody>
          <a:bodyPr lIns="0" tIns="0" rIns="0" bIns="0" rtlCol="0" anchor="t">
            <a:spAutoFit/>
          </a:bodyPr>
          <a:lstStyle/>
          <a:p>
            <a:pPr algn="l">
              <a:lnSpc>
                <a:spcPts val="2520"/>
              </a:lnSpc>
            </a:pPr>
            <a:r>
              <a:rPr lang="en-US" sz="2100" b="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04</a:t>
            </a:r>
          </a:p>
        </p:txBody>
      </p:sp>
      <p:sp>
        <p:nvSpPr>
          <p:cNvPr id="30" name="TextBox 30"/>
          <p:cNvSpPr txBox="1"/>
          <p:nvPr/>
        </p:nvSpPr>
        <p:spPr>
          <a:xfrm>
            <a:off x="14253972" y="7768846"/>
            <a:ext cx="534735" cy="320601"/>
          </a:xfrm>
          <a:prstGeom prst="rect">
            <a:avLst/>
          </a:prstGeom>
        </p:spPr>
        <p:txBody>
          <a:bodyPr lIns="0" tIns="0" rIns="0" bIns="0" rtlCol="0" anchor="t">
            <a:spAutoFit/>
          </a:bodyPr>
          <a:lstStyle/>
          <a:p>
            <a:pPr algn="l">
              <a:lnSpc>
                <a:spcPts val="2520"/>
              </a:lnSpc>
            </a:pPr>
            <a:r>
              <a:rPr lang="en-US" sz="2100" b="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05</a:t>
            </a:r>
          </a:p>
        </p:txBody>
      </p:sp>
      <p:sp>
        <p:nvSpPr>
          <p:cNvPr id="31" name="TextBox 31"/>
          <p:cNvSpPr txBox="1"/>
          <p:nvPr/>
        </p:nvSpPr>
        <p:spPr>
          <a:xfrm>
            <a:off x="16746631" y="3634748"/>
            <a:ext cx="541751" cy="320601"/>
          </a:xfrm>
          <a:prstGeom prst="rect">
            <a:avLst/>
          </a:prstGeom>
        </p:spPr>
        <p:txBody>
          <a:bodyPr lIns="0" tIns="0" rIns="0" bIns="0" rtlCol="0" anchor="t">
            <a:spAutoFit/>
          </a:bodyPr>
          <a:lstStyle/>
          <a:p>
            <a:pPr algn="l">
              <a:lnSpc>
                <a:spcPts val="2520"/>
              </a:lnSpc>
            </a:pPr>
            <a:r>
              <a:rPr lang="en-US" sz="2100" b="1">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06</a:t>
            </a:r>
          </a:p>
        </p:txBody>
      </p:sp>
      <p:sp>
        <p:nvSpPr>
          <p:cNvPr id="32" name="Freeform 32"/>
          <p:cNvSpPr/>
          <p:nvPr/>
        </p:nvSpPr>
        <p:spPr>
          <a:xfrm>
            <a:off x="5782257" y="4459089"/>
            <a:ext cx="314676" cy="3225992"/>
          </a:xfrm>
          <a:custGeom>
            <a:avLst/>
            <a:gdLst/>
            <a:ahLst/>
            <a:cxnLst/>
            <a:rect l="l" t="t" r="r" b="b"/>
            <a:pathLst>
              <a:path w="314676" h="3225992">
                <a:moveTo>
                  <a:pt x="0" y="0"/>
                </a:moveTo>
                <a:lnTo>
                  <a:pt x="314676" y="0"/>
                </a:lnTo>
                <a:lnTo>
                  <a:pt x="314676" y="3225992"/>
                </a:lnTo>
                <a:lnTo>
                  <a:pt x="0" y="3225992"/>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txBody>
          <a:bodyPr/>
          <a:lstStyle/>
          <a:p>
            <a:endParaRPr/>
          </a:p>
        </p:txBody>
      </p:sp>
      <p:sp>
        <p:nvSpPr>
          <p:cNvPr id="33" name="Freeform 33"/>
          <p:cNvSpPr/>
          <p:nvPr/>
        </p:nvSpPr>
        <p:spPr>
          <a:xfrm>
            <a:off x="12895725" y="4459089"/>
            <a:ext cx="314676" cy="3225992"/>
          </a:xfrm>
          <a:custGeom>
            <a:avLst/>
            <a:gdLst/>
            <a:ahLst/>
            <a:cxnLst/>
            <a:rect l="l" t="t" r="r" b="b"/>
            <a:pathLst>
              <a:path w="314676" h="3225992">
                <a:moveTo>
                  <a:pt x="0" y="0"/>
                </a:moveTo>
                <a:lnTo>
                  <a:pt x="314676" y="0"/>
                </a:lnTo>
                <a:lnTo>
                  <a:pt x="314676" y="3225992"/>
                </a:lnTo>
                <a:lnTo>
                  <a:pt x="0" y="3225992"/>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txBody>
          <a:bodyPr/>
          <a:lstStyle/>
          <a:p>
            <a:endParaRPr/>
          </a:p>
        </p:txBody>
      </p:sp>
      <p:sp>
        <p:nvSpPr>
          <p:cNvPr id="34" name="Freeform 34"/>
          <p:cNvSpPr/>
          <p:nvPr/>
        </p:nvSpPr>
        <p:spPr>
          <a:xfrm>
            <a:off x="9164969" y="4437772"/>
            <a:ext cx="345858" cy="3268621"/>
          </a:xfrm>
          <a:custGeom>
            <a:avLst/>
            <a:gdLst/>
            <a:ahLst/>
            <a:cxnLst/>
            <a:rect l="l" t="t" r="r" b="b"/>
            <a:pathLst>
              <a:path w="345858" h="3268621">
                <a:moveTo>
                  <a:pt x="0" y="0"/>
                </a:moveTo>
                <a:lnTo>
                  <a:pt x="345858" y="0"/>
                </a:lnTo>
                <a:lnTo>
                  <a:pt x="345858" y="3268622"/>
                </a:lnTo>
                <a:lnTo>
                  <a:pt x="0" y="3268622"/>
                </a:lnTo>
                <a:lnTo>
                  <a:pt x="0" y="0"/>
                </a:lnTo>
                <a:close/>
              </a:path>
            </a:pathLst>
          </a:custGeom>
          <a:blipFill>
            <a:blip r:embed="rId19">
              <a:extLst>
                <a:ext uri="{96DAC541-7B7A-43D3-8B79-37D633B846F1}">
                  <asvg:svgBlip xmlns:asvg="http://schemas.microsoft.com/office/drawing/2016/SVG/main" xmlns="" r:embed="rId20"/>
                </a:ext>
              </a:extLst>
            </a:blip>
            <a:stretch>
              <a:fillRect/>
            </a:stretch>
          </a:blipFill>
        </p:spPr>
        <p:txBody>
          <a:bodyPr/>
          <a:lstStyle/>
          <a:p>
            <a:endParaRPr/>
          </a:p>
        </p:txBody>
      </p:sp>
      <p:sp>
        <p:nvSpPr>
          <p:cNvPr id="35" name="Freeform 35"/>
          <p:cNvSpPr/>
          <p:nvPr/>
        </p:nvSpPr>
        <p:spPr>
          <a:xfrm>
            <a:off x="15487384" y="4544595"/>
            <a:ext cx="345858" cy="3268622"/>
          </a:xfrm>
          <a:custGeom>
            <a:avLst/>
            <a:gdLst/>
            <a:ahLst/>
            <a:cxnLst/>
            <a:rect l="l" t="t" r="r" b="b"/>
            <a:pathLst>
              <a:path w="345858" h="3268622">
                <a:moveTo>
                  <a:pt x="0" y="0"/>
                </a:moveTo>
                <a:lnTo>
                  <a:pt x="345859" y="0"/>
                </a:lnTo>
                <a:lnTo>
                  <a:pt x="345859" y="3268621"/>
                </a:lnTo>
                <a:lnTo>
                  <a:pt x="0" y="3268621"/>
                </a:lnTo>
                <a:lnTo>
                  <a:pt x="0" y="0"/>
                </a:lnTo>
                <a:close/>
              </a:path>
            </a:pathLst>
          </a:custGeom>
          <a:blipFill>
            <a:blip r:embed="rId19">
              <a:extLst>
                <a:ext uri="{96DAC541-7B7A-43D3-8B79-37D633B846F1}">
                  <asvg:svgBlip xmlns:asvg="http://schemas.microsoft.com/office/drawing/2016/SVG/main" xmlns="" r:embed="rId20"/>
                </a:ext>
              </a:extLst>
            </a:blip>
            <a:stretch>
              <a:fillRect/>
            </a:stretch>
          </a:blipFill>
        </p:spPr>
        <p:txBody>
          <a:bodyPr/>
          <a:lstStyle/>
          <a:p>
            <a:endParaRPr/>
          </a:p>
        </p:txBody>
      </p:sp>
      <p:sp>
        <p:nvSpPr>
          <p:cNvPr id="36" name="Freeform 36"/>
          <p:cNvSpPr/>
          <p:nvPr/>
        </p:nvSpPr>
        <p:spPr>
          <a:xfrm>
            <a:off x="2832062" y="4473555"/>
            <a:ext cx="345858" cy="3268622"/>
          </a:xfrm>
          <a:custGeom>
            <a:avLst/>
            <a:gdLst/>
            <a:ahLst/>
            <a:cxnLst/>
            <a:rect l="l" t="t" r="r" b="b"/>
            <a:pathLst>
              <a:path w="345858" h="3268622">
                <a:moveTo>
                  <a:pt x="0" y="0"/>
                </a:moveTo>
                <a:lnTo>
                  <a:pt x="345858" y="0"/>
                </a:lnTo>
                <a:lnTo>
                  <a:pt x="345858" y="3268622"/>
                </a:lnTo>
                <a:lnTo>
                  <a:pt x="0" y="3268622"/>
                </a:lnTo>
                <a:lnTo>
                  <a:pt x="0" y="0"/>
                </a:lnTo>
                <a:close/>
              </a:path>
            </a:pathLst>
          </a:custGeom>
          <a:blipFill>
            <a:blip r:embed="rId19">
              <a:extLst>
                <a:ext uri="{96DAC541-7B7A-43D3-8B79-37D633B846F1}">
                  <asvg:svgBlip xmlns:asvg="http://schemas.microsoft.com/office/drawing/2016/SVG/main" xmlns="" r:embed="rId20"/>
                </a:ext>
              </a:extLst>
            </a:blip>
            <a:stretch>
              <a:fillRect/>
            </a:stretch>
          </a:blipFill>
        </p:spPr>
        <p:txBody>
          <a:bodyPr/>
          <a:lstStyle/>
          <a:p>
            <a:endParaRPr/>
          </a:p>
        </p:txBody>
      </p:sp>
      <p:cxnSp>
        <p:nvCxnSpPr>
          <p:cNvPr id="37" name="Straight Connector 36">
            <a:extLst>
              <a:ext uri="{FF2B5EF4-FFF2-40B4-BE49-F238E27FC236}">
                <a16:creationId xmlns:a16="http://schemas.microsoft.com/office/drawing/2014/main" id="{0D4C046F-1859-0B4B-6341-A5CDFFCDC9AC}"/>
              </a:ext>
            </a:extLst>
          </p:cNvPr>
          <p:cNvCxnSpPr>
            <a:cxnSpLocks/>
          </p:cNvCxnSpPr>
          <p:nvPr/>
        </p:nvCxnSpPr>
        <p:spPr>
          <a:xfrm>
            <a:off x="711680" y="2312649"/>
            <a:ext cx="0" cy="743793"/>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grpSp>
        <p:nvGrpSpPr>
          <p:cNvPr id="3" name="Group 3"/>
          <p:cNvGrpSpPr/>
          <p:nvPr/>
        </p:nvGrpSpPr>
        <p:grpSpPr>
          <a:xfrm>
            <a:off x="627578" y="2371787"/>
            <a:ext cx="1028643" cy="1057214"/>
            <a:chOff x="0" y="-19009"/>
            <a:chExt cx="1371600" cy="1428709"/>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a:p>
          </p:txBody>
        </p:sp>
        <p:sp>
          <p:nvSpPr>
            <p:cNvPr id="5" name="TextBox 5"/>
            <p:cNvSpPr txBox="1"/>
            <p:nvPr/>
          </p:nvSpPr>
          <p:spPr>
            <a:xfrm>
              <a:off x="76" y="-19009"/>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5</a:t>
              </a:r>
            </a:p>
          </p:txBody>
        </p:sp>
      </p:grpSp>
      <p:sp>
        <p:nvSpPr>
          <p:cNvPr id="6" name="TextBox 6"/>
          <p:cNvSpPr txBox="1"/>
          <p:nvPr/>
        </p:nvSpPr>
        <p:spPr>
          <a:xfrm>
            <a:off x="1764853" y="2303799"/>
            <a:ext cx="13716000" cy="984821"/>
          </a:xfrm>
          <a:prstGeom prst="rect">
            <a:avLst/>
          </a:prstGeom>
        </p:spPr>
        <p:txBody>
          <a:bodyPr wrap="square" lIns="0" tIns="0" rIns="0" bIns="0" rtlCol="0" anchor="t">
            <a:spAutoFit/>
          </a:bodyPr>
          <a:lstStyle/>
          <a:p>
            <a:pPr algn="l">
              <a:lnSpc>
                <a:spcPts val="8640"/>
              </a:lnSpc>
            </a:pPr>
            <a:r>
              <a:rPr sz="54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Truyền ngữ cảnh dữ liệu cho AI</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7" name="Rounded Rectangle 6"/>
          <p:cNvSpPr/>
          <p:nvPr/>
        </p:nvSpPr>
        <p:spPr>
          <a:xfrm>
            <a:off x="457200" y="5052060"/>
            <a:ext cx="2286000" cy="146304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Arial"/>
              </a:rPr>
              <a:t>Câu hỏi</a:t>
            </a:r>
          </a:p>
          <a:p>
            <a:pPr algn="ctr"/>
            <a:r>
              <a:rPr sz="1000">
                <a:solidFill>
                  <a:srgbClr val="FFFFFF"/>
                </a:solidFill>
                <a:latin typeface="Arial"/>
              </a:rPr>
              <a:t>người dùng (tiếng Việt)</a:t>
            </a:r>
          </a:p>
        </p:txBody>
      </p:sp>
      <p:sp>
        <p:nvSpPr>
          <p:cNvPr id="8" name="Right Arrow 7"/>
          <p:cNvSpPr/>
          <p:nvPr/>
        </p:nvSpPr>
        <p:spPr>
          <a:xfrm>
            <a:off x="2788920" y="5554980"/>
            <a:ext cx="502920" cy="45720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337560" y="5052060"/>
            <a:ext cx="2468880" cy="1463040"/>
          </a:xfrm>
          <a:prstGeom prst="roundRect">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1A2A44"/>
                </a:solidFill>
                <a:latin typeface="Arial"/>
              </a:rPr>
              <a:t>Tìm kiếm lai</a:t>
            </a:r>
          </a:p>
          <a:p>
            <a:pPr algn="ctr"/>
            <a:r>
              <a:rPr sz="1000">
                <a:solidFill>
                  <a:srgbClr val="1A2A44"/>
                </a:solidFill>
                <a:latin typeface="Arial"/>
              </a:rPr>
              <a:t>từ khóa (BM25) + ngữ nghĩa (kNN)</a:t>
            </a:r>
          </a:p>
        </p:txBody>
      </p:sp>
      <p:sp>
        <p:nvSpPr>
          <p:cNvPr id="10" name="TextBox 9"/>
          <p:cNvSpPr txBox="1"/>
          <p:nvPr/>
        </p:nvSpPr>
        <p:spPr>
          <a:xfrm>
            <a:off x="6400800" y="3154680"/>
            <a:ext cx="4206240" cy="365760"/>
          </a:xfrm>
          <a:prstGeom prst="rect">
            <a:avLst/>
          </a:prstGeom>
          <a:noFill/>
        </p:spPr>
        <p:txBody>
          <a:bodyPr wrap="square">
            <a:spAutoFit/>
          </a:bodyPr>
          <a:lstStyle/>
          <a:p>
            <a:pPr algn="ctr"/>
            <a:r>
              <a:rPr sz="1300" b="1">
                <a:solidFill>
                  <a:srgbClr val="16458C"/>
                </a:solidFill>
                <a:latin typeface="Arial"/>
              </a:rPr>
              <a:t>So khớp với 3 kho tri thức</a:t>
            </a:r>
          </a:p>
        </p:txBody>
      </p:sp>
      <p:sp>
        <p:nvSpPr>
          <p:cNvPr id="11" name="Rounded Rectangle 10"/>
          <p:cNvSpPr/>
          <p:nvPr/>
        </p:nvSpPr>
        <p:spPr>
          <a:xfrm>
            <a:off x="6400800" y="3611880"/>
            <a:ext cx="4206240" cy="1325880"/>
          </a:xfrm>
          <a:prstGeom prst="roundRect">
            <a:avLst/>
          </a:prstGeom>
          <a:solidFill>
            <a:srgbClr val="FFFFFF"/>
          </a:solidFill>
          <a:ln w="19050">
            <a:solidFill>
              <a:srgbClr val="16458C"/>
            </a:solid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CB618"/>
                </a:solidFill>
                <a:latin typeface="Arial"/>
              </a:rPr>
              <a:t>①  </a:t>
            </a:r>
            <a:r>
              <a:rPr sz="1400" b="1">
                <a:solidFill>
                  <a:srgbClr val="1A2A44"/>
                </a:solidFill>
                <a:latin typeface="Arial"/>
              </a:rPr>
              <a:t>Cấu trúc dữ liệu</a:t>
            </a:r>
          </a:p>
          <a:p>
            <a:pPr algn="ctr"/>
            <a:r>
              <a:rPr sz="1000">
                <a:solidFill>
                  <a:srgbClr val="1A2A44"/>
                </a:solidFill>
                <a:latin typeface="Arial"/>
              </a:rPr>
              <a:t>bảng, cột &amp; quan hệ liên quan</a:t>
            </a:r>
          </a:p>
        </p:txBody>
      </p:sp>
      <p:sp>
        <p:nvSpPr>
          <p:cNvPr id="12" name="Rounded Rectangle 11"/>
          <p:cNvSpPr/>
          <p:nvPr/>
        </p:nvSpPr>
        <p:spPr>
          <a:xfrm>
            <a:off x="6400800" y="5120640"/>
            <a:ext cx="4206240" cy="1325880"/>
          </a:xfrm>
          <a:prstGeom prst="roundRect">
            <a:avLst/>
          </a:prstGeom>
          <a:solidFill>
            <a:srgbClr val="FFFFFF"/>
          </a:solidFill>
          <a:ln w="19050">
            <a:solidFill>
              <a:srgbClr val="16458C"/>
            </a:solid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CB618"/>
                </a:solidFill>
                <a:latin typeface="Arial"/>
              </a:rPr>
              <a:t>②  </a:t>
            </a:r>
            <a:r>
              <a:rPr sz="1400" b="1">
                <a:solidFill>
                  <a:srgbClr val="1A2A44"/>
                </a:solidFill>
                <a:latin typeface="Arial"/>
              </a:rPr>
              <a:t>Tài liệu nghiệp vụ</a:t>
            </a:r>
          </a:p>
          <a:p>
            <a:pPr algn="ctr"/>
            <a:r>
              <a:rPr sz="1000">
                <a:solidFill>
                  <a:srgbClr val="1A2A44"/>
                </a:solidFill>
                <a:latin typeface="Arial"/>
              </a:rPr>
              <a:t>ý nghĩa trường/cột (người dùng cung cấp)</a:t>
            </a:r>
          </a:p>
        </p:txBody>
      </p:sp>
      <p:sp>
        <p:nvSpPr>
          <p:cNvPr id="13" name="Rounded Rectangle 12"/>
          <p:cNvSpPr/>
          <p:nvPr/>
        </p:nvSpPr>
        <p:spPr>
          <a:xfrm>
            <a:off x="6400800" y="6629400"/>
            <a:ext cx="4206240" cy="1325880"/>
          </a:xfrm>
          <a:prstGeom prst="roundRect">
            <a:avLst/>
          </a:prstGeom>
          <a:solidFill>
            <a:srgbClr val="FFFFFF"/>
          </a:solidFill>
          <a:ln w="19050">
            <a:solidFill>
              <a:srgbClr val="16458C"/>
            </a:solid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CB618"/>
                </a:solidFill>
                <a:latin typeface="Arial"/>
              </a:rPr>
              <a:t>③  </a:t>
            </a:r>
            <a:r>
              <a:rPr sz="1400" b="1">
                <a:solidFill>
                  <a:srgbClr val="1A2A44"/>
                </a:solidFill>
                <a:latin typeface="Arial"/>
              </a:rPr>
              <a:t>Câu hỏi tương tự</a:t>
            </a:r>
          </a:p>
          <a:p>
            <a:pPr algn="ctr"/>
            <a:r>
              <a:rPr sz="1000">
                <a:solidFill>
                  <a:srgbClr val="1A2A44"/>
                </a:solidFill>
                <a:latin typeface="Arial"/>
              </a:rPr>
              <a:t>mẫu câu hỏi đã trả lời trong lịch sử</a:t>
            </a:r>
          </a:p>
        </p:txBody>
      </p:sp>
      <p:cxnSp>
        <p:nvCxnSpPr>
          <p:cNvPr id="14" name="Connector 13"/>
          <p:cNvCxnSpPr/>
          <p:nvPr/>
        </p:nvCxnSpPr>
        <p:spPr>
          <a:xfrm flipV="1">
            <a:off x="5806440" y="4274820"/>
            <a:ext cx="594360" cy="1508760"/>
          </a:xfrm>
          <a:prstGeom prst="line">
            <a:avLst/>
          </a:prstGeom>
          <a:ln w="28575">
            <a:solidFill>
              <a:srgbClr val="FCB61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806440" y="5783579"/>
            <a:ext cx="594360" cy="1"/>
          </a:xfrm>
          <a:prstGeom prst="line">
            <a:avLst/>
          </a:prstGeom>
          <a:ln w="28575">
            <a:solidFill>
              <a:srgbClr val="FCB61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806440" y="5783580"/>
            <a:ext cx="594360" cy="1508760"/>
          </a:xfrm>
          <a:prstGeom prst="line">
            <a:avLst/>
          </a:prstGeom>
          <a:ln w="28575">
            <a:solidFill>
              <a:srgbClr val="FCB61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607040" y="4274820"/>
            <a:ext cx="548640" cy="1508760"/>
          </a:xfrm>
          <a:prstGeom prst="line">
            <a:avLst/>
          </a:prstGeom>
          <a:ln w="28575">
            <a:solidFill>
              <a:srgbClr val="FCB61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607040" y="5783579"/>
            <a:ext cx="548640" cy="1"/>
          </a:xfrm>
          <a:prstGeom prst="line">
            <a:avLst/>
          </a:prstGeom>
          <a:ln w="28575">
            <a:solidFill>
              <a:srgbClr val="FCB61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607040" y="5783580"/>
            <a:ext cx="548640" cy="1508760"/>
          </a:xfrm>
          <a:prstGeom prst="line">
            <a:avLst/>
          </a:prstGeom>
          <a:ln w="28575">
            <a:solidFill>
              <a:srgbClr val="FCB61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1155680" y="5052060"/>
            <a:ext cx="2743200" cy="1463040"/>
          </a:xfrm>
          <a:prstGeom prst="roundRect">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1A2A44"/>
                </a:solidFill>
                <a:latin typeface="Arial"/>
              </a:rPr>
              <a:t>Ngữ cảnh gửi cho AI</a:t>
            </a:r>
          </a:p>
          <a:p>
            <a:pPr algn="ctr"/>
            <a:r>
              <a:rPr sz="1000">
                <a:solidFill>
                  <a:srgbClr val="1A2A44"/>
                </a:solidFill>
                <a:latin typeface="Arial"/>
              </a:rPr>
              <a:t>câu hỏi + tài liệu liên quan</a:t>
            </a:r>
          </a:p>
        </p:txBody>
      </p:sp>
      <p:sp>
        <p:nvSpPr>
          <p:cNvPr id="21" name="Right Arrow 20"/>
          <p:cNvSpPr/>
          <p:nvPr/>
        </p:nvSpPr>
        <p:spPr>
          <a:xfrm>
            <a:off x="13990320" y="5554980"/>
            <a:ext cx="502920" cy="45720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4584680" y="5052060"/>
            <a:ext cx="3017520" cy="146304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600" b="1">
                <a:solidFill>
                  <a:srgbClr val="FFFFFF"/>
                </a:solidFill>
                <a:latin typeface="Arial"/>
              </a:rPr>
              <a:t>AI Agent</a:t>
            </a:r>
          </a:p>
          <a:p>
            <a:pPr algn="ctr"/>
            <a:r>
              <a:rPr sz="1000">
                <a:solidFill>
                  <a:srgbClr val="FFFFFF"/>
                </a:solidFill>
                <a:latin typeface="Arial"/>
              </a:rPr>
              <a:t>hiểu &amp; sinh truy vấn đúng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grpSp>
        <p:nvGrpSpPr>
          <p:cNvPr id="3" name="Group 3"/>
          <p:cNvGrpSpPr/>
          <p:nvPr/>
        </p:nvGrpSpPr>
        <p:grpSpPr>
          <a:xfrm>
            <a:off x="627578" y="2371787"/>
            <a:ext cx="1028643" cy="1057214"/>
            <a:chOff x="0" y="-19009"/>
            <a:chExt cx="1371600" cy="1428709"/>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a:p>
          </p:txBody>
        </p:sp>
        <p:sp>
          <p:nvSpPr>
            <p:cNvPr id="5" name="TextBox 5"/>
            <p:cNvSpPr txBox="1"/>
            <p:nvPr/>
          </p:nvSpPr>
          <p:spPr>
            <a:xfrm>
              <a:off x="76" y="-19009"/>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4</a:t>
              </a:r>
            </a:p>
          </p:txBody>
        </p:sp>
      </p:grpSp>
      <p:sp>
        <p:nvSpPr>
          <p:cNvPr id="6" name="TextBox 6"/>
          <p:cNvSpPr txBox="1"/>
          <p:nvPr/>
        </p:nvSpPr>
        <p:spPr>
          <a:xfrm>
            <a:off x="1764853" y="2303799"/>
            <a:ext cx="13716000" cy="984821"/>
          </a:xfrm>
          <a:prstGeom prst="rect">
            <a:avLst/>
          </a:prstGeom>
        </p:spPr>
        <p:txBody>
          <a:bodyPr wrap="square" lIns="0" tIns="0" rIns="0" bIns="0" rtlCol="0" anchor="t">
            <a:spAutoFit/>
          </a:bodyPr>
          <a:lstStyle/>
          <a:p>
            <a:pPr algn="l">
              <a:lnSpc>
                <a:spcPts val="8640"/>
              </a:lnSpc>
            </a:pPr>
            <a:r>
              <a:rPr sz="54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Kiểm tra an toàn trước khi thực thi</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7" name="Rounded Rectangle 6"/>
          <p:cNvSpPr/>
          <p:nvPr/>
        </p:nvSpPr>
        <p:spPr>
          <a:xfrm>
            <a:off x="640080" y="4709160"/>
            <a:ext cx="2743200" cy="123444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Arial"/>
              </a:rPr>
              <a:t>Truy vấn</a:t>
            </a:r>
          </a:p>
          <a:p>
            <a:pPr algn="ctr"/>
            <a:r>
              <a:rPr sz="1000">
                <a:solidFill>
                  <a:srgbClr val="FFFFFF"/>
                </a:solidFill>
                <a:latin typeface="Arial"/>
              </a:rPr>
              <a:t>do AI sinh ra</a:t>
            </a:r>
          </a:p>
        </p:txBody>
      </p:sp>
      <p:sp>
        <p:nvSpPr>
          <p:cNvPr id="8" name="Right Arrow 7"/>
          <p:cNvSpPr/>
          <p:nvPr/>
        </p:nvSpPr>
        <p:spPr>
          <a:xfrm>
            <a:off x="3520440" y="5120640"/>
            <a:ext cx="640080" cy="45720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251960" y="4617720"/>
            <a:ext cx="3840480" cy="1371600"/>
          </a:xfrm>
          <a:prstGeom prst="roundRect">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800" b="1">
                <a:solidFill>
                  <a:srgbClr val="1A2A44"/>
                </a:solidFill>
                <a:latin typeface="Arial"/>
              </a:rPr>
              <a:t>GUARDRAILS</a:t>
            </a:r>
          </a:p>
          <a:p>
            <a:pPr algn="ctr"/>
            <a:r>
              <a:rPr sz="1100">
                <a:solidFill>
                  <a:srgbClr val="1A2A44"/>
                </a:solidFill>
                <a:latin typeface="Arial"/>
              </a:rPr>
              <a:t>Bộ kiểm tra an toàn</a:t>
            </a:r>
          </a:p>
        </p:txBody>
      </p:sp>
      <p:sp>
        <p:nvSpPr>
          <p:cNvPr id="10" name="Rounded Rectangle 9"/>
          <p:cNvSpPr/>
          <p:nvPr/>
        </p:nvSpPr>
        <p:spPr>
          <a:xfrm>
            <a:off x="4251960" y="6263640"/>
            <a:ext cx="3840480" cy="1965960"/>
          </a:xfrm>
          <a:prstGeom prst="roundRect">
            <a:avLst/>
          </a:prstGeom>
          <a:solidFill>
            <a:srgbClr val="E8EEF7"/>
          </a:solidFill>
          <a:ln w="12700">
            <a:solidFill>
              <a:srgbClr val="16458C"/>
            </a:solidFill>
          </a:ln>
          <a:effectLst/>
        </p:spPr>
        <p:style>
          <a:lnRef idx="1">
            <a:schemeClr val="accent1"/>
          </a:lnRef>
          <a:fillRef idx="3">
            <a:schemeClr val="accent1"/>
          </a:fillRef>
          <a:effectRef idx="2">
            <a:schemeClr val="accent1"/>
          </a:effectRef>
          <a:fontRef idx="minor">
            <a:schemeClr val="lt1"/>
          </a:fontRef>
        </p:style>
        <p:txBody>
          <a:bodyPr wrap="square" lIns="164592" rtlCol="0" anchor="ctr"/>
          <a:lstStyle/>
          <a:p>
            <a:pPr algn="l"/>
            <a:r>
              <a:rPr sz="1200" b="1">
                <a:solidFill>
                  <a:srgbClr val="16458C"/>
                </a:solidFill>
                <a:latin typeface="Arial"/>
              </a:rPr>
              <a:t>Các bước kiểm tra:</a:t>
            </a:r>
          </a:p>
          <a:p>
            <a:pPr algn="l"/>
            <a:r>
              <a:rPr sz="1100" b="1">
                <a:solidFill>
                  <a:srgbClr val="FCB618"/>
                </a:solidFill>
                <a:latin typeface="Arial"/>
              </a:rPr>
              <a:t>✓ </a:t>
            </a:r>
            <a:r>
              <a:rPr sz="1100">
                <a:solidFill>
                  <a:srgbClr val="1A2A44"/>
                </a:solidFill>
                <a:latin typeface="Arial"/>
              </a:rPr>
              <a:t>Chỉ cho phép đọc dữ liệu</a:t>
            </a:r>
          </a:p>
          <a:p>
            <a:pPr algn="l"/>
            <a:r>
              <a:rPr sz="1100" b="1">
                <a:solidFill>
                  <a:srgbClr val="FCB618"/>
                </a:solidFill>
                <a:latin typeface="Arial"/>
              </a:rPr>
              <a:t>✓ </a:t>
            </a:r>
            <a:r>
              <a:rPr sz="1100">
                <a:solidFill>
                  <a:srgbClr val="1A2A44"/>
                </a:solidFill>
                <a:latin typeface="Arial"/>
              </a:rPr>
              <a:t>Chặn lệnh sửa / xóa</a:t>
            </a:r>
          </a:p>
          <a:p>
            <a:pPr algn="l"/>
            <a:r>
              <a:rPr sz="1100" b="1">
                <a:solidFill>
                  <a:srgbClr val="FCB618"/>
                </a:solidFill>
                <a:latin typeface="Arial"/>
              </a:rPr>
              <a:t>✓ </a:t>
            </a:r>
            <a:r>
              <a:rPr sz="1100">
                <a:solidFill>
                  <a:srgbClr val="1A2A44"/>
                </a:solidFill>
                <a:latin typeface="Arial"/>
              </a:rPr>
              <a:t>Che thông tin nhạy cảm</a:t>
            </a:r>
          </a:p>
          <a:p>
            <a:pPr algn="l"/>
            <a:r>
              <a:rPr sz="1100" b="1">
                <a:solidFill>
                  <a:srgbClr val="FCB618"/>
                </a:solidFill>
                <a:latin typeface="Arial"/>
              </a:rPr>
              <a:t>✓ </a:t>
            </a:r>
            <a:r>
              <a:rPr sz="1100">
                <a:solidFill>
                  <a:srgbClr val="1A2A44"/>
                </a:solidFill>
                <a:latin typeface="Arial"/>
              </a:rPr>
              <a:t>Giới hạn phạm vi truy cập</a:t>
            </a:r>
          </a:p>
        </p:txBody>
      </p:sp>
      <p:sp>
        <p:nvSpPr>
          <p:cNvPr id="11" name="Right Arrow 10"/>
          <p:cNvSpPr/>
          <p:nvPr/>
        </p:nvSpPr>
        <p:spPr>
          <a:xfrm>
            <a:off x="8229600" y="5120640"/>
            <a:ext cx="502920" cy="457200"/>
          </a:xfrm>
          <a:prstGeom prst="rightArrow">
            <a:avLst/>
          </a:prstGeom>
          <a:solidFill>
            <a:srgbClr val="FCB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iamond 11"/>
          <p:cNvSpPr/>
          <p:nvPr/>
        </p:nvSpPr>
        <p:spPr>
          <a:xfrm>
            <a:off x="8869680" y="4480560"/>
            <a:ext cx="2286000" cy="1645920"/>
          </a:xfrm>
          <a:prstGeom prst="diamond">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600" b="1">
                <a:solidFill>
                  <a:srgbClr val="FFFFFF"/>
                </a:solidFill>
                <a:latin typeface="Arial"/>
              </a:rPr>
              <a:t>An toàn?</a:t>
            </a:r>
          </a:p>
        </p:txBody>
      </p:sp>
      <p:sp>
        <p:nvSpPr>
          <p:cNvPr id="13" name="Rounded Rectangle 12"/>
          <p:cNvSpPr/>
          <p:nvPr/>
        </p:nvSpPr>
        <p:spPr>
          <a:xfrm>
            <a:off x="12070080" y="3383280"/>
            <a:ext cx="4572000" cy="1280160"/>
          </a:xfrm>
          <a:prstGeom prst="roundRect">
            <a:avLst/>
          </a:prstGeom>
          <a:solidFill>
            <a:srgbClr val="16458C"/>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Arial"/>
              </a:rPr>
              <a:t>Thực thi truy vấn</a:t>
            </a:r>
          </a:p>
          <a:p>
            <a:pPr algn="ctr"/>
            <a:r>
              <a:rPr sz="1000">
                <a:solidFill>
                  <a:srgbClr val="FFFFFF"/>
                </a:solidFill>
                <a:latin typeface="Arial"/>
              </a:rPr>
              <a:t>→ trả kết quả cho người dùng</a:t>
            </a:r>
          </a:p>
        </p:txBody>
      </p:sp>
      <p:sp>
        <p:nvSpPr>
          <p:cNvPr id="14" name="Rounded Rectangle 13"/>
          <p:cNvSpPr/>
          <p:nvPr/>
        </p:nvSpPr>
        <p:spPr>
          <a:xfrm>
            <a:off x="12070080" y="6400800"/>
            <a:ext cx="4572000" cy="1280160"/>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Arial"/>
              </a:rPr>
              <a:t>Chặn lại &amp; từ chối</a:t>
            </a:r>
          </a:p>
          <a:p>
            <a:pPr algn="ctr"/>
            <a:r>
              <a:rPr sz="1000">
                <a:solidFill>
                  <a:srgbClr val="FFFFFF"/>
                </a:solidFill>
                <a:latin typeface="Arial"/>
              </a:rPr>
              <a:t>thông báo lý do an toàn</a:t>
            </a:r>
          </a:p>
        </p:txBody>
      </p:sp>
      <p:cxnSp>
        <p:nvCxnSpPr>
          <p:cNvPr id="15" name="Connector 14"/>
          <p:cNvCxnSpPr/>
          <p:nvPr/>
        </p:nvCxnSpPr>
        <p:spPr>
          <a:xfrm flipV="1">
            <a:off x="11155680" y="4023360"/>
            <a:ext cx="914400" cy="1005840"/>
          </a:xfrm>
          <a:prstGeom prst="line">
            <a:avLst/>
          </a:prstGeom>
          <a:ln w="31750">
            <a:solidFill>
              <a:srgbClr val="16458C"/>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155680" y="5669280"/>
            <a:ext cx="914400" cy="1371600"/>
          </a:xfrm>
          <a:prstGeom prst="line">
            <a:avLst/>
          </a:prstGeom>
          <a:ln w="3175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972800" y="4160520"/>
            <a:ext cx="1463040" cy="365760"/>
          </a:xfrm>
          <a:prstGeom prst="rect">
            <a:avLst/>
          </a:prstGeom>
          <a:noFill/>
        </p:spPr>
        <p:txBody>
          <a:bodyPr wrap="square">
            <a:spAutoFit/>
          </a:bodyPr>
          <a:lstStyle/>
          <a:p>
            <a:pPr algn="l"/>
            <a:r>
              <a:rPr sz="1200" b="1">
                <a:solidFill>
                  <a:srgbClr val="16458C"/>
                </a:solidFill>
                <a:latin typeface="Arial"/>
              </a:rPr>
              <a:t>Đạt</a:t>
            </a:r>
          </a:p>
        </p:txBody>
      </p:sp>
      <p:sp>
        <p:nvSpPr>
          <p:cNvPr id="18" name="TextBox 17"/>
          <p:cNvSpPr txBox="1"/>
          <p:nvPr/>
        </p:nvSpPr>
        <p:spPr>
          <a:xfrm>
            <a:off x="10972800" y="6172200"/>
            <a:ext cx="1645920" cy="365760"/>
          </a:xfrm>
          <a:prstGeom prst="rect">
            <a:avLst/>
          </a:prstGeom>
          <a:noFill/>
        </p:spPr>
        <p:txBody>
          <a:bodyPr wrap="square">
            <a:spAutoFit/>
          </a:bodyPr>
          <a:lstStyle/>
          <a:p>
            <a:pPr algn="l"/>
            <a:r>
              <a:rPr sz="1200" b="1">
                <a:solidFill>
                  <a:srgbClr val="C0392B"/>
                </a:solidFill>
                <a:latin typeface="Arial"/>
              </a:rPr>
              <a:t>Không đạt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grpSp>
        <p:nvGrpSpPr>
          <p:cNvPr id="3" name="Group 3"/>
          <p:cNvGrpSpPr/>
          <p:nvPr/>
        </p:nvGrpSpPr>
        <p:grpSpPr>
          <a:xfrm>
            <a:off x="627578" y="2371787"/>
            <a:ext cx="1028643" cy="1057214"/>
            <a:chOff x="0" y="-19009"/>
            <a:chExt cx="1371600" cy="1428709"/>
          </a:xfrm>
        </p:grpSpPr>
        <p:sp>
          <p:nvSpPr>
            <p:cNvPr id="4" name="Freeform 4"/>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txBody>
            <a:bodyPr/>
            <a:lstStyle/>
            <a:p>
              <a:endParaRPr/>
            </a:p>
          </p:txBody>
        </p:sp>
        <p:sp>
          <p:nvSpPr>
            <p:cNvPr id="5" name="TextBox 5"/>
            <p:cNvSpPr txBox="1"/>
            <p:nvPr/>
          </p:nvSpPr>
          <p:spPr>
            <a:xfrm>
              <a:off x="76" y="-19009"/>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5</a:t>
              </a:r>
            </a:p>
          </p:txBody>
        </p:sp>
      </p:grpSp>
      <p:sp>
        <p:nvSpPr>
          <p:cNvPr id="6" name="TextBox 6"/>
          <p:cNvSpPr txBox="1"/>
          <p:nvPr/>
        </p:nvSpPr>
        <p:spPr>
          <a:xfrm>
            <a:off x="1764853" y="2303799"/>
            <a:ext cx="7518123" cy="984821"/>
          </a:xfrm>
          <a:prstGeom prst="rect">
            <a:avLst/>
          </a:prstGeom>
        </p:spPr>
        <p:txBody>
          <a:bodyPr wrap="square" lIns="0" tIns="0" rIns="0" bIns="0" rtlCol="0" anchor="t">
            <a:spAutoFit/>
          </a:bodyPr>
          <a:lstStyle/>
          <a:p>
            <a:pPr algn="l">
              <a:lnSpc>
                <a:spcPts val="8640"/>
              </a:lnSpc>
            </a:pPr>
            <a:r>
              <a:rPr sz="5400" b="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Thực nghiệm</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sp>
        <p:nvSpPr>
          <p:cNvPr id="7" name="TextBox 6"/>
          <p:cNvSpPr txBox="1"/>
          <p:nvPr/>
        </p:nvSpPr>
        <p:spPr>
          <a:xfrm>
            <a:off x="3200400" y="3337560"/>
            <a:ext cx="11887200" cy="457200"/>
          </a:xfrm>
          <a:prstGeom prst="rect">
            <a:avLst/>
          </a:prstGeom>
          <a:noFill/>
        </p:spPr>
        <p:txBody>
          <a:bodyPr wrap="none">
            <a:spAutoFit/>
          </a:bodyPr>
          <a:lstStyle/>
          <a:p>
            <a:pPr algn="ctr"/>
            <a:r>
              <a:rPr sz="1500" b="1">
                <a:solidFill>
                  <a:srgbClr val="16458C"/>
                </a:solidFill>
                <a:latin typeface="Arial"/>
              </a:rPr>
              <a:t>Độ chính xác sinh truy vấn theo mô hình AI — 120 câu hỏi tiếng Việt</a:t>
            </a:r>
          </a:p>
        </p:txBody>
      </p:sp>
      <p:graphicFrame>
        <p:nvGraphicFramePr>
          <p:cNvPr id="8" name="Table 7"/>
          <p:cNvGraphicFramePr>
            <a:graphicFrameLocks noGrp="1"/>
          </p:cNvGraphicFramePr>
          <p:nvPr/>
        </p:nvGraphicFramePr>
        <p:xfrm>
          <a:off x="3200400" y="4069080"/>
          <a:ext cx="11887200" cy="3145536"/>
        </p:xfrm>
        <a:graphic>
          <a:graphicData uri="http://schemas.openxmlformats.org/drawingml/2006/table">
            <a:tbl>
              <a:tblPr>
                <a:tableStyleId>{5C22544A-7EE6-4342-B048-85BDC9FD1C3A}</a:tableStyleId>
              </a:tblPr>
              <a:tblGrid>
                <a:gridCol w="42062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868680">
                <a:tc>
                  <a:txBody>
                    <a:bodyPr/>
                    <a:lstStyle/>
                    <a:p>
                      <a:pPr algn="ctr"/>
                      <a:r>
                        <a:rPr sz="1400" b="1">
                          <a:solidFill>
                            <a:srgbClr val="FFFFFF"/>
                          </a:solidFill>
                          <a:latin typeface="Arial"/>
                        </a:rPr>
                        <a:t>Mô hình AI</a:t>
                      </a:r>
                    </a:p>
                  </a:txBody>
                  <a:tcPr marT="25400" marB="25400" anchor="ctr">
                    <a:solidFill>
                      <a:srgbClr val="16458C"/>
                    </a:solidFill>
                  </a:tcPr>
                </a:tc>
                <a:tc>
                  <a:txBody>
                    <a:bodyPr/>
                    <a:lstStyle/>
                    <a:p>
                      <a:pPr algn="ctr"/>
                      <a:r>
                        <a:rPr sz="1400" b="1">
                          <a:solidFill>
                            <a:srgbClr val="FFFFFF"/>
                          </a:solidFill>
                          <a:latin typeface="Arial"/>
                        </a:rPr>
                        <a:t>Tỷ lệ truy vấn hợp lệ</a:t>
                      </a:r>
                    </a:p>
                  </a:txBody>
                  <a:tcPr marT="25400" marB="25400" anchor="ctr">
                    <a:solidFill>
                      <a:srgbClr val="16458C"/>
                    </a:solidFill>
                  </a:tcPr>
                </a:tc>
                <a:tc>
                  <a:txBody>
                    <a:bodyPr/>
                    <a:lstStyle/>
                    <a:p>
                      <a:pPr algn="ctr"/>
                      <a:r>
                        <a:rPr sz="1400" b="1">
                          <a:solidFill>
                            <a:srgbClr val="FFFFFF"/>
                          </a:solidFill>
                          <a:latin typeface="Arial"/>
                        </a:rPr>
                        <a:t>Độ chính xác kết quả</a:t>
                      </a:r>
                    </a:p>
                  </a:txBody>
                  <a:tcPr marT="25400" marB="25400" anchor="ctr">
                    <a:solidFill>
                      <a:srgbClr val="16458C"/>
                    </a:solidFill>
                  </a:tcPr>
                </a:tc>
                <a:tc>
                  <a:txBody>
                    <a:bodyPr/>
                    <a:lstStyle/>
                    <a:p>
                      <a:pPr algn="ctr"/>
                      <a:r>
                        <a:rPr sz="1400" b="1">
                          <a:solidFill>
                            <a:srgbClr val="FFFFFF"/>
                          </a:solidFill>
                          <a:latin typeface="Arial"/>
                        </a:rPr>
                        <a:t>Tỷ lệ bịa dữ liệu</a:t>
                      </a:r>
                    </a:p>
                  </a:txBody>
                  <a:tcPr marT="25400" marB="25400" anchor="ctr">
                    <a:solidFill>
                      <a:srgbClr val="16458C"/>
                    </a:solidFill>
                  </a:tcPr>
                </a:tc>
                <a:extLst>
                  <a:ext uri="{0D108BD9-81ED-4DB2-BD59-A6C34878D82A}">
                    <a16:rowId xmlns:a16="http://schemas.microsoft.com/office/drawing/2014/main" val="10000"/>
                  </a:ext>
                </a:extLst>
              </a:tr>
              <a:tr h="758952">
                <a:tc>
                  <a:txBody>
                    <a:bodyPr/>
                    <a:lstStyle/>
                    <a:p>
                      <a:pPr algn="l"/>
                      <a:r>
                        <a:rPr sz="1500" b="1">
                          <a:solidFill>
                            <a:srgbClr val="1A2A44"/>
                          </a:solidFill>
                          <a:latin typeface="Arial"/>
                        </a:rPr>
                        <a:t>Claude Sonnet 4.6</a:t>
                      </a:r>
                    </a:p>
                  </a:txBody>
                  <a:tcPr marL="182880" marT="25400" marB="25400" anchor="ctr">
                    <a:solidFill>
                      <a:srgbClr val="FFECC2"/>
                    </a:solidFill>
                  </a:tcPr>
                </a:tc>
                <a:tc>
                  <a:txBody>
                    <a:bodyPr/>
                    <a:lstStyle/>
                    <a:p>
                      <a:pPr algn="ctr"/>
                      <a:r>
                        <a:rPr sz="1500" b="1">
                          <a:solidFill>
                            <a:srgbClr val="1A2A44"/>
                          </a:solidFill>
                          <a:latin typeface="Arial"/>
                        </a:rPr>
                        <a:t>98.3%</a:t>
                      </a:r>
                    </a:p>
                  </a:txBody>
                  <a:tcPr marT="25400" marB="25400" anchor="ctr">
                    <a:solidFill>
                      <a:srgbClr val="FFECC2"/>
                    </a:solidFill>
                  </a:tcPr>
                </a:tc>
                <a:tc>
                  <a:txBody>
                    <a:bodyPr/>
                    <a:lstStyle/>
                    <a:p>
                      <a:pPr algn="ctr"/>
                      <a:r>
                        <a:rPr sz="1500" b="1">
                          <a:solidFill>
                            <a:srgbClr val="16458C"/>
                          </a:solidFill>
                          <a:latin typeface="Arial"/>
                        </a:rPr>
                        <a:t>93.3%</a:t>
                      </a:r>
                    </a:p>
                  </a:txBody>
                  <a:tcPr marT="25400" marB="25400" anchor="ctr">
                    <a:solidFill>
                      <a:srgbClr val="FFECC2"/>
                    </a:solidFill>
                  </a:tcPr>
                </a:tc>
                <a:tc>
                  <a:txBody>
                    <a:bodyPr/>
                    <a:lstStyle/>
                    <a:p>
                      <a:pPr algn="ctr"/>
                      <a:r>
                        <a:rPr sz="1500" b="1">
                          <a:solidFill>
                            <a:srgbClr val="1A2A44"/>
                          </a:solidFill>
                          <a:latin typeface="Arial"/>
                        </a:rPr>
                        <a:t>1.7%</a:t>
                      </a:r>
                    </a:p>
                  </a:txBody>
                  <a:tcPr marT="25400" marB="25400" anchor="ctr">
                    <a:solidFill>
                      <a:srgbClr val="FFECC2"/>
                    </a:solidFill>
                  </a:tcPr>
                </a:tc>
                <a:extLst>
                  <a:ext uri="{0D108BD9-81ED-4DB2-BD59-A6C34878D82A}">
                    <a16:rowId xmlns:a16="http://schemas.microsoft.com/office/drawing/2014/main" val="10001"/>
                  </a:ext>
                </a:extLst>
              </a:tr>
              <a:tr h="758952">
                <a:tc>
                  <a:txBody>
                    <a:bodyPr/>
                    <a:lstStyle/>
                    <a:p>
                      <a:pPr algn="l"/>
                      <a:r>
                        <a:rPr sz="1500" b="0">
                          <a:solidFill>
                            <a:srgbClr val="1A2A44"/>
                          </a:solidFill>
                          <a:latin typeface="Arial"/>
                        </a:rPr>
                        <a:t>GPT-5-mini</a:t>
                      </a:r>
                    </a:p>
                  </a:txBody>
                  <a:tcPr marL="182880" marT="25400" marB="25400" anchor="ctr">
                    <a:solidFill>
                      <a:srgbClr val="EEF2F9"/>
                    </a:solidFill>
                  </a:tcPr>
                </a:tc>
                <a:tc>
                  <a:txBody>
                    <a:bodyPr/>
                    <a:lstStyle/>
                    <a:p>
                      <a:pPr algn="ctr"/>
                      <a:r>
                        <a:rPr sz="1500" b="0">
                          <a:solidFill>
                            <a:srgbClr val="1A2A44"/>
                          </a:solidFill>
                          <a:latin typeface="Arial"/>
                        </a:rPr>
                        <a:t>96.7%</a:t>
                      </a:r>
                    </a:p>
                  </a:txBody>
                  <a:tcPr marT="25400" marB="25400" anchor="ctr">
                    <a:solidFill>
                      <a:srgbClr val="EEF2F9"/>
                    </a:solidFill>
                  </a:tcPr>
                </a:tc>
                <a:tc>
                  <a:txBody>
                    <a:bodyPr/>
                    <a:lstStyle/>
                    <a:p>
                      <a:pPr algn="ctr"/>
                      <a:r>
                        <a:rPr sz="1500" b="1">
                          <a:solidFill>
                            <a:srgbClr val="16458C"/>
                          </a:solidFill>
                          <a:latin typeface="Arial"/>
                        </a:rPr>
                        <a:t>89.2%</a:t>
                      </a:r>
                    </a:p>
                  </a:txBody>
                  <a:tcPr marT="25400" marB="25400" anchor="ctr">
                    <a:solidFill>
                      <a:srgbClr val="EEF2F9"/>
                    </a:solidFill>
                  </a:tcPr>
                </a:tc>
                <a:tc>
                  <a:txBody>
                    <a:bodyPr/>
                    <a:lstStyle/>
                    <a:p>
                      <a:pPr algn="ctr"/>
                      <a:r>
                        <a:rPr sz="1500" b="0">
                          <a:solidFill>
                            <a:srgbClr val="1A2A44"/>
                          </a:solidFill>
                          <a:latin typeface="Arial"/>
                        </a:rPr>
                        <a:t>3.3%</a:t>
                      </a:r>
                    </a:p>
                  </a:txBody>
                  <a:tcPr marT="25400" marB="25400" anchor="ctr">
                    <a:solidFill>
                      <a:srgbClr val="EEF2F9"/>
                    </a:solidFill>
                  </a:tcPr>
                </a:tc>
                <a:extLst>
                  <a:ext uri="{0D108BD9-81ED-4DB2-BD59-A6C34878D82A}">
                    <a16:rowId xmlns:a16="http://schemas.microsoft.com/office/drawing/2014/main" val="10002"/>
                  </a:ext>
                </a:extLst>
              </a:tr>
              <a:tr h="758952">
                <a:tc>
                  <a:txBody>
                    <a:bodyPr/>
                    <a:lstStyle/>
                    <a:p>
                      <a:pPr algn="l"/>
                      <a:r>
                        <a:rPr sz="1500" b="0">
                          <a:solidFill>
                            <a:srgbClr val="1A2A44"/>
                          </a:solidFill>
                          <a:latin typeface="Arial"/>
                        </a:rPr>
                        <a:t>Gemini 2.5 Flash</a:t>
                      </a:r>
                    </a:p>
                  </a:txBody>
                  <a:tcPr marL="182880" marT="25400" marB="25400" anchor="ctr">
                    <a:solidFill>
                      <a:srgbClr val="FFFFFF"/>
                    </a:solidFill>
                  </a:tcPr>
                </a:tc>
                <a:tc>
                  <a:txBody>
                    <a:bodyPr/>
                    <a:lstStyle/>
                    <a:p>
                      <a:pPr algn="ctr"/>
                      <a:r>
                        <a:rPr sz="1500" b="0">
                          <a:solidFill>
                            <a:srgbClr val="1A2A44"/>
                          </a:solidFill>
                          <a:latin typeface="Arial"/>
                        </a:rPr>
                        <a:t>95.0%</a:t>
                      </a:r>
                    </a:p>
                  </a:txBody>
                  <a:tcPr marT="25400" marB="25400" anchor="ctr">
                    <a:solidFill>
                      <a:srgbClr val="FFFFFF"/>
                    </a:solidFill>
                  </a:tcPr>
                </a:tc>
                <a:tc>
                  <a:txBody>
                    <a:bodyPr/>
                    <a:lstStyle/>
                    <a:p>
                      <a:pPr algn="ctr"/>
                      <a:r>
                        <a:rPr sz="1500" b="1">
                          <a:solidFill>
                            <a:srgbClr val="16458C"/>
                          </a:solidFill>
                          <a:latin typeface="Arial"/>
                        </a:rPr>
                        <a:t>86.7%</a:t>
                      </a:r>
                    </a:p>
                  </a:txBody>
                  <a:tcPr marT="25400" marB="25400" anchor="ctr">
                    <a:solidFill>
                      <a:srgbClr val="FFFFFF"/>
                    </a:solidFill>
                  </a:tcPr>
                </a:tc>
                <a:tc>
                  <a:txBody>
                    <a:bodyPr/>
                    <a:lstStyle/>
                    <a:p>
                      <a:pPr algn="ctr"/>
                      <a:r>
                        <a:rPr sz="1500" b="0">
                          <a:solidFill>
                            <a:srgbClr val="1A2A44"/>
                          </a:solidFill>
                          <a:latin typeface="Arial"/>
                        </a:rPr>
                        <a:t>5.0%</a:t>
                      </a:r>
                    </a:p>
                  </a:txBody>
                  <a:tcPr marT="25400" marB="25400"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3200400" y="7635240"/>
            <a:ext cx="11887200" cy="914400"/>
          </a:xfrm>
          <a:prstGeom prst="rect">
            <a:avLst/>
          </a:prstGeom>
          <a:noFill/>
        </p:spPr>
        <p:txBody>
          <a:bodyPr wrap="square">
            <a:spAutoFit/>
          </a:bodyPr>
          <a:lstStyle/>
          <a:p>
            <a:pPr algn="ctr"/>
            <a:r>
              <a:rPr sz="1300" i="1">
                <a:solidFill>
                  <a:srgbClr val="1A2A44"/>
                </a:solidFill>
                <a:latin typeface="Arial"/>
              </a:rPr>
              <a:t>Lựa chọn Claude Sonnet 4.6: độ chính xác kết quả cao nhất (93.3%) và tỷ lệ bịa dữ liệu thấp nhất (1.7%).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2074114" y="3535041"/>
            <a:ext cx="609240" cy="609240"/>
          </a:xfrm>
          <a:custGeom>
            <a:avLst/>
            <a:gdLst/>
            <a:ahLst/>
            <a:cxnLst/>
            <a:rect l="l" t="t" r="r" b="b"/>
            <a:pathLst>
              <a:path w="609240" h="609240">
                <a:moveTo>
                  <a:pt x="0" y="0"/>
                </a:moveTo>
                <a:lnTo>
                  <a:pt x="609240" y="0"/>
                </a:lnTo>
                <a:lnTo>
                  <a:pt x="609240" y="609240"/>
                </a:lnTo>
                <a:lnTo>
                  <a:pt x="0" y="60924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4" name="Freeform 4"/>
          <p:cNvSpPr/>
          <p:nvPr/>
        </p:nvSpPr>
        <p:spPr>
          <a:xfrm>
            <a:off x="1972215" y="4557765"/>
            <a:ext cx="813039" cy="813039"/>
          </a:xfrm>
          <a:custGeom>
            <a:avLst/>
            <a:gdLst/>
            <a:ahLst/>
            <a:cxnLst/>
            <a:rect l="l" t="t" r="r" b="b"/>
            <a:pathLst>
              <a:path w="813039" h="813039">
                <a:moveTo>
                  <a:pt x="0" y="0"/>
                </a:moveTo>
                <a:lnTo>
                  <a:pt x="813039" y="0"/>
                </a:lnTo>
                <a:lnTo>
                  <a:pt x="813039" y="813039"/>
                </a:lnTo>
                <a:lnTo>
                  <a:pt x="0" y="81303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2048236" y="8287212"/>
            <a:ext cx="654067" cy="654067"/>
          </a:xfrm>
          <a:custGeom>
            <a:avLst/>
            <a:gdLst/>
            <a:ahLst/>
            <a:cxnLst/>
            <a:rect l="l" t="t" r="r" b="b"/>
            <a:pathLst>
              <a:path w="654067" h="654067">
                <a:moveTo>
                  <a:pt x="0" y="0"/>
                </a:moveTo>
                <a:lnTo>
                  <a:pt x="654068" y="0"/>
                </a:lnTo>
                <a:lnTo>
                  <a:pt x="654068" y="654068"/>
                </a:lnTo>
                <a:lnTo>
                  <a:pt x="0" y="65406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6" name="Freeform 6"/>
          <p:cNvSpPr/>
          <p:nvPr/>
        </p:nvSpPr>
        <p:spPr>
          <a:xfrm>
            <a:off x="2002947" y="5840126"/>
            <a:ext cx="680408" cy="680408"/>
          </a:xfrm>
          <a:custGeom>
            <a:avLst/>
            <a:gdLst/>
            <a:ahLst/>
            <a:cxnLst/>
            <a:rect l="l" t="t" r="r" b="b"/>
            <a:pathLst>
              <a:path w="680408" h="680408">
                <a:moveTo>
                  <a:pt x="0" y="0"/>
                </a:moveTo>
                <a:lnTo>
                  <a:pt x="680407" y="0"/>
                </a:lnTo>
                <a:lnTo>
                  <a:pt x="680407" y="680407"/>
                </a:lnTo>
                <a:lnTo>
                  <a:pt x="0" y="68040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7" name="Freeform 7"/>
          <p:cNvSpPr/>
          <p:nvPr/>
        </p:nvSpPr>
        <p:spPr>
          <a:xfrm>
            <a:off x="2899864" y="2198653"/>
            <a:ext cx="13123070" cy="7145123"/>
          </a:xfrm>
          <a:custGeom>
            <a:avLst/>
            <a:gdLst/>
            <a:ahLst/>
            <a:cxnLst/>
            <a:rect l="l" t="t" r="r" b="b"/>
            <a:pathLst>
              <a:path w="13123070" h="7145123">
                <a:moveTo>
                  <a:pt x="0" y="0"/>
                </a:moveTo>
                <a:lnTo>
                  <a:pt x="13123070" y="0"/>
                </a:lnTo>
                <a:lnTo>
                  <a:pt x="13123070" y="7145123"/>
                </a:lnTo>
                <a:lnTo>
                  <a:pt x="0" y="7145123"/>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sp>
      <p:sp>
        <p:nvSpPr>
          <p:cNvPr id="8" name="Freeform 8"/>
          <p:cNvSpPr/>
          <p:nvPr/>
        </p:nvSpPr>
        <p:spPr>
          <a:xfrm>
            <a:off x="13623543" y="8583740"/>
            <a:ext cx="285024" cy="194336"/>
          </a:xfrm>
          <a:custGeom>
            <a:avLst/>
            <a:gdLst/>
            <a:ahLst/>
            <a:cxnLst/>
            <a:rect l="l" t="t" r="r" b="b"/>
            <a:pathLst>
              <a:path w="285024" h="194336">
                <a:moveTo>
                  <a:pt x="0" y="0"/>
                </a:moveTo>
                <a:lnTo>
                  <a:pt x="285024" y="0"/>
                </a:lnTo>
                <a:lnTo>
                  <a:pt x="285024" y="194335"/>
                </a:lnTo>
                <a:lnTo>
                  <a:pt x="0" y="194335"/>
                </a:lnTo>
                <a:lnTo>
                  <a:pt x="0" y="0"/>
                </a:lnTo>
                <a:close/>
              </a:path>
            </a:pathLst>
          </a:custGeom>
          <a:blipFill>
            <a:blip r:embed="rId13">
              <a:extLst>
                <a:ext uri="{96DAC541-7B7A-43D3-8B79-37D633B846F1}">
                  <asvg:svgBlip xmlns:asvg="http://schemas.microsoft.com/office/drawing/2016/SVG/main" xmlns="" r:embed="rId14"/>
                </a:ext>
              </a:extLst>
            </a:blip>
            <a:stretch>
              <a:fillRect r="-649"/>
            </a:stretch>
          </a:blipFill>
        </p:spPr>
      </p:sp>
      <p:sp>
        <p:nvSpPr>
          <p:cNvPr id="9" name="Freeform 9"/>
          <p:cNvSpPr/>
          <p:nvPr/>
        </p:nvSpPr>
        <p:spPr>
          <a:xfrm>
            <a:off x="4392735" y="3368124"/>
            <a:ext cx="862615" cy="864118"/>
          </a:xfrm>
          <a:custGeom>
            <a:avLst/>
            <a:gdLst/>
            <a:ahLst/>
            <a:cxnLst/>
            <a:rect l="l" t="t" r="r" b="b"/>
            <a:pathLst>
              <a:path w="862615" h="864118">
                <a:moveTo>
                  <a:pt x="0" y="0"/>
                </a:moveTo>
                <a:lnTo>
                  <a:pt x="862615" y="0"/>
                </a:lnTo>
                <a:lnTo>
                  <a:pt x="862615" y="864118"/>
                </a:lnTo>
                <a:lnTo>
                  <a:pt x="0" y="864118"/>
                </a:lnTo>
                <a:lnTo>
                  <a:pt x="0" y="0"/>
                </a:lnTo>
                <a:close/>
              </a:path>
            </a:pathLst>
          </a:custGeom>
          <a:blipFill>
            <a:blip r:embed="rId15">
              <a:extLst>
                <a:ext uri="{96DAC541-7B7A-43D3-8B79-37D633B846F1}">
                  <asvg:svgBlip xmlns:asvg="http://schemas.microsoft.com/office/drawing/2016/SVG/main" xmlns="" r:embed="rId16"/>
                </a:ext>
              </a:extLst>
            </a:blip>
            <a:stretch>
              <a:fillRect/>
            </a:stretch>
          </a:blipFill>
        </p:spPr>
      </p:sp>
      <p:sp>
        <p:nvSpPr>
          <p:cNvPr id="10" name="Freeform 10"/>
          <p:cNvSpPr/>
          <p:nvPr/>
        </p:nvSpPr>
        <p:spPr>
          <a:xfrm>
            <a:off x="4392735" y="5469508"/>
            <a:ext cx="862615" cy="864119"/>
          </a:xfrm>
          <a:custGeom>
            <a:avLst/>
            <a:gdLst/>
            <a:ahLst/>
            <a:cxnLst/>
            <a:rect l="l" t="t" r="r" b="b"/>
            <a:pathLst>
              <a:path w="862615" h="864119">
                <a:moveTo>
                  <a:pt x="0" y="0"/>
                </a:moveTo>
                <a:lnTo>
                  <a:pt x="862615" y="0"/>
                </a:lnTo>
                <a:lnTo>
                  <a:pt x="862615" y="864119"/>
                </a:lnTo>
                <a:lnTo>
                  <a:pt x="0" y="864119"/>
                </a:lnTo>
                <a:lnTo>
                  <a:pt x="0" y="0"/>
                </a:lnTo>
                <a:close/>
              </a:path>
            </a:pathLst>
          </a:custGeom>
          <a:blipFill>
            <a:blip r:embed="rId17">
              <a:extLst>
                <a:ext uri="{96DAC541-7B7A-43D3-8B79-37D633B846F1}">
                  <asvg:svgBlip xmlns:asvg="http://schemas.microsoft.com/office/drawing/2016/SVG/main" xmlns="" r:embed="rId18"/>
                </a:ext>
              </a:extLst>
            </a:blip>
            <a:stretch>
              <a:fillRect/>
            </a:stretch>
          </a:blipFill>
        </p:spPr>
      </p:sp>
      <p:sp>
        <p:nvSpPr>
          <p:cNvPr id="11" name="Freeform 11"/>
          <p:cNvSpPr/>
          <p:nvPr/>
        </p:nvSpPr>
        <p:spPr>
          <a:xfrm>
            <a:off x="4392735" y="7569438"/>
            <a:ext cx="862615" cy="864072"/>
          </a:xfrm>
          <a:custGeom>
            <a:avLst/>
            <a:gdLst/>
            <a:ahLst/>
            <a:cxnLst/>
            <a:rect l="l" t="t" r="r" b="b"/>
            <a:pathLst>
              <a:path w="862615" h="864072">
                <a:moveTo>
                  <a:pt x="0" y="0"/>
                </a:moveTo>
                <a:lnTo>
                  <a:pt x="862615" y="0"/>
                </a:lnTo>
                <a:lnTo>
                  <a:pt x="862615" y="864072"/>
                </a:lnTo>
                <a:lnTo>
                  <a:pt x="0" y="864072"/>
                </a:lnTo>
                <a:lnTo>
                  <a:pt x="0" y="0"/>
                </a:lnTo>
                <a:close/>
              </a:path>
            </a:pathLst>
          </a:custGeom>
          <a:blipFill>
            <a:blip r:embed="rId19">
              <a:extLst>
                <a:ext uri="{96DAC541-7B7A-43D3-8B79-37D633B846F1}">
                  <asvg:svgBlip xmlns:asvg="http://schemas.microsoft.com/office/drawing/2016/SVG/main" xmlns="" r:embed="rId20"/>
                </a:ext>
              </a:extLst>
            </a:blip>
            <a:stretch>
              <a:fillRect/>
            </a:stretch>
          </a:blipFill>
        </p:spPr>
      </p:sp>
      <p:sp>
        <p:nvSpPr>
          <p:cNvPr id="12" name="Freeform 12"/>
          <p:cNvSpPr/>
          <p:nvPr/>
        </p:nvSpPr>
        <p:spPr>
          <a:xfrm>
            <a:off x="13657964" y="3359612"/>
            <a:ext cx="862616" cy="864118"/>
          </a:xfrm>
          <a:custGeom>
            <a:avLst/>
            <a:gdLst/>
            <a:ahLst/>
            <a:cxnLst/>
            <a:rect l="l" t="t" r="r" b="b"/>
            <a:pathLst>
              <a:path w="862616" h="864118">
                <a:moveTo>
                  <a:pt x="0" y="0"/>
                </a:moveTo>
                <a:lnTo>
                  <a:pt x="862615" y="0"/>
                </a:lnTo>
                <a:lnTo>
                  <a:pt x="862615" y="864118"/>
                </a:lnTo>
                <a:lnTo>
                  <a:pt x="0" y="864118"/>
                </a:lnTo>
                <a:lnTo>
                  <a:pt x="0" y="0"/>
                </a:lnTo>
                <a:close/>
              </a:path>
            </a:pathLst>
          </a:custGeom>
          <a:blipFill>
            <a:blip r:embed="rId21">
              <a:extLst>
                <a:ext uri="{96DAC541-7B7A-43D3-8B79-37D633B846F1}">
                  <asvg:svgBlip xmlns:asvg="http://schemas.microsoft.com/office/drawing/2016/SVG/main" xmlns="" r:embed="rId22"/>
                </a:ext>
              </a:extLst>
            </a:blip>
            <a:stretch>
              <a:fillRect/>
            </a:stretch>
          </a:blipFill>
        </p:spPr>
      </p:sp>
      <p:sp>
        <p:nvSpPr>
          <p:cNvPr id="13" name="Freeform 13"/>
          <p:cNvSpPr/>
          <p:nvPr/>
        </p:nvSpPr>
        <p:spPr>
          <a:xfrm>
            <a:off x="13657964" y="5460996"/>
            <a:ext cx="862616" cy="864119"/>
          </a:xfrm>
          <a:custGeom>
            <a:avLst/>
            <a:gdLst/>
            <a:ahLst/>
            <a:cxnLst/>
            <a:rect l="l" t="t" r="r" b="b"/>
            <a:pathLst>
              <a:path w="862616" h="864119">
                <a:moveTo>
                  <a:pt x="0" y="0"/>
                </a:moveTo>
                <a:lnTo>
                  <a:pt x="862615" y="0"/>
                </a:lnTo>
                <a:lnTo>
                  <a:pt x="862615" y="864118"/>
                </a:lnTo>
                <a:lnTo>
                  <a:pt x="0" y="864118"/>
                </a:lnTo>
                <a:lnTo>
                  <a:pt x="0" y="0"/>
                </a:lnTo>
                <a:close/>
              </a:path>
            </a:pathLst>
          </a:custGeom>
          <a:blipFill>
            <a:blip r:embed="rId23">
              <a:extLst>
                <a:ext uri="{96DAC541-7B7A-43D3-8B79-37D633B846F1}">
                  <asvg:svgBlip xmlns:asvg="http://schemas.microsoft.com/office/drawing/2016/SVG/main" xmlns="" r:embed="rId24"/>
                </a:ext>
              </a:extLst>
            </a:blip>
            <a:stretch>
              <a:fillRect/>
            </a:stretch>
          </a:blipFill>
        </p:spPr>
      </p:sp>
      <p:sp>
        <p:nvSpPr>
          <p:cNvPr id="14" name="Freeform 14"/>
          <p:cNvSpPr/>
          <p:nvPr/>
        </p:nvSpPr>
        <p:spPr>
          <a:xfrm>
            <a:off x="13657964" y="7560926"/>
            <a:ext cx="862616" cy="864072"/>
          </a:xfrm>
          <a:custGeom>
            <a:avLst/>
            <a:gdLst/>
            <a:ahLst/>
            <a:cxnLst/>
            <a:rect l="l" t="t" r="r" b="b"/>
            <a:pathLst>
              <a:path w="862616" h="864072">
                <a:moveTo>
                  <a:pt x="0" y="0"/>
                </a:moveTo>
                <a:lnTo>
                  <a:pt x="862615" y="0"/>
                </a:lnTo>
                <a:lnTo>
                  <a:pt x="862615" y="864072"/>
                </a:lnTo>
                <a:lnTo>
                  <a:pt x="0" y="864072"/>
                </a:lnTo>
                <a:lnTo>
                  <a:pt x="0" y="0"/>
                </a:lnTo>
                <a:close/>
              </a:path>
            </a:pathLst>
          </a:custGeom>
          <a:blipFill>
            <a:blip r:embed="rId25">
              <a:extLst>
                <a:ext uri="{96DAC541-7B7A-43D3-8B79-37D633B846F1}">
                  <asvg:svgBlip xmlns:asvg="http://schemas.microsoft.com/office/drawing/2016/SVG/main" xmlns="" r:embed="rId26"/>
                </a:ext>
              </a:extLst>
            </a:blip>
            <a:stretch>
              <a:fillRect/>
            </a:stretch>
          </a:blipFill>
        </p:spPr>
      </p:sp>
      <p:sp>
        <p:nvSpPr>
          <p:cNvPr id="15" name="Freeform 15"/>
          <p:cNvSpPr/>
          <p:nvPr/>
        </p:nvSpPr>
        <p:spPr>
          <a:xfrm>
            <a:off x="6430592" y="4391160"/>
            <a:ext cx="6057572" cy="3467890"/>
          </a:xfrm>
          <a:custGeom>
            <a:avLst/>
            <a:gdLst/>
            <a:ahLst/>
            <a:cxnLst/>
            <a:rect l="l" t="t" r="r" b="b"/>
            <a:pathLst>
              <a:path w="6057572" h="3467890">
                <a:moveTo>
                  <a:pt x="0" y="0"/>
                </a:moveTo>
                <a:lnTo>
                  <a:pt x="6057571" y="0"/>
                </a:lnTo>
                <a:lnTo>
                  <a:pt x="6057571" y="3467891"/>
                </a:lnTo>
                <a:lnTo>
                  <a:pt x="0" y="3467891"/>
                </a:lnTo>
                <a:lnTo>
                  <a:pt x="0" y="0"/>
                </a:lnTo>
                <a:close/>
              </a:path>
            </a:pathLst>
          </a:custGeom>
          <a:blipFill>
            <a:blip r:embed="rId27">
              <a:extLst>
                <a:ext uri="{96DAC541-7B7A-43D3-8B79-37D633B846F1}">
                  <asvg:svgBlip xmlns:asvg="http://schemas.microsoft.com/office/drawing/2016/SVG/main" xmlns="" r:embed="rId28"/>
                </a:ext>
              </a:extLst>
            </a:blip>
            <a:stretch>
              <a:fillRect/>
            </a:stretch>
          </a:blipFill>
        </p:spPr>
      </p:sp>
      <p:grpSp>
        <p:nvGrpSpPr>
          <p:cNvPr id="16" name="Group 16"/>
          <p:cNvGrpSpPr/>
          <p:nvPr/>
        </p:nvGrpSpPr>
        <p:grpSpPr>
          <a:xfrm>
            <a:off x="5135500" y="2519771"/>
            <a:ext cx="8382852" cy="698850"/>
            <a:chOff x="0" y="0"/>
            <a:chExt cx="11177136" cy="931800"/>
          </a:xfrm>
        </p:grpSpPr>
        <p:sp>
          <p:nvSpPr>
            <p:cNvPr id="17" name="Freeform 17"/>
            <p:cNvSpPr/>
            <p:nvPr/>
          </p:nvSpPr>
          <p:spPr>
            <a:xfrm>
              <a:off x="0" y="0"/>
              <a:ext cx="11177136" cy="931800"/>
            </a:xfrm>
            <a:custGeom>
              <a:avLst/>
              <a:gdLst/>
              <a:ahLst/>
              <a:cxnLst/>
              <a:rect l="l" t="t" r="r" b="b"/>
              <a:pathLst>
                <a:path w="11177136" h="931800">
                  <a:moveTo>
                    <a:pt x="0" y="0"/>
                  </a:moveTo>
                  <a:lnTo>
                    <a:pt x="11177136" y="0"/>
                  </a:lnTo>
                  <a:lnTo>
                    <a:pt x="11177136" y="931800"/>
                  </a:lnTo>
                  <a:lnTo>
                    <a:pt x="0" y="931800"/>
                  </a:lnTo>
                  <a:close/>
                </a:path>
              </a:pathLst>
            </a:custGeom>
            <a:solidFill>
              <a:srgbClr val="000000">
                <a:alpha val="0"/>
              </a:srgbClr>
            </a:solidFill>
          </p:spPr>
        </p:sp>
        <p:sp>
          <p:nvSpPr>
            <p:cNvPr id="18" name="TextBox 18"/>
            <p:cNvSpPr txBox="1"/>
            <p:nvPr/>
          </p:nvSpPr>
          <p:spPr>
            <a:xfrm>
              <a:off x="0" y="-9525"/>
              <a:ext cx="11177136" cy="941325"/>
            </a:xfrm>
            <a:prstGeom prst="rect">
              <a:avLst/>
            </a:prstGeom>
          </p:spPr>
          <p:txBody>
            <a:bodyPr lIns="0" tIns="0" rIns="0" bIns="0" rtlCol="0" anchor="ctr"/>
            <a:lstStyle/>
            <a:p>
              <a:pPr algn="ctr">
                <a:lnSpc>
                  <a:spcPts val="5040"/>
                </a:lnSpc>
              </a:pPr>
              <a:r>
                <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DEMO SẢN PHẨM</a:t>
              </a:r>
            </a:p>
          </p:txBody>
        </p:sp>
      </p:grpSp>
      <p:grpSp>
        <p:nvGrpSpPr>
          <p:cNvPr id="19" name="Group 19"/>
          <p:cNvGrpSpPr/>
          <p:nvPr/>
        </p:nvGrpSpPr>
        <p:grpSpPr>
          <a:xfrm>
            <a:off x="650038" y="2446777"/>
            <a:ext cx="896422" cy="921347"/>
            <a:chOff x="0" y="0"/>
            <a:chExt cx="1371524" cy="1409658"/>
          </a:xfrm>
        </p:grpSpPr>
        <p:sp>
          <p:nvSpPr>
            <p:cNvPr id="20" name="Freeform 20"/>
            <p:cNvSpPr/>
            <p:nvPr/>
          </p:nvSpPr>
          <p:spPr>
            <a:xfrm>
              <a:off x="0" y="0"/>
              <a:ext cx="1371600" cy="1409700"/>
            </a:xfrm>
            <a:custGeom>
              <a:avLst/>
              <a:gdLst/>
              <a:ahLst/>
              <a:cxnLst/>
              <a:rect l="l" t="t" r="r" b="b"/>
              <a:pathLst>
                <a:path w="1371600" h="1409700">
                  <a:moveTo>
                    <a:pt x="0" y="704850"/>
                  </a:moveTo>
                  <a:cubicBezTo>
                    <a:pt x="0" y="315595"/>
                    <a:pt x="307086" y="0"/>
                    <a:pt x="685800" y="0"/>
                  </a:cubicBezTo>
                  <a:cubicBezTo>
                    <a:pt x="1064514" y="0"/>
                    <a:pt x="1371600" y="315595"/>
                    <a:pt x="1371600" y="704850"/>
                  </a:cubicBezTo>
                  <a:cubicBezTo>
                    <a:pt x="1371600" y="1094105"/>
                    <a:pt x="1064514" y="1409700"/>
                    <a:pt x="685800" y="1409700"/>
                  </a:cubicBezTo>
                  <a:cubicBezTo>
                    <a:pt x="307086" y="1409700"/>
                    <a:pt x="0" y="1094105"/>
                    <a:pt x="0" y="704850"/>
                  </a:cubicBezTo>
                  <a:close/>
                </a:path>
              </a:pathLst>
            </a:custGeom>
            <a:solidFill>
              <a:srgbClr val="FCB618"/>
            </a:solidFill>
            <a:ln w="12700">
              <a:solidFill>
                <a:schemeClr val="bg1"/>
              </a:solidFill>
            </a:ln>
          </p:spPr>
        </p:sp>
        <p:sp>
          <p:nvSpPr>
            <p:cNvPr id="21" name="TextBox 21"/>
            <p:cNvSpPr txBox="1"/>
            <p:nvPr/>
          </p:nvSpPr>
          <p:spPr>
            <a:xfrm>
              <a:off x="0" y="-19050"/>
              <a:ext cx="1371524" cy="1428708"/>
            </a:xfrm>
            <a:prstGeom prst="rect">
              <a:avLst/>
            </a:prstGeom>
            <a:ln>
              <a:solidFill>
                <a:schemeClr val="bg1"/>
              </a:solidFill>
            </a:ln>
          </p:spPr>
          <p:txBody>
            <a:bodyPr lIns="50800" tIns="50800" rIns="50800" bIns="50800" rtlCol="0" anchor="ctr"/>
            <a:lstStyle/>
            <a:p>
              <a:pPr algn="ctr">
                <a:lnSpc>
                  <a:spcPts val="8640"/>
                </a:lnSpc>
              </a:pPr>
              <a:r>
                <a:rPr lang="en-US" sz="5400" b="1"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5</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286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n-US" dirty="0">
              <a:latin typeface="Cambria" panose="02040503050406030204" pitchFamily="18" charset="0"/>
              <a:ea typeface="Cambria" panose="02040503050406030204" pitchFamily="18" charset="0"/>
            </a:endParaRPr>
          </a:p>
        </p:txBody>
      </p:sp>
      <p:sp>
        <p:nvSpPr>
          <p:cNvPr id="3" name="TextBox 3"/>
          <p:cNvSpPr txBox="1"/>
          <p:nvPr/>
        </p:nvSpPr>
        <p:spPr>
          <a:xfrm>
            <a:off x="893697" y="2312651"/>
            <a:ext cx="6597480" cy="743793"/>
          </a:xfrm>
          <a:prstGeom prst="rect">
            <a:avLst/>
          </a:prstGeom>
        </p:spPr>
        <p:txBody>
          <a:bodyPr lIns="0" tIns="0" rIns="0" bIns="0" rtlCol="0" anchor="t">
            <a:spAutoFit/>
          </a:bodyPr>
          <a:lstStyle/>
          <a:p>
            <a:pPr algn="l">
              <a:lnSpc>
                <a:spcPts val="5759"/>
              </a:lnSpc>
            </a:pPr>
            <a:r>
              <a:rPr lang="en-US" sz="5400" b="1"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Hướng</a:t>
            </a:r>
            <a:r>
              <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5400" b="1"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phát</a:t>
            </a:r>
            <a:r>
              <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lang="en-US" sz="5400" b="1" dirty="0" err="1">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triển</a:t>
            </a:r>
            <a:endParaRPr lang="en-US" sz="5400" b="1" dirty="0">
              <a:solidFill>
                <a:srgbClr val="16458C"/>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grpSp>
        <p:nvGrpSpPr>
          <p:cNvPr id="5" name="Group 5"/>
          <p:cNvGrpSpPr/>
          <p:nvPr/>
        </p:nvGrpSpPr>
        <p:grpSpPr>
          <a:xfrm>
            <a:off x="4541805" y="3337286"/>
            <a:ext cx="9655373" cy="940951"/>
            <a:chOff x="19049" y="-66010"/>
            <a:chExt cx="12873831" cy="1254602"/>
          </a:xfrm>
        </p:grpSpPr>
        <p:sp>
          <p:nvSpPr>
            <p:cNvPr id="6" name="Freeform 6"/>
            <p:cNvSpPr/>
            <p:nvPr/>
          </p:nvSpPr>
          <p:spPr>
            <a:xfrm>
              <a:off x="19049" y="19050"/>
              <a:ext cx="12557125" cy="1169542"/>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txBody>
            <a:bodyPr/>
            <a:lstStyle/>
            <a:p>
              <a:endParaRPr lang="en-US" dirty="0">
                <a:latin typeface="Cambria" panose="02040503050406030204" pitchFamily="18" charset="0"/>
                <a:ea typeface="Cambria" panose="02040503050406030204" pitchFamily="18" charset="0"/>
              </a:endParaRPr>
            </a:p>
          </p:txBody>
        </p:sp>
        <p:sp>
          <p:nvSpPr>
            <p:cNvPr id="8" name="TextBox 8"/>
            <p:cNvSpPr txBox="1"/>
            <p:nvPr/>
          </p:nvSpPr>
          <p:spPr>
            <a:xfrm>
              <a:off x="297594" y="-66010"/>
              <a:ext cx="12595286" cy="786526"/>
            </a:xfrm>
            <a:prstGeom prst="rect">
              <a:avLst/>
            </a:prstGeom>
          </p:spPr>
          <p:txBody>
            <a:bodyPr wrap="square" lIns="50800" tIns="50800" rIns="50800" bIns="50800" rtlCol="0" anchor="t"/>
            <a:lstStyle/>
            <a:p>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Bổ sung đăng nhập và phân quyền theo vai trò người dùng.</a:t>
              </a:r>
            </a:p>
          </p:txBody>
        </p:sp>
      </p:grpSp>
      <p:grpSp>
        <p:nvGrpSpPr>
          <p:cNvPr id="9" name="Group 9"/>
          <p:cNvGrpSpPr/>
          <p:nvPr/>
        </p:nvGrpSpPr>
        <p:grpSpPr>
          <a:xfrm>
            <a:off x="4541806" y="4511414"/>
            <a:ext cx="9655374" cy="891451"/>
            <a:chOff x="19051" y="-7"/>
            <a:chExt cx="12873832" cy="1188600"/>
          </a:xfrm>
        </p:grpSpPr>
        <p:sp>
          <p:nvSpPr>
            <p:cNvPr id="10" name="Freeform 10"/>
            <p:cNvSpPr/>
            <p:nvPr/>
          </p:nvSpPr>
          <p:spPr>
            <a:xfrm>
              <a:off x="19051" y="19050"/>
              <a:ext cx="12557125" cy="1169543"/>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txBody>
            <a:bodyPr/>
            <a:lstStyle/>
            <a:p>
              <a:endParaRPr/>
            </a:p>
          </p:txBody>
        </p:sp>
        <p:sp>
          <p:nvSpPr>
            <p:cNvPr id="12" name="TextBox 12"/>
            <p:cNvSpPr txBox="1"/>
            <p:nvPr/>
          </p:nvSpPr>
          <p:spPr>
            <a:xfrm>
              <a:off x="297595" y="-7"/>
              <a:ext cx="12595288" cy="991723"/>
            </a:xfrm>
            <a:prstGeom prst="rect">
              <a:avLst/>
            </a:prstGeom>
          </p:spPr>
          <p:txBody>
            <a:bodyPr wrap="square" lIns="50800" tIns="50800" rIns="50800" bIns="50800" rtlCol="0" anchor="t"/>
            <a:lstStyle/>
            <a:p>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Hỗ trợ nhiều nguồn dữ liệu và nhiều doanh nghiệp.</a:t>
              </a:r>
            </a:p>
          </p:txBody>
        </p:sp>
      </p:grpSp>
      <p:grpSp>
        <p:nvGrpSpPr>
          <p:cNvPr id="13" name="Group 13"/>
          <p:cNvGrpSpPr/>
          <p:nvPr/>
        </p:nvGrpSpPr>
        <p:grpSpPr>
          <a:xfrm>
            <a:off x="4541806" y="5717610"/>
            <a:ext cx="9655375" cy="904774"/>
            <a:chOff x="19050" y="-17774"/>
            <a:chExt cx="12873833" cy="1206367"/>
          </a:xfrm>
        </p:grpSpPr>
        <p:sp>
          <p:nvSpPr>
            <p:cNvPr id="14" name="Freeform 14"/>
            <p:cNvSpPr/>
            <p:nvPr/>
          </p:nvSpPr>
          <p:spPr>
            <a:xfrm>
              <a:off x="19050" y="19050"/>
              <a:ext cx="12557125" cy="1169543"/>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txBody>
            <a:bodyPr/>
            <a:lstStyle/>
            <a:p>
              <a:endParaRPr/>
            </a:p>
          </p:txBody>
        </p:sp>
        <p:sp>
          <p:nvSpPr>
            <p:cNvPr id="16" name="TextBox 16"/>
            <p:cNvSpPr txBox="1"/>
            <p:nvPr/>
          </p:nvSpPr>
          <p:spPr>
            <a:xfrm>
              <a:off x="297595" y="-17774"/>
              <a:ext cx="12595288" cy="810597"/>
            </a:xfrm>
            <a:prstGeom prst="rect">
              <a:avLst/>
            </a:prstGeom>
          </p:spPr>
          <p:txBody>
            <a:bodyPr wrap="square" lIns="50800" tIns="50800" rIns="50800" bIns="50800" rtlCol="0" anchor="t"/>
            <a:lstStyle/>
            <a:p>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Cho hệ thống học từ lịch sử câu hỏi và phản hồi.</a:t>
              </a:r>
            </a:p>
          </p:txBody>
        </p:sp>
      </p:grpSp>
      <p:grpSp>
        <p:nvGrpSpPr>
          <p:cNvPr id="17" name="Group 17"/>
          <p:cNvGrpSpPr/>
          <p:nvPr/>
        </p:nvGrpSpPr>
        <p:grpSpPr>
          <a:xfrm>
            <a:off x="4541806" y="6964747"/>
            <a:ext cx="9662129" cy="877157"/>
            <a:chOff x="19050" y="19049"/>
            <a:chExt cx="12882838" cy="1169544"/>
          </a:xfrm>
        </p:grpSpPr>
        <p:sp>
          <p:nvSpPr>
            <p:cNvPr id="18" name="Freeform 18"/>
            <p:cNvSpPr/>
            <p:nvPr/>
          </p:nvSpPr>
          <p:spPr>
            <a:xfrm>
              <a:off x="19050" y="19050"/>
              <a:ext cx="12557125" cy="1169543"/>
            </a:xfrm>
            <a:custGeom>
              <a:avLst/>
              <a:gdLst/>
              <a:ahLst/>
              <a:cxnLst/>
              <a:rect l="l" t="t" r="r" b="b"/>
              <a:pathLst>
                <a:path w="12557125" h="1169543">
                  <a:moveTo>
                    <a:pt x="0" y="194945"/>
                  </a:moveTo>
                  <a:cubicBezTo>
                    <a:pt x="0" y="87249"/>
                    <a:pt x="89789" y="0"/>
                    <a:pt x="200660" y="0"/>
                  </a:cubicBezTo>
                  <a:lnTo>
                    <a:pt x="12356465" y="0"/>
                  </a:lnTo>
                  <a:cubicBezTo>
                    <a:pt x="12467336" y="0"/>
                    <a:pt x="12557125" y="87249"/>
                    <a:pt x="12557125" y="194945"/>
                  </a:cubicBezTo>
                  <a:lnTo>
                    <a:pt x="12557125" y="974598"/>
                  </a:lnTo>
                  <a:cubicBezTo>
                    <a:pt x="12557125" y="1082294"/>
                    <a:pt x="12467336" y="1169543"/>
                    <a:pt x="12356465" y="1169543"/>
                  </a:cubicBezTo>
                  <a:lnTo>
                    <a:pt x="200660" y="1169543"/>
                  </a:lnTo>
                  <a:cubicBezTo>
                    <a:pt x="89789" y="1169543"/>
                    <a:pt x="0" y="1082294"/>
                    <a:pt x="0" y="974598"/>
                  </a:cubicBezTo>
                  <a:close/>
                </a:path>
              </a:pathLst>
            </a:custGeom>
            <a:solidFill>
              <a:srgbClr val="FCB618"/>
            </a:solidFill>
            <a:ln w="12700">
              <a:solidFill>
                <a:srgbClr val="000000"/>
              </a:solidFill>
            </a:ln>
          </p:spPr>
          <p:txBody>
            <a:bodyPr/>
            <a:lstStyle/>
            <a:p>
              <a:endParaRPr/>
            </a:p>
          </p:txBody>
        </p:sp>
        <p:sp>
          <p:nvSpPr>
            <p:cNvPr id="20" name="TextBox 20"/>
            <p:cNvSpPr txBox="1"/>
            <p:nvPr/>
          </p:nvSpPr>
          <p:spPr>
            <a:xfrm>
              <a:off x="306600" y="19049"/>
              <a:ext cx="12595288" cy="991725"/>
            </a:xfrm>
            <a:prstGeom prst="rect">
              <a:avLst/>
            </a:prstGeom>
          </p:spPr>
          <p:txBody>
            <a:bodyPr wrap="square" lIns="50800" tIns="50800" rIns="50800" bIns="50800" rtlCol="0" anchor="t"/>
            <a:lstStyle/>
            <a:p>
              <a:r>
                <a:rPr sz="270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Tối ưu hiệu năng truy vấn và triển khai trên Cloud/Kubernetes.</a:t>
              </a:r>
              <a:endParaRPr lang="en-US" sz="2700" dirty="0">
                <a:solidFill>
                  <a:srgbClr val="FFFFFF"/>
                </a:solidFill>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endParaRPr>
            </a:p>
          </p:txBody>
        </p:sp>
      </p:grpSp>
      <p:sp>
        <p:nvSpPr>
          <p:cNvPr id="26" name="Freeform 26"/>
          <p:cNvSpPr/>
          <p:nvPr/>
        </p:nvSpPr>
        <p:spPr>
          <a:xfrm>
            <a:off x="1936631" y="3401081"/>
            <a:ext cx="884206" cy="877156"/>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txBody>
          <a:bodyPr/>
          <a:lstStyle/>
          <a:p>
            <a:endParaRPr/>
          </a:p>
        </p:txBody>
      </p:sp>
      <p:sp>
        <p:nvSpPr>
          <p:cNvPr id="29" name="Freeform 29"/>
          <p:cNvSpPr/>
          <p:nvPr/>
        </p:nvSpPr>
        <p:spPr>
          <a:xfrm>
            <a:off x="1916969" y="5742796"/>
            <a:ext cx="884206" cy="877157"/>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txBody>
          <a:bodyPr/>
          <a:lstStyle/>
          <a:p>
            <a:endParaRPr/>
          </a:p>
        </p:txBody>
      </p:sp>
      <p:sp>
        <p:nvSpPr>
          <p:cNvPr id="32" name="Freeform 32"/>
          <p:cNvSpPr/>
          <p:nvPr/>
        </p:nvSpPr>
        <p:spPr>
          <a:xfrm>
            <a:off x="1936631" y="6964748"/>
            <a:ext cx="884206" cy="877157"/>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txBody>
          <a:bodyPr/>
          <a:lstStyle/>
          <a:p>
            <a:endParaRPr/>
          </a:p>
        </p:txBody>
      </p:sp>
      <p:sp>
        <p:nvSpPr>
          <p:cNvPr id="38" name="Freeform 38"/>
          <p:cNvSpPr/>
          <p:nvPr/>
        </p:nvSpPr>
        <p:spPr>
          <a:xfrm>
            <a:off x="1936630" y="4525704"/>
            <a:ext cx="884206" cy="877158"/>
          </a:xfrm>
          <a:custGeom>
            <a:avLst/>
            <a:gdLst/>
            <a:ahLst/>
            <a:cxnLst/>
            <a:rect l="l" t="t" r="r" b="b"/>
            <a:pathLst>
              <a:path w="1178941" h="1169543">
                <a:moveTo>
                  <a:pt x="0" y="194945"/>
                </a:moveTo>
                <a:cubicBezTo>
                  <a:pt x="0" y="87249"/>
                  <a:pt x="87249" y="0"/>
                  <a:pt x="194945" y="0"/>
                </a:cubicBezTo>
                <a:lnTo>
                  <a:pt x="983996" y="0"/>
                </a:lnTo>
                <a:cubicBezTo>
                  <a:pt x="1091692" y="0"/>
                  <a:pt x="1178941" y="87249"/>
                  <a:pt x="1178941" y="194945"/>
                </a:cubicBezTo>
                <a:lnTo>
                  <a:pt x="1178941" y="974598"/>
                </a:lnTo>
                <a:cubicBezTo>
                  <a:pt x="1178941" y="1082294"/>
                  <a:pt x="1091692" y="1169543"/>
                  <a:pt x="983996" y="1169543"/>
                </a:cubicBezTo>
                <a:lnTo>
                  <a:pt x="194945" y="1169543"/>
                </a:lnTo>
                <a:cubicBezTo>
                  <a:pt x="87249" y="1169543"/>
                  <a:pt x="0" y="1082294"/>
                  <a:pt x="0" y="974598"/>
                </a:cubicBezTo>
                <a:close/>
              </a:path>
            </a:pathLst>
          </a:custGeom>
          <a:solidFill>
            <a:srgbClr val="16458C"/>
          </a:solidFill>
          <a:ln w="12700">
            <a:solidFill>
              <a:srgbClr val="000000"/>
            </a:solidFill>
          </a:ln>
        </p:spPr>
        <p:txBody>
          <a:bodyPr/>
          <a:lstStyle/>
          <a:p>
            <a:endParaRPr/>
          </a:p>
        </p:txBody>
      </p:sp>
      <p:sp>
        <p:nvSpPr>
          <p:cNvPr id="40" name="Freeform 40"/>
          <p:cNvSpPr/>
          <p:nvPr/>
        </p:nvSpPr>
        <p:spPr>
          <a:xfrm>
            <a:off x="2074114" y="3535041"/>
            <a:ext cx="609240" cy="609240"/>
          </a:xfrm>
          <a:custGeom>
            <a:avLst/>
            <a:gdLst/>
            <a:ahLst/>
            <a:cxnLst/>
            <a:rect l="l" t="t" r="r" b="b"/>
            <a:pathLst>
              <a:path w="609240" h="609240">
                <a:moveTo>
                  <a:pt x="0" y="0"/>
                </a:moveTo>
                <a:lnTo>
                  <a:pt x="609240" y="0"/>
                </a:lnTo>
                <a:lnTo>
                  <a:pt x="609240" y="609240"/>
                </a:lnTo>
                <a:lnTo>
                  <a:pt x="0" y="609240"/>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a:p>
        </p:txBody>
      </p:sp>
      <p:sp>
        <p:nvSpPr>
          <p:cNvPr id="41" name="Freeform 41"/>
          <p:cNvSpPr/>
          <p:nvPr/>
        </p:nvSpPr>
        <p:spPr>
          <a:xfrm>
            <a:off x="1972215" y="4557765"/>
            <a:ext cx="813039" cy="813039"/>
          </a:xfrm>
          <a:custGeom>
            <a:avLst/>
            <a:gdLst/>
            <a:ahLst/>
            <a:cxnLst/>
            <a:rect l="l" t="t" r="r" b="b"/>
            <a:pathLst>
              <a:path w="813039" h="813039">
                <a:moveTo>
                  <a:pt x="0" y="0"/>
                </a:moveTo>
                <a:lnTo>
                  <a:pt x="813039" y="0"/>
                </a:lnTo>
                <a:lnTo>
                  <a:pt x="813039" y="813039"/>
                </a:lnTo>
                <a:lnTo>
                  <a:pt x="0" y="81303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a:p>
        </p:txBody>
      </p:sp>
      <p:sp>
        <p:nvSpPr>
          <p:cNvPr id="42" name="Freeform 42"/>
          <p:cNvSpPr/>
          <p:nvPr/>
        </p:nvSpPr>
        <p:spPr>
          <a:xfrm>
            <a:off x="1972215" y="7016469"/>
            <a:ext cx="773719" cy="773720"/>
          </a:xfrm>
          <a:custGeom>
            <a:avLst/>
            <a:gdLst/>
            <a:ahLst/>
            <a:cxnLst/>
            <a:rect l="l" t="t" r="r" b="b"/>
            <a:pathLst>
              <a:path w="773719" h="773720">
                <a:moveTo>
                  <a:pt x="0" y="0"/>
                </a:moveTo>
                <a:lnTo>
                  <a:pt x="773719" y="0"/>
                </a:lnTo>
                <a:lnTo>
                  <a:pt x="773719" y="773720"/>
                </a:lnTo>
                <a:lnTo>
                  <a:pt x="0" y="773720"/>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a:p>
        </p:txBody>
      </p:sp>
      <p:sp>
        <p:nvSpPr>
          <p:cNvPr id="43" name="Freeform 43"/>
          <p:cNvSpPr/>
          <p:nvPr/>
        </p:nvSpPr>
        <p:spPr>
          <a:xfrm>
            <a:off x="2048236" y="8287212"/>
            <a:ext cx="654067" cy="654067"/>
          </a:xfrm>
          <a:custGeom>
            <a:avLst/>
            <a:gdLst/>
            <a:ahLst/>
            <a:cxnLst/>
            <a:rect l="l" t="t" r="r" b="b"/>
            <a:pathLst>
              <a:path w="654067" h="654067">
                <a:moveTo>
                  <a:pt x="0" y="0"/>
                </a:moveTo>
                <a:lnTo>
                  <a:pt x="654068" y="0"/>
                </a:lnTo>
                <a:lnTo>
                  <a:pt x="654068" y="654068"/>
                </a:lnTo>
                <a:lnTo>
                  <a:pt x="0" y="654068"/>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a:p>
        </p:txBody>
      </p:sp>
      <p:sp>
        <p:nvSpPr>
          <p:cNvPr id="44" name="Freeform 44"/>
          <p:cNvSpPr/>
          <p:nvPr/>
        </p:nvSpPr>
        <p:spPr>
          <a:xfrm>
            <a:off x="2002947" y="5840126"/>
            <a:ext cx="680408" cy="680408"/>
          </a:xfrm>
          <a:custGeom>
            <a:avLst/>
            <a:gdLst/>
            <a:ahLst/>
            <a:cxnLst/>
            <a:rect l="l" t="t" r="r" b="b"/>
            <a:pathLst>
              <a:path w="680408" h="680408">
                <a:moveTo>
                  <a:pt x="0" y="0"/>
                </a:moveTo>
                <a:lnTo>
                  <a:pt x="680407" y="0"/>
                </a:lnTo>
                <a:lnTo>
                  <a:pt x="680407" y="680407"/>
                </a:lnTo>
                <a:lnTo>
                  <a:pt x="0" y="680407"/>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txBody>
          <a:bodyPr/>
          <a:lstStyle/>
          <a:p>
            <a:endParaRPr/>
          </a:p>
        </p:txBody>
      </p:sp>
      <p:cxnSp>
        <p:nvCxnSpPr>
          <p:cNvPr id="45" name="Straight Connector 44">
            <a:extLst>
              <a:ext uri="{FF2B5EF4-FFF2-40B4-BE49-F238E27FC236}">
                <a16:creationId xmlns:a16="http://schemas.microsoft.com/office/drawing/2014/main" id="{CFB16DBA-5A32-F678-BEF0-088644FD843E}"/>
              </a:ext>
            </a:extLst>
          </p:cNvPr>
          <p:cNvCxnSpPr>
            <a:cxnSpLocks/>
          </p:cNvCxnSpPr>
          <p:nvPr/>
        </p:nvCxnSpPr>
        <p:spPr>
          <a:xfrm>
            <a:off x="609600" y="2412602"/>
            <a:ext cx="0" cy="543889"/>
          </a:xfrm>
          <a:prstGeom prst="line">
            <a:avLst/>
          </a:prstGeom>
          <a:ln w="76200">
            <a:solidFill>
              <a:srgbClr val="FCB61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 y="-419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a:p>
        </p:txBody>
      </p:sp>
      <p:sp>
        <p:nvSpPr>
          <p:cNvPr id="3" name="TextBox 3"/>
          <p:cNvSpPr txBox="1"/>
          <p:nvPr/>
        </p:nvSpPr>
        <p:spPr>
          <a:xfrm>
            <a:off x="4114800" y="2324100"/>
            <a:ext cx="9359752" cy="2282100"/>
          </a:xfrm>
          <a:prstGeom prst="rect">
            <a:avLst/>
          </a:prstGeom>
        </p:spPr>
        <p:txBody>
          <a:bodyPr wrap="square" lIns="0" tIns="0" rIns="0" bIns="0" rtlCol="0" anchor="t">
            <a:spAutoFit/>
          </a:bodyPr>
          <a:lstStyle/>
          <a:p>
            <a:pPr algn="ctr">
              <a:lnSpc>
                <a:spcPts val="8640"/>
              </a:lnSpc>
            </a:pPr>
            <a:r>
              <a:rPr sz="72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XIN TRÂN </a:t>
            </a:r>
            <a:r>
              <a:rPr sz="72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TRỌNG</a:t>
            </a:r>
            <a:r>
              <a:rPr lang="en-US" sz="72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7200" b="1"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CẢM </a:t>
            </a:r>
            <a:r>
              <a:rPr sz="7200" b="1"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ƠN</a:t>
            </a:r>
          </a:p>
        </p:txBody>
      </p:sp>
      <p:sp>
        <p:nvSpPr>
          <p:cNvPr id="4" name="TextBox 4"/>
          <p:cNvSpPr txBox="1"/>
          <p:nvPr/>
        </p:nvSpPr>
        <p:spPr>
          <a:xfrm>
            <a:off x="3455540" y="4970145"/>
            <a:ext cx="11376918" cy="1563826"/>
          </a:xfrm>
          <a:prstGeom prst="rect">
            <a:avLst/>
          </a:prstGeom>
        </p:spPr>
        <p:txBody>
          <a:bodyPr wrap="square" lIns="0" tIns="0" rIns="0" bIns="0" rtlCol="0" anchor="t">
            <a:spAutoFit/>
          </a:bodyPr>
          <a:lstStyle/>
          <a:p>
            <a:pPr algn="ctr">
              <a:lnSpc>
                <a:spcPts val="6480"/>
              </a:lnSpc>
            </a:pP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Em</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kính</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mong</a:t>
            </a:r>
            <a:r>
              <a:rPr sz="3600" dirty="0" smtClean="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nhận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được</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ý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kiến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đóng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góp</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của</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Hội</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đồng</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để</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tiếp</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tục</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hoàn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thiện</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đề</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 </a:t>
            </a:r>
            <a:r>
              <a:rPr sz="3600" dirty="0" err="1">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tài</a:t>
            </a:r>
            <a:r>
              <a:rPr sz="3600" dirty="0">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642</TotalTime>
  <Words>821</Words>
  <Application>Microsoft Office PowerPoint</Application>
  <PresentationFormat>Custom</PresentationFormat>
  <Paragraphs>157</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Microsoft YaHei</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Là người có quyền tương tác với hệ thống, có quyền điều khiển, kiểm soát các hoạt động của hệ thống. Với các chức năng quản lý Thông tin tài khoản, quản lý thông tin sản phẩm, quản lý đơn hàng,…</dc:title>
  <dc:creator>Ha Vu</dc:creator>
  <cp:lastModifiedBy>Hieu Cao</cp:lastModifiedBy>
  <cp:revision>17</cp:revision>
  <dcterms:created xsi:type="dcterms:W3CDTF">2006-08-16T00:00:00Z</dcterms:created>
  <dcterms:modified xsi:type="dcterms:W3CDTF">2026-06-16T19:06:38Z</dcterms:modified>
  <dc:identifier>DAG6Rx4WiKg</dc:identifier>
</cp:coreProperties>
</file>