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ambria" panose="02040503050406030204" pitchFamily="18"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0152" autoAdjust="0"/>
  </p:normalViewPr>
  <p:slideViewPr>
    <p:cSldViewPr>
      <p:cViewPr>
        <p:scale>
          <a:sx n="40" d="100"/>
          <a:sy n="40" d="100"/>
        </p:scale>
        <p:origin x="1522" y="2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4BB61-B4F3-49F3-8E3C-4B63BBA04250}"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55621-BB3A-4FD8-9F2D-99DAB64DC017}" type="slidenum">
              <a:rPr lang="en-US" smtClean="0"/>
              <a:t>‹#›</a:t>
            </a:fld>
            <a:endParaRPr lang="en-US"/>
          </a:p>
        </p:txBody>
      </p:sp>
    </p:spTree>
    <p:extLst>
      <p:ext uri="{BB962C8B-B14F-4D97-AF65-F5344CB8AC3E}">
        <p14:creationId xmlns:p14="http://schemas.microsoft.com/office/powerpoint/2010/main" val="3016637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kern="1200" dirty="0">
                <a:solidFill>
                  <a:schemeClr val="tx1"/>
                </a:solidFill>
                <a:effectLst/>
                <a:latin typeface="+mn-lt"/>
                <a:ea typeface="+mn-ea"/>
                <a:cs typeface="+mn-cs"/>
              </a:rPr>
              <a:t>Đây là framework phát triển ứng dụng Java</a:t>
            </a:r>
            <a:endParaRPr lang="en-US"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Vue.js Là một framework JavaScript linh hoạt</a:t>
            </a:r>
            <a:endParaRPr lang="en-US"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Java là một ngôn ngữ lập trình hướng đối tượng</a:t>
            </a:r>
            <a:endParaRPr lang="en-US" sz="1200" kern="1200" dirty="0">
              <a:solidFill>
                <a:schemeClr val="tx1"/>
              </a:solidFill>
              <a:effectLst/>
              <a:latin typeface="+mn-lt"/>
              <a:ea typeface="+mn-ea"/>
              <a:cs typeface="+mn-cs"/>
            </a:endParaRPr>
          </a:p>
          <a:p>
            <a:r>
              <a:rPr lang="vi-VN" sz="1200" kern="1200" dirty="0">
                <a:solidFill>
                  <a:schemeClr val="tx1"/>
                </a:solidFill>
                <a:effectLst/>
                <a:latin typeface="+mn-lt"/>
                <a:ea typeface="+mn-ea"/>
                <a:cs typeface="+mn-cs"/>
              </a:rPr>
              <a:t>PostgreSQL Là hệ quản trị cơ sở dữ liệu quan hệ mạnh mẽ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mật</a:t>
            </a:r>
            <a:endParaRPr lang="en-US" dirty="0"/>
          </a:p>
        </p:txBody>
      </p:sp>
      <p:sp>
        <p:nvSpPr>
          <p:cNvPr id="4" name="Slide Number Placeholder 3"/>
          <p:cNvSpPr>
            <a:spLocks noGrp="1"/>
          </p:cNvSpPr>
          <p:nvPr>
            <p:ph type="sldNum" sz="quarter" idx="5"/>
          </p:nvPr>
        </p:nvSpPr>
        <p:spPr/>
        <p:txBody>
          <a:bodyPr/>
          <a:lstStyle/>
          <a:p>
            <a:fld id="{7C655621-BB3A-4FD8-9F2D-99DAB64DC017}" type="slidenum">
              <a:rPr lang="en-US" smtClean="0"/>
              <a:t>4</a:t>
            </a:fld>
            <a:endParaRPr lang="en-US"/>
          </a:p>
        </p:txBody>
      </p:sp>
    </p:spTree>
    <p:extLst>
      <p:ext uri="{BB962C8B-B14F-4D97-AF65-F5344CB8AC3E}">
        <p14:creationId xmlns:p14="http://schemas.microsoft.com/office/powerpoint/2010/main" val="1464877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655621-BB3A-4FD8-9F2D-99DAB64DC017}" type="slidenum">
              <a:rPr lang="en-US" smtClean="0"/>
              <a:t>13</a:t>
            </a:fld>
            <a:endParaRPr lang="en-US"/>
          </a:p>
        </p:txBody>
      </p:sp>
    </p:spTree>
    <p:extLst>
      <p:ext uri="{BB962C8B-B14F-4D97-AF65-F5344CB8AC3E}">
        <p14:creationId xmlns:p14="http://schemas.microsoft.com/office/powerpoint/2010/main" val="101993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18" Type="http://schemas.openxmlformats.org/officeDocument/2006/relationships/image" Target="../media/image25.svg"/><Relationship Id="rId3" Type="http://schemas.openxmlformats.org/officeDocument/2006/relationships/image" Target="../media/image10.pn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23.png"/><Relationship Id="rId20" Type="http://schemas.openxmlformats.org/officeDocument/2006/relationships/image" Target="../media/image27.sv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png"/><Relationship Id="rId15" Type="http://schemas.openxmlformats.org/officeDocument/2006/relationships/image" Target="../media/image22.sv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svg"/><Relationship Id="rId9" Type="http://schemas.openxmlformats.org/officeDocument/2006/relationships/image" Target="../media/image16.svg"/><Relationship Id="rId1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18" Type="http://schemas.openxmlformats.org/officeDocument/2006/relationships/image" Target="../media/image43.svg"/><Relationship Id="rId26" Type="http://schemas.openxmlformats.org/officeDocument/2006/relationships/image" Target="../media/image51.sv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sv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image" Target="../media/image1.png"/><Relationship Id="rId16" Type="http://schemas.openxmlformats.org/officeDocument/2006/relationships/image" Target="../media/image41.svg"/><Relationship Id="rId20" Type="http://schemas.openxmlformats.org/officeDocument/2006/relationships/image" Target="../media/image45.svg"/><Relationship Id="rId1" Type="http://schemas.openxmlformats.org/officeDocument/2006/relationships/slideLayout" Target="../slideLayouts/slideLayout7.xml"/><Relationship Id="rId6" Type="http://schemas.openxmlformats.org/officeDocument/2006/relationships/image" Target="../media/image31.svg"/><Relationship Id="rId11" Type="http://schemas.openxmlformats.org/officeDocument/2006/relationships/image" Target="../media/image36.png"/><Relationship Id="rId24" Type="http://schemas.openxmlformats.org/officeDocument/2006/relationships/image" Target="../media/image49.sv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svg"/><Relationship Id="rId10" Type="http://schemas.openxmlformats.org/officeDocument/2006/relationships/image" Target="../media/image35.svg"/><Relationship Id="rId19" Type="http://schemas.openxmlformats.org/officeDocument/2006/relationships/image" Target="../media/image44.png"/><Relationship Id="rId4" Type="http://schemas.openxmlformats.org/officeDocument/2006/relationships/image" Target="../media/image29.svg"/><Relationship Id="rId9" Type="http://schemas.openxmlformats.org/officeDocument/2006/relationships/image" Target="../media/image34.png"/><Relationship Id="rId14" Type="http://schemas.openxmlformats.org/officeDocument/2006/relationships/image" Target="../media/image39.svg"/><Relationship Id="rId22" Type="http://schemas.openxmlformats.org/officeDocument/2006/relationships/image" Target="../media/image47.svg"/><Relationship Id="rId27" Type="http://schemas.openxmlformats.org/officeDocument/2006/relationships/image" Target="../media/image52.png"/></Relationships>
</file>

<file path=ppt/slides/_rels/slide13.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35.svg"/><Relationship Id="rId3" Type="http://schemas.openxmlformats.org/officeDocument/2006/relationships/image" Target="../media/image1.png"/><Relationship Id="rId7" Type="http://schemas.openxmlformats.org/officeDocument/2006/relationships/image" Target="../media/image31.svg"/><Relationship Id="rId12"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3.svg"/><Relationship Id="rId5" Type="http://schemas.openxmlformats.org/officeDocument/2006/relationships/image" Target="../media/image29.svg"/><Relationship Id="rId10" Type="http://schemas.openxmlformats.org/officeDocument/2006/relationships/image" Target="../media/image32.png"/><Relationship Id="rId4" Type="http://schemas.openxmlformats.org/officeDocument/2006/relationships/image" Target="../media/image28.png"/><Relationship Id="rId9" Type="http://schemas.openxmlformats.org/officeDocument/2006/relationships/image" Target="../media/image55.sv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vi-VN" noProof="0" dirty="0"/>
          </a:p>
        </p:txBody>
      </p:sp>
      <p:sp>
        <p:nvSpPr>
          <p:cNvPr id="3" name="TextBox 3"/>
          <p:cNvSpPr txBox="1"/>
          <p:nvPr/>
        </p:nvSpPr>
        <p:spPr>
          <a:xfrm>
            <a:off x="3565323" y="2367512"/>
            <a:ext cx="11285940" cy="1102866"/>
          </a:xfrm>
          <a:prstGeom prst="rect">
            <a:avLst/>
          </a:prstGeom>
        </p:spPr>
        <p:txBody>
          <a:bodyPr wrap="square" lIns="0" tIns="0" rIns="0" bIns="0" rtlCol="0" anchor="t">
            <a:spAutoFit/>
          </a:bodyPr>
          <a:lstStyle/>
          <a:p>
            <a:pPr algn="l">
              <a:lnSpc>
                <a:spcPts val="8640"/>
              </a:lnSpc>
            </a:pPr>
            <a:r>
              <a:rPr lang="vi-VN" sz="7200" b="1" noProof="0" dirty="0">
                <a:solidFill>
                  <a:srgbClr val="16458C"/>
                </a:solidFill>
                <a:latin typeface="Cambria" panose="02040503050406030204" pitchFamily="18" charset="0"/>
                <a:ea typeface="Cambria" panose="02040503050406030204" pitchFamily="18" charset="0"/>
                <a:cs typeface="Cambria Bold"/>
                <a:sym typeface="Cambria Bold"/>
              </a:rPr>
              <a:t>Báo cáo đồ án tốt nghiệp</a:t>
            </a:r>
          </a:p>
        </p:txBody>
      </p:sp>
      <p:sp>
        <p:nvSpPr>
          <p:cNvPr id="4" name="TextBox 4"/>
          <p:cNvSpPr txBox="1"/>
          <p:nvPr/>
        </p:nvSpPr>
        <p:spPr>
          <a:xfrm>
            <a:off x="1371600" y="3879533"/>
            <a:ext cx="15886993" cy="724365"/>
          </a:xfrm>
          <a:prstGeom prst="rect">
            <a:avLst/>
          </a:prstGeom>
        </p:spPr>
        <p:txBody>
          <a:bodyPr wrap="square" lIns="0" tIns="0" rIns="0" bIns="0" rtlCol="0" anchor="t">
            <a:spAutoFit/>
          </a:bodyPr>
          <a:lstStyle/>
          <a:p>
            <a:pPr algn="ctr">
              <a:lnSpc>
                <a:spcPts val="5759"/>
              </a:lnSpc>
            </a:pPr>
            <a:r>
              <a:rPr lang="vi-VN" sz="4800" b="1" noProof="0" dirty="0">
                <a:solidFill>
                  <a:srgbClr val="FCB618"/>
                </a:solidFill>
                <a:latin typeface="Cambria" panose="02040503050406030204" pitchFamily="18" charset="0"/>
                <a:ea typeface="Cambria" panose="02040503050406030204" pitchFamily="18" charset="0"/>
                <a:cs typeface="Cambria Bold"/>
                <a:sym typeface="Cambria Bold"/>
              </a:rPr>
              <a:t>Xây dựng website bán đồ công nghệ tích hợp chatbot AI</a:t>
            </a:r>
          </a:p>
        </p:txBody>
      </p:sp>
      <p:graphicFrame>
        <p:nvGraphicFramePr>
          <p:cNvPr id="5" name="Table 5"/>
          <p:cNvGraphicFramePr>
            <a:graphicFrameLocks noGrp="1"/>
          </p:cNvGraphicFramePr>
          <p:nvPr>
            <p:extLst>
              <p:ext uri="{D42A27DB-BD31-4B8C-83A1-F6EECF244321}">
                <p14:modId xmlns:p14="http://schemas.microsoft.com/office/powerpoint/2010/main" val="342089760"/>
              </p:ext>
            </p:extLst>
          </p:nvPr>
        </p:nvGraphicFramePr>
        <p:xfrm>
          <a:off x="5188434" y="6105498"/>
          <a:ext cx="7905750" cy="2560320"/>
        </p:xfrm>
        <a:graphic>
          <a:graphicData uri="http://schemas.openxmlformats.org/drawingml/2006/table">
            <a:tbl>
              <a:tblPr/>
              <a:tblGrid>
                <a:gridCol w="4035673">
                  <a:extLst>
                    <a:ext uri="{9D8B030D-6E8A-4147-A177-3AD203B41FA5}">
                      <a16:colId xmlns:a16="http://schemas.microsoft.com/office/drawing/2014/main" val="20000"/>
                    </a:ext>
                  </a:extLst>
                </a:gridCol>
                <a:gridCol w="3870077">
                  <a:extLst>
                    <a:ext uri="{9D8B030D-6E8A-4147-A177-3AD203B41FA5}">
                      <a16:colId xmlns:a16="http://schemas.microsoft.com/office/drawing/2014/main" val="20001"/>
                    </a:ext>
                  </a:extLst>
                </a:gridCol>
              </a:tblGrid>
              <a:tr h="552450">
                <a:tc>
                  <a:txBody>
                    <a:bodyPr/>
                    <a:lstStyle/>
                    <a:p>
                      <a:pPr algn="l">
                        <a:lnSpc>
                          <a:spcPts val="3600"/>
                        </a:lnSpc>
                        <a:defRPr/>
                      </a:pPr>
                      <a:r>
                        <a:rPr lang="vi-VN" sz="3000" noProof="0" dirty="0">
                          <a:solidFill>
                            <a:srgbClr val="000000"/>
                          </a:solidFill>
                          <a:latin typeface="Cambria" panose="02040503050406030204" pitchFamily="18" charset="0"/>
                          <a:ea typeface="Cambria" panose="02040503050406030204" pitchFamily="18" charset="0"/>
                          <a:cs typeface="Aptos"/>
                          <a:sym typeface="Aptos"/>
                        </a:rPr>
                        <a:t>Giảng viên hướng dẫn</a:t>
                      </a:r>
                      <a:endParaRPr lang="vi-VN" sz="1100" noProof="0" dirty="0">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rgbClr val="000000"/>
                          </a:solidFill>
                          <a:latin typeface="Cambria" panose="02040503050406030204" pitchFamily="18" charset="0"/>
                          <a:ea typeface="Cambria" panose="02040503050406030204" pitchFamily="18" charset="0"/>
                          <a:cs typeface="Aptos"/>
                          <a:sym typeface="Aptos"/>
                        </a:rPr>
                        <a:t>: ThS. Chu Thị Quyên</a:t>
                      </a:r>
                      <a:endParaRPr lang="vi-VN" sz="1100" noProof="0" dirty="0">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52450">
                <a:tc>
                  <a:txBody>
                    <a:bodyPr/>
                    <a:lstStyle/>
                    <a:p>
                      <a:pPr algn="l">
                        <a:lnSpc>
                          <a:spcPts val="3600"/>
                        </a:lnSpc>
                        <a:defRPr/>
                      </a:pPr>
                      <a:r>
                        <a:rPr lang="vi-VN" sz="3000" noProof="0" dirty="0">
                          <a:solidFill>
                            <a:srgbClr val="000000"/>
                          </a:solidFill>
                          <a:latin typeface="Cambria" panose="02040503050406030204" pitchFamily="18" charset="0"/>
                          <a:ea typeface="Cambria" panose="02040503050406030204" pitchFamily="18" charset="0"/>
                          <a:cs typeface="Aptos"/>
                          <a:sym typeface="Aptos"/>
                        </a:rPr>
                        <a:t>Sinh viên</a:t>
                      </a:r>
                      <a:endParaRPr lang="vi-VN" sz="1100" noProof="0" dirty="0">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rgbClr val="000000"/>
                          </a:solidFill>
                          <a:latin typeface="Cambria" panose="02040503050406030204" pitchFamily="18" charset="0"/>
                          <a:ea typeface="Cambria" panose="02040503050406030204" pitchFamily="18" charset="0"/>
                          <a:cs typeface="Aptos"/>
                          <a:sym typeface="Aptos"/>
                        </a:rPr>
                        <a:t>: Vũ Thị Thái Hà </a:t>
                      </a:r>
                      <a:endParaRPr lang="vi-VN" sz="1100" noProof="0" dirty="0">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2450">
                <a:tc>
                  <a:txBody>
                    <a:bodyPr/>
                    <a:lstStyle/>
                    <a:p>
                      <a:pPr algn="l">
                        <a:lnSpc>
                          <a:spcPts val="3600"/>
                        </a:lnSpc>
                        <a:defRPr/>
                      </a:pPr>
                      <a:r>
                        <a:rPr lang="vi-VN" sz="3000" noProof="0" dirty="0">
                          <a:solidFill>
                            <a:srgbClr val="000000"/>
                          </a:solidFill>
                          <a:latin typeface="Cambria" panose="02040503050406030204" pitchFamily="18" charset="0"/>
                          <a:ea typeface="Cambria" panose="02040503050406030204" pitchFamily="18" charset="0"/>
                          <a:cs typeface="Aptos"/>
                          <a:sym typeface="Aptos"/>
                        </a:rPr>
                        <a:t>Lớp chuyên ngành</a:t>
                      </a:r>
                      <a:endParaRPr lang="vi-VN" sz="1100" noProof="0" dirty="0">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rgbClr val="000000"/>
                          </a:solidFill>
                          <a:latin typeface="Cambria" panose="02040503050406030204" pitchFamily="18" charset="0"/>
                          <a:ea typeface="Cambria" panose="02040503050406030204" pitchFamily="18" charset="0"/>
                          <a:cs typeface="Aptos"/>
                          <a:sym typeface="Aptos"/>
                        </a:rPr>
                        <a:t>: KHMT02</a:t>
                      </a:r>
                      <a:endParaRPr lang="vi-VN" sz="1100" noProof="0" dirty="0">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2450">
                <a:tc>
                  <a:txBody>
                    <a:bodyPr/>
                    <a:lstStyle/>
                    <a:p>
                      <a:pPr algn="l">
                        <a:lnSpc>
                          <a:spcPts val="3600"/>
                        </a:lnSpc>
                        <a:defRPr/>
                      </a:pPr>
                      <a:r>
                        <a:rPr lang="vi-VN" sz="3000" noProof="0" dirty="0">
                          <a:solidFill>
                            <a:srgbClr val="000000"/>
                          </a:solidFill>
                          <a:latin typeface="Cambria" panose="02040503050406030204" pitchFamily="18" charset="0"/>
                          <a:ea typeface="Cambria" panose="02040503050406030204" pitchFamily="18" charset="0"/>
                          <a:cs typeface="Aptos"/>
                          <a:sym typeface="Aptos"/>
                        </a:rPr>
                        <a:t>Khóa</a:t>
                      </a:r>
                      <a:endParaRPr lang="vi-VN" sz="1100" noProof="0" dirty="0">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rgbClr val="000000"/>
                          </a:solidFill>
                          <a:latin typeface="Cambria" panose="02040503050406030204" pitchFamily="18" charset="0"/>
                          <a:ea typeface="Cambria" panose="02040503050406030204" pitchFamily="18" charset="0"/>
                          <a:cs typeface="Aptos"/>
                          <a:sym typeface="Aptos"/>
                        </a:rPr>
                        <a:t>: 17</a:t>
                      </a:r>
                      <a:endParaRPr lang="vi-VN" sz="1100" noProof="0" dirty="0">
                        <a:latin typeface="Cambria" panose="02040503050406030204" pitchFamily="18" charset="0"/>
                        <a:ea typeface="Cambria"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dirty="0">
              <a:latin typeface="Cambria" panose="02040503050406030204" pitchFamily="18" charset="0"/>
              <a:ea typeface="Cambria" panose="02040503050406030204" pitchFamily="18" charset="0"/>
            </a:endParaRPr>
          </a:p>
        </p:txBody>
      </p:sp>
      <p:sp>
        <p:nvSpPr>
          <p:cNvPr id="3" name="TextBox 3"/>
          <p:cNvSpPr txBox="1"/>
          <p:nvPr/>
        </p:nvSpPr>
        <p:spPr>
          <a:xfrm>
            <a:off x="1417756" y="2715440"/>
            <a:ext cx="4018499" cy="1013098"/>
          </a:xfrm>
          <a:prstGeom prst="rect">
            <a:avLst/>
          </a:prstGeom>
        </p:spPr>
        <p:txBody>
          <a:bodyPr wrap="square" lIns="0" tIns="0" rIns="0" bIns="0" rtlCol="0" anchor="t">
            <a:spAutoFit/>
          </a:bodyPr>
          <a:lstStyle/>
          <a:p>
            <a:pPr algn="l">
              <a:lnSpc>
                <a:spcPts val="7920"/>
              </a:lnSpc>
            </a:pP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Nội</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dung</a:t>
            </a:r>
          </a:p>
        </p:txBody>
      </p:sp>
      <p:sp>
        <p:nvSpPr>
          <p:cNvPr id="4" name="AutoShape 4"/>
          <p:cNvSpPr/>
          <p:nvPr/>
        </p:nvSpPr>
        <p:spPr>
          <a:xfrm rot="5356107">
            <a:off x="2633890" y="5608210"/>
            <a:ext cx="6714310" cy="0"/>
          </a:xfrm>
          <a:prstGeom prst="line">
            <a:avLst/>
          </a:prstGeom>
          <a:ln w="47625" cap="rnd">
            <a:solidFill>
              <a:srgbClr val="FCB618"/>
            </a:solidFill>
            <a:prstDash val="solid"/>
            <a:headEnd type="none" w="sm" len="sm"/>
            <a:tailEnd type="none" w="sm" len="sm"/>
          </a:ln>
        </p:spPr>
      </p:sp>
      <p:sp>
        <p:nvSpPr>
          <p:cNvPr id="9" name="AutoShape 9"/>
          <p:cNvSpPr/>
          <p:nvPr/>
        </p:nvSpPr>
        <p:spPr>
          <a:xfrm>
            <a:off x="1451670" y="3816657"/>
            <a:ext cx="3201646" cy="12846"/>
          </a:xfrm>
          <a:prstGeom prst="line">
            <a:avLst/>
          </a:prstGeom>
          <a:ln w="47625" cap="rnd">
            <a:solidFill>
              <a:srgbClr val="FCB618"/>
            </a:solidFill>
            <a:prstDash val="solid"/>
            <a:headEnd type="none" w="sm" len="sm"/>
            <a:tailEnd type="none" w="sm" len="sm"/>
          </a:ln>
        </p:spPr>
      </p:sp>
      <p:sp>
        <p:nvSpPr>
          <p:cNvPr id="22" name="TextBox 22"/>
          <p:cNvSpPr txBox="1"/>
          <p:nvPr/>
        </p:nvSpPr>
        <p:spPr>
          <a:xfrm>
            <a:off x="6768285" y="2349437"/>
            <a:ext cx="7438557" cy="782650"/>
          </a:xfrm>
          <a:prstGeom prst="rect">
            <a:avLst/>
          </a:prstGeom>
        </p:spPr>
        <p:txBody>
          <a:bodyPr lIns="0" tIns="0" rIns="0" bIns="0" rtlCol="0" anchor="t">
            <a:spAutoFit/>
          </a:bodyPr>
          <a:lstStyle/>
          <a:p>
            <a:pPr algn="l">
              <a:lnSpc>
                <a:spcPts val="6480"/>
              </a:lnSpc>
            </a:pPr>
            <a:r>
              <a:rPr lang="en-US" sz="5400" dirty="0" err="1">
                <a:solidFill>
                  <a:srgbClr val="16458C"/>
                </a:solidFill>
                <a:latin typeface="Cambria" panose="02040503050406030204" pitchFamily="18" charset="0"/>
                <a:ea typeface="Cambria" panose="02040503050406030204" pitchFamily="18" charset="0"/>
                <a:cs typeface="Cambria"/>
                <a:sym typeface="Cambria"/>
              </a:rPr>
              <a:t>Tổng</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quan</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đề</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tài</a:t>
            </a:r>
            <a:endParaRPr lang="en-US" sz="5400" dirty="0">
              <a:solidFill>
                <a:srgbClr val="16458C"/>
              </a:solidFill>
              <a:latin typeface="Cambria" panose="02040503050406030204" pitchFamily="18" charset="0"/>
              <a:ea typeface="Cambria" panose="02040503050406030204" pitchFamily="18" charset="0"/>
              <a:cs typeface="Cambria"/>
              <a:sym typeface="Cambria"/>
            </a:endParaRPr>
          </a:p>
        </p:txBody>
      </p:sp>
      <p:sp>
        <p:nvSpPr>
          <p:cNvPr id="23" name="TextBox 23"/>
          <p:cNvSpPr txBox="1"/>
          <p:nvPr/>
        </p:nvSpPr>
        <p:spPr>
          <a:xfrm>
            <a:off x="6768285" y="3709745"/>
            <a:ext cx="8797211" cy="782650"/>
          </a:xfrm>
          <a:prstGeom prst="rect">
            <a:avLst/>
          </a:prstGeom>
        </p:spPr>
        <p:txBody>
          <a:bodyPr lIns="0" tIns="0" rIns="0" bIns="0" rtlCol="0" anchor="t">
            <a:spAutoFit/>
          </a:bodyPr>
          <a:lstStyle/>
          <a:p>
            <a:pPr algn="l">
              <a:lnSpc>
                <a:spcPts val="6480"/>
              </a:lnSpc>
            </a:pPr>
            <a:r>
              <a:rPr lang="en-US" sz="5400" dirty="0" err="1">
                <a:solidFill>
                  <a:srgbClr val="16458C"/>
                </a:solidFill>
                <a:latin typeface="Cambria" panose="02040503050406030204" pitchFamily="18" charset="0"/>
                <a:ea typeface="Cambria" panose="02040503050406030204" pitchFamily="18" charset="0"/>
                <a:cs typeface="Cambria"/>
                <a:sym typeface="Cambria"/>
              </a:rPr>
              <a:t>Phân</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tích</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thiết</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kế</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hệ</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thống</a:t>
            </a:r>
            <a:endParaRPr lang="en-US" sz="5400" dirty="0">
              <a:solidFill>
                <a:srgbClr val="16458C"/>
              </a:solidFill>
              <a:latin typeface="Cambria" panose="02040503050406030204" pitchFamily="18" charset="0"/>
              <a:ea typeface="Cambria" panose="02040503050406030204" pitchFamily="18" charset="0"/>
              <a:cs typeface="Cambria"/>
              <a:sym typeface="Cambria"/>
            </a:endParaRPr>
          </a:p>
        </p:txBody>
      </p:sp>
      <p:sp>
        <p:nvSpPr>
          <p:cNvPr id="24" name="TextBox 24"/>
          <p:cNvSpPr txBox="1"/>
          <p:nvPr/>
        </p:nvSpPr>
        <p:spPr>
          <a:xfrm>
            <a:off x="6768285" y="5070053"/>
            <a:ext cx="7438557" cy="782650"/>
          </a:xfrm>
          <a:prstGeom prst="rect">
            <a:avLst/>
          </a:prstGeom>
        </p:spPr>
        <p:txBody>
          <a:bodyPr lIns="0" tIns="0" rIns="0" bIns="0" rtlCol="0" anchor="t">
            <a:spAutoFit/>
          </a:bodyPr>
          <a:lstStyle/>
          <a:p>
            <a:pPr algn="l">
              <a:lnSpc>
                <a:spcPts val="6480"/>
              </a:lnSpc>
            </a:pPr>
            <a:r>
              <a:rPr lang="en-US" sz="5400" dirty="0">
                <a:solidFill>
                  <a:srgbClr val="16458C"/>
                </a:solidFill>
                <a:latin typeface="Cambria" panose="02040503050406030204" pitchFamily="18" charset="0"/>
                <a:ea typeface="Cambria" panose="02040503050406030204" pitchFamily="18" charset="0"/>
                <a:cs typeface="Cambria"/>
                <a:sym typeface="Cambria"/>
              </a:rPr>
              <a:t>Quy </a:t>
            </a:r>
            <a:r>
              <a:rPr lang="en-US" sz="5400" dirty="0" err="1">
                <a:solidFill>
                  <a:srgbClr val="16458C"/>
                </a:solidFill>
                <a:latin typeface="Cambria" panose="02040503050406030204" pitchFamily="18" charset="0"/>
                <a:ea typeface="Cambria" panose="02040503050406030204" pitchFamily="18" charset="0"/>
                <a:cs typeface="Cambria"/>
                <a:sym typeface="Cambria"/>
              </a:rPr>
              <a:t>trình</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mua</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hàng</a:t>
            </a:r>
            <a:endParaRPr lang="en-US" sz="5400" dirty="0">
              <a:solidFill>
                <a:srgbClr val="16458C"/>
              </a:solidFill>
              <a:latin typeface="Cambria" panose="02040503050406030204" pitchFamily="18" charset="0"/>
              <a:ea typeface="Cambria" panose="02040503050406030204" pitchFamily="18" charset="0"/>
              <a:cs typeface="Cambria"/>
              <a:sym typeface="Cambria"/>
            </a:endParaRPr>
          </a:p>
        </p:txBody>
      </p:sp>
      <p:sp>
        <p:nvSpPr>
          <p:cNvPr id="25" name="TextBox 25"/>
          <p:cNvSpPr txBox="1"/>
          <p:nvPr/>
        </p:nvSpPr>
        <p:spPr>
          <a:xfrm>
            <a:off x="6768285" y="6430360"/>
            <a:ext cx="9340676" cy="782650"/>
          </a:xfrm>
          <a:prstGeom prst="rect">
            <a:avLst/>
          </a:prstGeom>
        </p:spPr>
        <p:txBody>
          <a:bodyPr lIns="0" tIns="0" rIns="0" bIns="0" rtlCol="0" anchor="t">
            <a:spAutoFit/>
          </a:bodyPr>
          <a:lstStyle/>
          <a:p>
            <a:pPr algn="l">
              <a:lnSpc>
                <a:spcPts val="6480"/>
              </a:lnSpc>
            </a:pPr>
            <a:r>
              <a:rPr lang="en-US" sz="5400" dirty="0" err="1">
                <a:solidFill>
                  <a:srgbClr val="16458C"/>
                </a:solidFill>
                <a:latin typeface="Cambria" panose="02040503050406030204" pitchFamily="18" charset="0"/>
                <a:ea typeface="Cambria" panose="02040503050406030204" pitchFamily="18" charset="0"/>
                <a:cs typeface="Cambria"/>
                <a:sym typeface="Cambria"/>
              </a:rPr>
              <a:t>Kết</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quả</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đạt</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được</a:t>
            </a:r>
            <a:r>
              <a:rPr lang="en-US" sz="5400" dirty="0">
                <a:solidFill>
                  <a:srgbClr val="16458C"/>
                </a:solidFill>
                <a:latin typeface="Cambria" panose="02040503050406030204" pitchFamily="18" charset="0"/>
                <a:ea typeface="Cambria" panose="02040503050406030204" pitchFamily="18" charset="0"/>
                <a:cs typeface="Cambria"/>
                <a:sym typeface="Cambria"/>
              </a:rPr>
              <a:t> </a:t>
            </a:r>
          </a:p>
        </p:txBody>
      </p:sp>
      <p:sp>
        <p:nvSpPr>
          <p:cNvPr id="30" name="TextBox 30"/>
          <p:cNvSpPr txBox="1"/>
          <p:nvPr/>
        </p:nvSpPr>
        <p:spPr>
          <a:xfrm>
            <a:off x="6768285" y="7790669"/>
            <a:ext cx="8961120" cy="782650"/>
          </a:xfrm>
          <a:prstGeom prst="rect">
            <a:avLst/>
          </a:prstGeom>
        </p:spPr>
        <p:txBody>
          <a:bodyPr lIns="0" tIns="0" rIns="0" bIns="0" rtlCol="0" anchor="t">
            <a:spAutoFit/>
          </a:bodyPr>
          <a:lstStyle/>
          <a:p>
            <a:pPr algn="l">
              <a:lnSpc>
                <a:spcPts val="6480"/>
              </a:lnSpc>
            </a:pPr>
            <a:r>
              <a:rPr lang="en-US" sz="5400" dirty="0">
                <a:solidFill>
                  <a:srgbClr val="16458C"/>
                </a:solidFill>
                <a:latin typeface="Cambria" panose="02040503050406030204" pitchFamily="18" charset="0"/>
                <a:ea typeface="Cambria" panose="02040503050406030204" pitchFamily="18" charset="0"/>
                <a:cs typeface="Cambria"/>
                <a:sym typeface="Cambria"/>
              </a:rPr>
              <a:t>Demo </a:t>
            </a:r>
            <a:r>
              <a:rPr lang="en-US" sz="5400" dirty="0" err="1">
                <a:solidFill>
                  <a:srgbClr val="16458C"/>
                </a:solidFill>
                <a:latin typeface="Cambria" panose="02040503050406030204" pitchFamily="18" charset="0"/>
                <a:ea typeface="Cambria" panose="02040503050406030204" pitchFamily="18" charset="0"/>
                <a:cs typeface="Cambria"/>
                <a:sym typeface="Cambria"/>
              </a:rPr>
              <a:t>sản</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phẩm</a:t>
            </a:r>
            <a:endParaRPr lang="en-US" sz="5400" dirty="0">
              <a:solidFill>
                <a:srgbClr val="16458C"/>
              </a:solidFill>
              <a:latin typeface="Cambria" panose="02040503050406030204" pitchFamily="18" charset="0"/>
              <a:ea typeface="Cambria" panose="02040503050406030204" pitchFamily="18" charset="0"/>
              <a:cs typeface="Cambria"/>
              <a:sym typeface="Cambria"/>
            </a:endParaRPr>
          </a:p>
        </p:txBody>
      </p:sp>
      <p:sp>
        <p:nvSpPr>
          <p:cNvPr id="41" name="Oval 40">
            <a:extLst>
              <a:ext uri="{FF2B5EF4-FFF2-40B4-BE49-F238E27FC236}">
                <a16:creationId xmlns:a16="http://schemas.microsoft.com/office/drawing/2014/main" id="{9A0D1426-C28A-B67A-30AA-CFC8992764CB}"/>
              </a:ext>
            </a:extLst>
          </p:cNvPr>
          <p:cNvSpPr/>
          <p:nvPr/>
        </p:nvSpPr>
        <p:spPr>
          <a:xfrm>
            <a:off x="5692218" y="2545695"/>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Cambria" panose="02040503050406030204" pitchFamily="18" charset="0"/>
                <a:ea typeface="Cambria" panose="02040503050406030204" pitchFamily="18" charset="0"/>
              </a:rPr>
              <a:t>1</a:t>
            </a:r>
          </a:p>
        </p:txBody>
      </p:sp>
      <p:sp>
        <p:nvSpPr>
          <p:cNvPr id="43" name="Oval 42">
            <a:extLst>
              <a:ext uri="{FF2B5EF4-FFF2-40B4-BE49-F238E27FC236}">
                <a16:creationId xmlns:a16="http://schemas.microsoft.com/office/drawing/2014/main" id="{1F853B29-E9A4-A88C-DB47-4FDF08D4A47E}"/>
              </a:ext>
            </a:extLst>
          </p:cNvPr>
          <p:cNvSpPr/>
          <p:nvPr/>
        </p:nvSpPr>
        <p:spPr>
          <a:xfrm>
            <a:off x="5735081" y="3829503"/>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Cambria" panose="02040503050406030204" pitchFamily="18" charset="0"/>
                <a:ea typeface="Cambria" panose="02040503050406030204" pitchFamily="18" charset="0"/>
              </a:rPr>
              <a:t>2</a:t>
            </a:r>
          </a:p>
        </p:txBody>
      </p:sp>
      <p:sp>
        <p:nvSpPr>
          <p:cNvPr id="44" name="Oval 43">
            <a:extLst>
              <a:ext uri="{FF2B5EF4-FFF2-40B4-BE49-F238E27FC236}">
                <a16:creationId xmlns:a16="http://schemas.microsoft.com/office/drawing/2014/main" id="{7ECCB37E-70AA-F024-37BB-02DC841FFCE5}"/>
              </a:ext>
            </a:extLst>
          </p:cNvPr>
          <p:cNvSpPr/>
          <p:nvPr/>
        </p:nvSpPr>
        <p:spPr>
          <a:xfrm>
            <a:off x="5754901" y="5318232"/>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Cambria" panose="02040503050406030204" pitchFamily="18" charset="0"/>
                <a:ea typeface="Cambria" panose="02040503050406030204" pitchFamily="18" charset="0"/>
              </a:rPr>
              <a:t>3</a:t>
            </a:r>
          </a:p>
        </p:txBody>
      </p:sp>
      <p:sp>
        <p:nvSpPr>
          <p:cNvPr id="45" name="Oval 44">
            <a:extLst>
              <a:ext uri="{FF2B5EF4-FFF2-40B4-BE49-F238E27FC236}">
                <a16:creationId xmlns:a16="http://schemas.microsoft.com/office/drawing/2014/main" id="{9115C874-227D-F9A7-CCCD-3F3D37A3C3A6}"/>
              </a:ext>
            </a:extLst>
          </p:cNvPr>
          <p:cNvSpPr/>
          <p:nvPr/>
        </p:nvSpPr>
        <p:spPr>
          <a:xfrm>
            <a:off x="5777944" y="6611071"/>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Cambria" panose="02040503050406030204" pitchFamily="18" charset="0"/>
                <a:ea typeface="Cambria" panose="02040503050406030204" pitchFamily="18" charset="0"/>
              </a:rPr>
              <a:t>4</a:t>
            </a:r>
          </a:p>
        </p:txBody>
      </p:sp>
      <p:sp>
        <p:nvSpPr>
          <p:cNvPr id="46" name="Oval 45">
            <a:extLst>
              <a:ext uri="{FF2B5EF4-FFF2-40B4-BE49-F238E27FC236}">
                <a16:creationId xmlns:a16="http://schemas.microsoft.com/office/drawing/2014/main" id="{EA274401-6606-7BA6-81BD-C6C537DAA1D3}"/>
              </a:ext>
            </a:extLst>
          </p:cNvPr>
          <p:cNvSpPr/>
          <p:nvPr/>
        </p:nvSpPr>
        <p:spPr>
          <a:xfrm>
            <a:off x="5754902" y="7971380"/>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Cambria" panose="02040503050406030204" pitchFamily="18" charset="0"/>
                <a:ea typeface="Cambria" panose="02040503050406030204" pitchFamily="18" charset="0"/>
              </a:rPr>
              <a:t>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627578" y="2371757"/>
            <a:ext cx="1028643" cy="1057244"/>
            <a:chOff x="0" y="0"/>
            <a:chExt cx="1371524" cy="1409658"/>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sp>
        <p:sp>
          <p:nvSpPr>
            <p:cNvPr id="5" name="TextBox 5"/>
            <p:cNvSpPr txBox="1"/>
            <p:nvPr/>
          </p:nvSpPr>
          <p:spPr>
            <a:xfrm>
              <a:off x="0" y="-19050"/>
              <a:ext cx="1371524" cy="1428708"/>
            </a:xfrm>
            <a:prstGeom prst="rect">
              <a:avLst/>
            </a:prstGeom>
            <a:ln>
              <a:solidFill>
                <a:schemeClr val="bg1"/>
              </a:solidFill>
            </a:ln>
          </p:spPr>
          <p:txBody>
            <a:bodyPr lIns="50800" tIns="50800" rIns="50800" bIns="50800" rtlCol="0" anchor="ctr"/>
            <a:lstStyle/>
            <a:p>
              <a:pPr algn="ctr">
                <a:lnSpc>
                  <a:spcPts val="8640"/>
                </a:lnSpc>
              </a:pPr>
              <a:r>
                <a:rPr lang="en-US" sz="7200" b="1" dirty="0">
                  <a:solidFill>
                    <a:srgbClr val="FFFFFF"/>
                  </a:solidFill>
                  <a:latin typeface="Cambria" panose="02040503050406030204" pitchFamily="18" charset="0"/>
                  <a:ea typeface="Cambria" panose="02040503050406030204" pitchFamily="18" charset="0"/>
                  <a:cs typeface="Cambria Bold"/>
                  <a:sym typeface="Cambria Bold"/>
                </a:rPr>
                <a:t>1</a:t>
              </a:r>
            </a:p>
          </p:txBody>
        </p:sp>
      </p:grpSp>
      <p:sp>
        <p:nvSpPr>
          <p:cNvPr id="6" name="TextBox 6"/>
          <p:cNvSpPr txBox="1"/>
          <p:nvPr/>
        </p:nvSpPr>
        <p:spPr>
          <a:xfrm>
            <a:off x="2549969" y="2398426"/>
            <a:ext cx="7438557" cy="1102866"/>
          </a:xfrm>
          <a:prstGeom prst="rect">
            <a:avLst/>
          </a:prstGeom>
        </p:spPr>
        <p:txBody>
          <a:bodyPr lIns="0" tIns="0" rIns="0" bIns="0" rtlCol="0" anchor="t">
            <a:spAutoFit/>
          </a:bodyPr>
          <a:lstStyle/>
          <a:p>
            <a:pPr algn="l">
              <a:lnSpc>
                <a:spcPts val="8640"/>
              </a:lnSpc>
            </a:pP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Tổng</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quan</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đề</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tài</a:t>
            </a:r>
            <a:endParaRPr lang="en-US" sz="7200" b="1" dirty="0">
              <a:solidFill>
                <a:srgbClr val="16458C"/>
              </a:solidFill>
              <a:latin typeface="Cambria" panose="02040503050406030204" pitchFamily="18" charset="0"/>
              <a:ea typeface="Cambria" panose="02040503050406030204" pitchFamily="18" charset="0"/>
              <a:cs typeface="Cambria Bold"/>
              <a:sym typeface="Cambria Bold"/>
            </a:endParaRPr>
          </a:p>
        </p:txBody>
      </p:sp>
      <p:cxnSp>
        <p:nvCxnSpPr>
          <p:cNvPr id="10" name="Straight Connector 9">
            <a:extLst>
              <a:ext uri="{FF2B5EF4-FFF2-40B4-BE49-F238E27FC236}">
                <a16:creationId xmlns:a16="http://schemas.microsoft.com/office/drawing/2014/main" id="{CA672E5A-0621-C8A7-C4FD-953F9986D6D7}"/>
              </a:ext>
            </a:extLst>
          </p:cNvPr>
          <p:cNvCxnSpPr>
            <a:cxnSpLocks/>
          </p:cNvCxnSpPr>
          <p:nvPr/>
        </p:nvCxnSpPr>
        <p:spPr>
          <a:xfrm>
            <a:off x="1143000" y="3771900"/>
            <a:ext cx="0" cy="15240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F0ABDA-DCB3-11E0-6098-594D83463C49}"/>
              </a:ext>
            </a:extLst>
          </p:cNvPr>
          <p:cNvSpPr txBox="1"/>
          <p:nvPr/>
        </p:nvSpPr>
        <p:spPr>
          <a:xfrm>
            <a:off x="1656221" y="3662634"/>
            <a:ext cx="14726779" cy="1754326"/>
          </a:xfrm>
          <a:prstGeom prst="rect">
            <a:avLst/>
          </a:prstGeom>
          <a:noFill/>
        </p:spPr>
        <p:txBody>
          <a:bodyPr wrap="square" rtlCol="0">
            <a:spAutoFit/>
          </a:bodyPr>
          <a:lstStyle/>
          <a:p>
            <a:pPr algn="just"/>
            <a:r>
              <a:rPr lang="vi-VN" sz="3600" dirty="0">
                <a:latin typeface="Cambria" panose="02040503050406030204" pitchFamily="18" charset="0"/>
                <a:ea typeface="Cambria" panose="02040503050406030204" pitchFamily="18" charset="0"/>
              </a:rPr>
              <a:t>Trang web bán đồ điện tử là một nền tảng trực tuyến cho phép người dùng mua sắm thuận tiện, hỗ trợ </a:t>
            </a:r>
            <a:r>
              <a:rPr lang="en-US" sz="3600" dirty="0" err="1">
                <a:latin typeface="Cambria" panose="02040503050406030204" pitchFamily="18" charset="0"/>
                <a:ea typeface="Cambria" panose="02040503050406030204" pitchFamily="18" charset="0"/>
              </a:rPr>
              <a:t>tư</a:t>
            </a:r>
            <a:r>
              <a:rPr lang="en-US" sz="3600" dirty="0">
                <a:latin typeface="Cambria" panose="02040503050406030204" pitchFamily="18" charset="0"/>
                <a:ea typeface="Cambria" panose="02040503050406030204" pitchFamily="18" charset="0"/>
              </a:rPr>
              <a:t> </a:t>
            </a:r>
            <a:r>
              <a:rPr lang="en-US" sz="3600" dirty="0" err="1">
                <a:latin typeface="Cambria" panose="02040503050406030204" pitchFamily="18" charset="0"/>
                <a:ea typeface="Cambria" panose="02040503050406030204" pitchFamily="18" charset="0"/>
              </a:rPr>
              <a:t>vấn</a:t>
            </a:r>
            <a:r>
              <a:rPr lang="en-US" sz="3600" dirty="0">
                <a:latin typeface="Cambria" panose="02040503050406030204" pitchFamily="18" charset="0"/>
                <a:ea typeface="Cambria" panose="02040503050406030204" pitchFamily="18" charset="0"/>
              </a:rPr>
              <a:t> </a:t>
            </a:r>
            <a:r>
              <a:rPr lang="en-US" sz="3600" dirty="0" err="1">
                <a:latin typeface="Cambria" panose="02040503050406030204" pitchFamily="18" charset="0"/>
                <a:ea typeface="Cambria" panose="02040503050406030204" pitchFamily="18" charset="0"/>
              </a:rPr>
              <a:t>sản</a:t>
            </a:r>
            <a:r>
              <a:rPr lang="en-US" sz="3600" dirty="0">
                <a:latin typeface="Cambria" panose="02040503050406030204" pitchFamily="18" charset="0"/>
                <a:ea typeface="Cambria" panose="02040503050406030204" pitchFamily="18" charset="0"/>
              </a:rPr>
              <a:t> </a:t>
            </a:r>
            <a:r>
              <a:rPr lang="en-US" sz="3600" dirty="0" err="1">
                <a:latin typeface="Cambria" panose="02040503050406030204" pitchFamily="18" charset="0"/>
                <a:ea typeface="Cambria" panose="02040503050406030204" pitchFamily="18" charset="0"/>
              </a:rPr>
              <a:t>phẩm</a:t>
            </a:r>
            <a:r>
              <a:rPr lang="vi-VN" sz="3600" dirty="0">
                <a:latin typeface="Cambria" panose="02040503050406030204" pitchFamily="18" charset="0"/>
                <a:ea typeface="Cambria" panose="02040503050406030204" pitchFamily="18" charset="0"/>
              </a:rPr>
              <a:t>, xem thông tin chi tiết, đặt hàng và theo dõi giao hàng</a:t>
            </a:r>
            <a:r>
              <a:rPr lang="en-US" sz="3600" dirty="0">
                <a:latin typeface="Cambria" panose="02040503050406030204" pitchFamily="18" charset="0"/>
                <a:ea typeface="Cambria" panose="02040503050406030204" pitchFamily="18" charset="0"/>
              </a:rPr>
              <a:t>.</a:t>
            </a:r>
          </a:p>
        </p:txBody>
      </p:sp>
      <p:sp>
        <p:nvSpPr>
          <p:cNvPr id="12" name="TextBox 11">
            <a:extLst>
              <a:ext uri="{FF2B5EF4-FFF2-40B4-BE49-F238E27FC236}">
                <a16:creationId xmlns:a16="http://schemas.microsoft.com/office/drawing/2014/main" id="{43B56940-6DFB-915D-144C-32FAA2F5BB54}"/>
              </a:ext>
            </a:extLst>
          </p:cNvPr>
          <p:cNvSpPr txBox="1"/>
          <p:nvPr/>
        </p:nvSpPr>
        <p:spPr>
          <a:xfrm>
            <a:off x="1685360" y="6009764"/>
            <a:ext cx="15078640" cy="1754326"/>
          </a:xfrm>
          <a:prstGeom prst="rect">
            <a:avLst/>
          </a:prstGeom>
          <a:noFill/>
        </p:spPr>
        <p:txBody>
          <a:bodyPr wrap="square" rtlCol="0">
            <a:spAutoFit/>
          </a:bodyPr>
          <a:lstStyle/>
          <a:p>
            <a:pPr algn="just"/>
            <a:r>
              <a:rPr lang="vi-VN" sz="3600" dirty="0">
                <a:latin typeface="Cambria" panose="02040503050406030204" pitchFamily="18" charset="0"/>
                <a:ea typeface="Cambria" panose="02040503050406030204" pitchFamily="18" charset="0"/>
              </a:rPr>
              <a:t>Hệ thống cung cấp giao diện thân thiện và công cụ tìm kiếm</a:t>
            </a:r>
            <a:r>
              <a:rPr lang="en-US" sz="3600" dirty="0">
                <a:latin typeface="Cambria" panose="02040503050406030204" pitchFamily="18" charset="0"/>
                <a:ea typeface="Cambria" panose="02040503050406030204" pitchFamily="18" charset="0"/>
              </a:rPr>
              <a:t>,</a:t>
            </a:r>
            <a:r>
              <a:rPr lang="vi-VN" sz="3600" dirty="0">
                <a:latin typeface="Cambria" panose="02040503050406030204" pitchFamily="18" charset="0"/>
                <a:ea typeface="Cambria" panose="02040503050406030204" pitchFamily="18" charset="0"/>
              </a:rPr>
              <a:t> </a:t>
            </a:r>
            <a:r>
              <a:rPr lang="en-US" sz="3600" dirty="0" err="1">
                <a:latin typeface="Cambria" panose="02040503050406030204" pitchFamily="18" charset="0"/>
                <a:ea typeface="Cambria" panose="02040503050406030204" pitchFamily="18" charset="0"/>
              </a:rPr>
              <a:t>xem</a:t>
            </a:r>
            <a:r>
              <a:rPr lang="en-US" sz="3600" dirty="0">
                <a:latin typeface="Cambria" panose="02040503050406030204" pitchFamily="18" charset="0"/>
                <a:ea typeface="Cambria" panose="02040503050406030204" pitchFamily="18" charset="0"/>
              </a:rPr>
              <a:t> </a:t>
            </a:r>
            <a:r>
              <a:rPr lang="en-US" sz="3600" dirty="0" err="1">
                <a:latin typeface="Cambria" panose="02040503050406030204" pitchFamily="18" charset="0"/>
                <a:ea typeface="Cambria" panose="02040503050406030204" pitchFamily="18" charset="0"/>
              </a:rPr>
              <a:t>danh</a:t>
            </a:r>
            <a:r>
              <a:rPr lang="en-US" sz="3600" dirty="0">
                <a:latin typeface="Cambria" panose="02040503050406030204" pitchFamily="18" charset="0"/>
                <a:ea typeface="Cambria" panose="02040503050406030204" pitchFamily="18" charset="0"/>
              </a:rPr>
              <a:t> </a:t>
            </a:r>
            <a:r>
              <a:rPr lang="en-US" sz="3600" dirty="0" err="1">
                <a:latin typeface="Cambria" panose="02040503050406030204" pitchFamily="18" charset="0"/>
                <a:ea typeface="Cambria" panose="02040503050406030204" pitchFamily="18" charset="0"/>
              </a:rPr>
              <a:t>mục</a:t>
            </a:r>
            <a:r>
              <a:rPr lang="vi-VN" sz="3600" dirty="0">
                <a:latin typeface="Cambria" panose="02040503050406030204" pitchFamily="18" charset="0"/>
                <a:ea typeface="Cambria" panose="02040503050406030204" pitchFamily="18" charset="0"/>
              </a:rPr>
              <a:t> sản phẩm hiệu quả, giúp người dùng nhanh chóng tìm đúng sản phẩm, từ đó hỗ trợ đưa ra quyết định mua hàng thông minh.</a:t>
            </a:r>
            <a:endParaRPr lang="en-US" sz="3600" dirty="0">
              <a:latin typeface="Cambria" panose="02040503050406030204" pitchFamily="18" charset="0"/>
              <a:ea typeface="Cambria" panose="02040503050406030204" pitchFamily="18" charset="0"/>
            </a:endParaRPr>
          </a:p>
        </p:txBody>
      </p:sp>
      <p:cxnSp>
        <p:nvCxnSpPr>
          <p:cNvPr id="14" name="Straight Connector 13">
            <a:extLst>
              <a:ext uri="{FF2B5EF4-FFF2-40B4-BE49-F238E27FC236}">
                <a16:creationId xmlns:a16="http://schemas.microsoft.com/office/drawing/2014/main" id="{04DB7F3C-BD57-9D0F-8D4F-708EC7CFC7AF}"/>
              </a:ext>
            </a:extLst>
          </p:cNvPr>
          <p:cNvCxnSpPr>
            <a:cxnSpLocks/>
          </p:cNvCxnSpPr>
          <p:nvPr/>
        </p:nvCxnSpPr>
        <p:spPr>
          <a:xfrm>
            <a:off x="1166622" y="6057900"/>
            <a:ext cx="0" cy="15240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3" name="TextBox 3"/>
          <p:cNvSpPr txBox="1"/>
          <p:nvPr/>
        </p:nvSpPr>
        <p:spPr>
          <a:xfrm>
            <a:off x="533400" y="2479725"/>
            <a:ext cx="6404525" cy="743793"/>
          </a:xfrm>
          <a:prstGeom prst="rect">
            <a:avLst/>
          </a:prstGeom>
        </p:spPr>
        <p:txBody>
          <a:bodyPr wrap="square" lIns="0" tIns="0" rIns="0" bIns="0" rtlCol="0" anchor="t">
            <a:spAutoFit/>
          </a:bodyPr>
          <a:lstStyle/>
          <a:p>
            <a:pPr algn="r">
              <a:lnSpc>
                <a:spcPts val="5759"/>
              </a:lnSpc>
            </a:pPr>
            <a:r>
              <a:rPr lang="en-US" sz="5400" b="1" dirty="0">
                <a:solidFill>
                  <a:srgbClr val="16458C"/>
                </a:solidFill>
                <a:latin typeface="Cambria" panose="02040503050406030204" pitchFamily="18" charset="0"/>
                <a:ea typeface="Cambria" panose="02040503050406030204" pitchFamily="18" charset="0"/>
                <a:cs typeface="Cambria Bold"/>
                <a:sym typeface="Cambria Bold"/>
              </a:rPr>
              <a:t>Công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nghệ</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sử</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dụng</a:t>
            </a:r>
            <a:endParaRPr lang="en-US" sz="5400" b="1" dirty="0">
              <a:solidFill>
                <a:srgbClr val="16458C"/>
              </a:solidFill>
              <a:latin typeface="Cambria" panose="02040503050406030204" pitchFamily="18" charset="0"/>
              <a:ea typeface="Cambria" panose="02040503050406030204" pitchFamily="18" charset="0"/>
              <a:cs typeface="Cambria Bold"/>
              <a:sym typeface="Cambria Bold"/>
            </a:endParaRPr>
          </a:p>
        </p:txBody>
      </p:sp>
      <p:grpSp>
        <p:nvGrpSpPr>
          <p:cNvPr id="5" name="Group 5"/>
          <p:cNvGrpSpPr/>
          <p:nvPr/>
        </p:nvGrpSpPr>
        <p:grpSpPr>
          <a:xfrm>
            <a:off x="2905755" y="3594518"/>
            <a:ext cx="4648020" cy="2307297"/>
            <a:chOff x="0" y="-19050"/>
            <a:chExt cx="6197360" cy="3076396"/>
          </a:xfrm>
        </p:grpSpPr>
        <p:sp>
          <p:nvSpPr>
            <p:cNvPr id="6" name="Freeform 6"/>
            <p:cNvSpPr/>
            <p:nvPr/>
          </p:nvSpPr>
          <p:spPr>
            <a:xfrm>
              <a:off x="19051" y="19051"/>
              <a:ext cx="6159247" cy="3019170"/>
            </a:xfrm>
            <a:custGeom>
              <a:avLst/>
              <a:gdLst/>
              <a:ahLst/>
              <a:cxnLst/>
              <a:rect l="l" t="t" r="r" b="b"/>
              <a:pathLst>
                <a:path w="6159246" h="3019171">
                  <a:moveTo>
                    <a:pt x="0" y="503174"/>
                  </a:moveTo>
                  <a:cubicBezTo>
                    <a:pt x="0" y="225298"/>
                    <a:pt x="226695" y="0"/>
                    <a:pt x="506476" y="0"/>
                  </a:cubicBezTo>
                  <a:lnTo>
                    <a:pt x="5652770" y="0"/>
                  </a:lnTo>
                  <a:cubicBezTo>
                    <a:pt x="5932424" y="0"/>
                    <a:pt x="6159246" y="225298"/>
                    <a:pt x="6159246" y="503174"/>
                  </a:cubicBezTo>
                  <a:lnTo>
                    <a:pt x="6159246" y="2515997"/>
                  </a:lnTo>
                  <a:cubicBezTo>
                    <a:pt x="6159246" y="2793873"/>
                    <a:pt x="5932551" y="3019171"/>
                    <a:pt x="5652770" y="3019171"/>
                  </a:cubicBezTo>
                  <a:lnTo>
                    <a:pt x="506476" y="3019171"/>
                  </a:lnTo>
                  <a:cubicBezTo>
                    <a:pt x="226822" y="3019171"/>
                    <a:pt x="0" y="2793873"/>
                    <a:pt x="0" y="2515997"/>
                  </a:cubicBezTo>
                  <a:close/>
                </a:path>
              </a:pathLst>
            </a:custGeom>
            <a:solidFill>
              <a:srgbClr val="FCB618"/>
            </a:solidFill>
            <a:ln w="12700">
              <a:solidFill>
                <a:srgbClr val="000000"/>
              </a:solidFill>
            </a:ln>
          </p:spPr>
        </p:sp>
        <p:sp>
          <p:nvSpPr>
            <p:cNvPr id="8" name="TextBox 8"/>
            <p:cNvSpPr txBox="1"/>
            <p:nvPr/>
          </p:nvSpPr>
          <p:spPr>
            <a:xfrm>
              <a:off x="0" y="-19050"/>
              <a:ext cx="6197360" cy="3076396"/>
            </a:xfrm>
            <a:prstGeom prst="rect">
              <a:avLst/>
            </a:prstGeom>
          </p:spPr>
          <p:txBody>
            <a:bodyPr lIns="50800" tIns="50800" rIns="50800" bIns="50800" rtlCol="0" anchor="ctr"/>
            <a:lstStyle/>
            <a:p>
              <a:pPr algn="ctr">
                <a:lnSpc>
                  <a:spcPts val="3240"/>
                </a:lnSpc>
              </a:pPr>
              <a:endParaRPr>
                <a:latin typeface="Cambria" panose="02040503050406030204" pitchFamily="18" charset="0"/>
                <a:ea typeface="Cambria" panose="02040503050406030204" pitchFamily="18" charset="0"/>
              </a:endParaRPr>
            </a:p>
            <a:p>
              <a:pPr algn="ctr">
                <a:lnSpc>
                  <a:spcPts val="3240"/>
                </a:lnSpc>
              </a:pPr>
              <a:endParaRPr>
                <a:latin typeface="Cambria" panose="02040503050406030204" pitchFamily="18" charset="0"/>
                <a:ea typeface="Cambria" panose="02040503050406030204" pitchFamily="18" charset="0"/>
              </a:endParaRPr>
            </a:p>
            <a:p>
              <a:pPr algn="ctr">
                <a:lnSpc>
                  <a:spcPts val="3240"/>
                </a:lnSpc>
              </a:pPr>
              <a:endParaRPr>
                <a:latin typeface="Cambria" panose="02040503050406030204" pitchFamily="18" charset="0"/>
                <a:ea typeface="Cambria" panose="02040503050406030204" pitchFamily="18" charset="0"/>
              </a:endParaRPr>
            </a:p>
            <a:p>
              <a:pPr algn="ctr">
                <a:lnSpc>
                  <a:spcPts val="4860"/>
                </a:lnSpc>
              </a:pPr>
              <a:r>
                <a:rPr lang="en-US" sz="2700" b="1">
                  <a:solidFill>
                    <a:srgbClr val="FFFFFF"/>
                  </a:solidFill>
                  <a:latin typeface="Cambria" panose="02040503050406030204" pitchFamily="18" charset="0"/>
                  <a:ea typeface="Cambria" panose="02040503050406030204" pitchFamily="18" charset="0"/>
                  <a:cs typeface="Cambria Bold"/>
                  <a:sym typeface="Cambria Bold"/>
                </a:rPr>
                <a:t>Spring Boot</a:t>
              </a:r>
            </a:p>
          </p:txBody>
        </p:sp>
      </p:grpSp>
      <p:grpSp>
        <p:nvGrpSpPr>
          <p:cNvPr id="9" name="Group 9"/>
          <p:cNvGrpSpPr/>
          <p:nvPr/>
        </p:nvGrpSpPr>
        <p:grpSpPr>
          <a:xfrm>
            <a:off x="10734226" y="3594518"/>
            <a:ext cx="4648020" cy="2307297"/>
            <a:chOff x="0" y="-19050"/>
            <a:chExt cx="6197360" cy="3076396"/>
          </a:xfrm>
        </p:grpSpPr>
        <p:sp>
          <p:nvSpPr>
            <p:cNvPr id="10" name="Freeform 10"/>
            <p:cNvSpPr/>
            <p:nvPr/>
          </p:nvSpPr>
          <p:spPr>
            <a:xfrm>
              <a:off x="19050" y="19050"/>
              <a:ext cx="6159246" cy="3019171"/>
            </a:xfrm>
            <a:custGeom>
              <a:avLst/>
              <a:gdLst/>
              <a:ahLst/>
              <a:cxnLst/>
              <a:rect l="l" t="t" r="r" b="b"/>
              <a:pathLst>
                <a:path w="6159246" h="3019171">
                  <a:moveTo>
                    <a:pt x="0" y="503174"/>
                  </a:moveTo>
                  <a:cubicBezTo>
                    <a:pt x="0" y="225298"/>
                    <a:pt x="226695" y="0"/>
                    <a:pt x="506476" y="0"/>
                  </a:cubicBezTo>
                  <a:lnTo>
                    <a:pt x="5652770" y="0"/>
                  </a:lnTo>
                  <a:cubicBezTo>
                    <a:pt x="5932424" y="0"/>
                    <a:pt x="6159246" y="225298"/>
                    <a:pt x="6159246" y="503174"/>
                  </a:cubicBezTo>
                  <a:lnTo>
                    <a:pt x="6159246" y="2515997"/>
                  </a:lnTo>
                  <a:cubicBezTo>
                    <a:pt x="6159246" y="2793873"/>
                    <a:pt x="5932551" y="3019171"/>
                    <a:pt x="5652770" y="3019171"/>
                  </a:cubicBezTo>
                  <a:lnTo>
                    <a:pt x="506476" y="3019171"/>
                  </a:lnTo>
                  <a:cubicBezTo>
                    <a:pt x="226822" y="3019171"/>
                    <a:pt x="0" y="2793873"/>
                    <a:pt x="0" y="2515997"/>
                  </a:cubicBezTo>
                  <a:close/>
                </a:path>
              </a:pathLst>
            </a:custGeom>
            <a:solidFill>
              <a:srgbClr val="FCB618"/>
            </a:solidFill>
            <a:ln w="12700">
              <a:solidFill>
                <a:srgbClr val="000000"/>
              </a:solidFill>
            </a:ln>
          </p:spPr>
        </p:sp>
        <p:sp>
          <p:nvSpPr>
            <p:cNvPr id="12" name="TextBox 12"/>
            <p:cNvSpPr txBox="1"/>
            <p:nvPr/>
          </p:nvSpPr>
          <p:spPr>
            <a:xfrm>
              <a:off x="0" y="-19050"/>
              <a:ext cx="6197360" cy="3076396"/>
            </a:xfrm>
            <a:prstGeom prst="rect">
              <a:avLst/>
            </a:prstGeom>
          </p:spPr>
          <p:txBody>
            <a:bodyPr lIns="50800" tIns="50800" rIns="50800" bIns="50800" rtlCol="0" anchor="ctr"/>
            <a:lstStyle/>
            <a:p>
              <a:pPr algn="ctr">
                <a:lnSpc>
                  <a:spcPts val="3240"/>
                </a:lnSpc>
              </a:pPr>
              <a:endParaRPr>
                <a:latin typeface="Cambria" panose="02040503050406030204" pitchFamily="18" charset="0"/>
                <a:ea typeface="Cambria" panose="02040503050406030204" pitchFamily="18" charset="0"/>
              </a:endParaRPr>
            </a:p>
            <a:p>
              <a:pPr algn="ctr">
                <a:lnSpc>
                  <a:spcPts val="3240"/>
                </a:lnSpc>
              </a:pPr>
              <a:endParaRPr>
                <a:latin typeface="Cambria" panose="02040503050406030204" pitchFamily="18" charset="0"/>
                <a:ea typeface="Cambria" panose="02040503050406030204" pitchFamily="18" charset="0"/>
              </a:endParaRPr>
            </a:p>
            <a:p>
              <a:pPr algn="ctr">
                <a:lnSpc>
                  <a:spcPts val="3240"/>
                </a:lnSpc>
              </a:pPr>
              <a:endParaRPr>
                <a:latin typeface="Cambria" panose="02040503050406030204" pitchFamily="18" charset="0"/>
                <a:ea typeface="Cambria" panose="02040503050406030204" pitchFamily="18" charset="0"/>
              </a:endParaRPr>
            </a:p>
            <a:p>
              <a:pPr algn="ctr">
                <a:lnSpc>
                  <a:spcPts val="4860"/>
                </a:lnSpc>
              </a:pPr>
              <a:r>
                <a:rPr lang="en-US" sz="2700" b="1">
                  <a:solidFill>
                    <a:srgbClr val="FFFFFF"/>
                  </a:solidFill>
                  <a:latin typeface="Cambria" panose="02040503050406030204" pitchFamily="18" charset="0"/>
                  <a:ea typeface="Cambria" panose="02040503050406030204" pitchFamily="18" charset="0"/>
                  <a:cs typeface="Cambria Bold"/>
                  <a:sym typeface="Cambria Bold"/>
                </a:rPr>
                <a:t>Vue.js</a:t>
              </a:r>
            </a:p>
          </p:txBody>
        </p:sp>
      </p:grpSp>
      <p:grpSp>
        <p:nvGrpSpPr>
          <p:cNvPr id="13" name="Group 13"/>
          <p:cNvGrpSpPr/>
          <p:nvPr/>
        </p:nvGrpSpPr>
        <p:grpSpPr>
          <a:xfrm>
            <a:off x="2905755" y="6541934"/>
            <a:ext cx="4648020" cy="2307296"/>
            <a:chOff x="0" y="-19050"/>
            <a:chExt cx="6197360" cy="3076396"/>
          </a:xfrm>
        </p:grpSpPr>
        <p:sp>
          <p:nvSpPr>
            <p:cNvPr id="14" name="Freeform 14"/>
            <p:cNvSpPr/>
            <p:nvPr/>
          </p:nvSpPr>
          <p:spPr>
            <a:xfrm>
              <a:off x="19051" y="19049"/>
              <a:ext cx="6159247" cy="3019171"/>
            </a:xfrm>
            <a:custGeom>
              <a:avLst/>
              <a:gdLst/>
              <a:ahLst/>
              <a:cxnLst/>
              <a:rect l="l" t="t" r="r" b="b"/>
              <a:pathLst>
                <a:path w="6159246" h="3019171">
                  <a:moveTo>
                    <a:pt x="0" y="503174"/>
                  </a:moveTo>
                  <a:cubicBezTo>
                    <a:pt x="0" y="225298"/>
                    <a:pt x="226695" y="0"/>
                    <a:pt x="506476" y="0"/>
                  </a:cubicBezTo>
                  <a:lnTo>
                    <a:pt x="5652770" y="0"/>
                  </a:lnTo>
                  <a:cubicBezTo>
                    <a:pt x="5932424" y="0"/>
                    <a:pt x="6159246" y="225298"/>
                    <a:pt x="6159246" y="503174"/>
                  </a:cubicBezTo>
                  <a:lnTo>
                    <a:pt x="6159246" y="2515997"/>
                  </a:lnTo>
                  <a:cubicBezTo>
                    <a:pt x="6159246" y="2793873"/>
                    <a:pt x="5932551" y="3019171"/>
                    <a:pt x="5652770" y="3019171"/>
                  </a:cubicBezTo>
                  <a:lnTo>
                    <a:pt x="506476" y="3019171"/>
                  </a:lnTo>
                  <a:cubicBezTo>
                    <a:pt x="226822" y="3019171"/>
                    <a:pt x="0" y="2793873"/>
                    <a:pt x="0" y="2515997"/>
                  </a:cubicBezTo>
                  <a:close/>
                </a:path>
              </a:pathLst>
            </a:custGeom>
            <a:solidFill>
              <a:srgbClr val="FFC000"/>
            </a:solidFill>
            <a:ln w="12700">
              <a:solidFill>
                <a:srgbClr val="000000"/>
              </a:solidFill>
            </a:ln>
          </p:spPr>
        </p:sp>
        <p:sp>
          <p:nvSpPr>
            <p:cNvPr id="16" name="TextBox 16"/>
            <p:cNvSpPr txBox="1"/>
            <p:nvPr/>
          </p:nvSpPr>
          <p:spPr>
            <a:xfrm>
              <a:off x="0" y="-19050"/>
              <a:ext cx="6197360" cy="3076396"/>
            </a:xfrm>
            <a:prstGeom prst="rect">
              <a:avLst/>
            </a:prstGeom>
          </p:spPr>
          <p:txBody>
            <a:bodyPr lIns="50800" tIns="50800" rIns="50800" bIns="50800" rtlCol="0" anchor="ctr"/>
            <a:lstStyle/>
            <a:p>
              <a:pPr algn="ctr">
                <a:lnSpc>
                  <a:spcPts val="3240"/>
                </a:lnSpc>
              </a:pPr>
              <a:endParaRPr>
                <a:latin typeface="Cambria" panose="02040503050406030204" pitchFamily="18" charset="0"/>
                <a:ea typeface="Cambria" panose="02040503050406030204" pitchFamily="18" charset="0"/>
              </a:endParaRPr>
            </a:p>
            <a:p>
              <a:pPr algn="ctr">
                <a:lnSpc>
                  <a:spcPts val="3240"/>
                </a:lnSpc>
              </a:pPr>
              <a:endParaRPr>
                <a:latin typeface="Cambria" panose="02040503050406030204" pitchFamily="18" charset="0"/>
                <a:ea typeface="Cambria" panose="02040503050406030204" pitchFamily="18" charset="0"/>
              </a:endParaRPr>
            </a:p>
            <a:p>
              <a:pPr algn="ctr">
                <a:lnSpc>
                  <a:spcPts val="3240"/>
                </a:lnSpc>
              </a:pPr>
              <a:endParaRPr>
                <a:latin typeface="Cambria" panose="02040503050406030204" pitchFamily="18" charset="0"/>
                <a:ea typeface="Cambria" panose="02040503050406030204" pitchFamily="18" charset="0"/>
              </a:endParaRPr>
            </a:p>
            <a:p>
              <a:pPr algn="ctr">
                <a:lnSpc>
                  <a:spcPts val="4860"/>
                </a:lnSpc>
              </a:pPr>
              <a:r>
                <a:rPr lang="en-US" sz="2700" b="1">
                  <a:solidFill>
                    <a:srgbClr val="FFFFFF"/>
                  </a:solidFill>
                  <a:latin typeface="Cambria" panose="02040503050406030204" pitchFamily="18" charset="0"/>
                  <a:ea typeface="Cambria" panose="02040503050406030204" pitchFamily="18" charset="0"/>
                  <a:cs typeface="Cambria Bold"/>
                  <a:sym typeface="Cambria Bold"/>
                </a:rPr>
                <a:t>Java</a:t>
              </a:r>
            </a:p>
          </p:txBody>
        </p:sp>
      </p:grpSp>
      <p:sp>
        <p:nvSpPr>
          <p:cNvPr id="18" name="Freeform 18"/>
          <p:cNvSpPr/>
          <p:nvPr/>
        </p:nvSpPr>
        <p:spPr>
          <a:xfrm>
            <a:off x="4138949" y="3860235"/>
            <a:ext cx="2367915" cy="1339120"/>
          </a:xfrm>
          <a:custGeom>
            <a:avLst/>
            <a:gdLst/>
            <a:ahLst/>
            <a:cxnLst/>
            <a:rect l="l" t="t" r="r" b="b"/>
            <a:pathLst>
              <a:path w="3157220" h="1785493">
                <a:moveTo>
                  <a:pt x="0" y="297561"/>
                </a:moveTo>
                <a:cubicBezTo>
                  <a:pt x="0" y="133223"/>
                  <a:pt x="134493" y="0"/>
                  <a:pt x="300355" y="0"/>
                </a:cubicBezTo>
                <a:lnTo>
                  <a:pt x="2856865" y="0"/>
                </a:lnTo>
                <a:cubicBezTo>
                  <a:pt x="3022727" y="0"/>
                  <a:pt x="3157220" y="133223"/>
                  <a:pt x="3157220" y="297561"/>
                </a:cubicBezTo>
                <a:lnTo>
                  <a:pt x="3157220" y="1487932"/>
                </a:lnTo>
                <a:cubicBezTo>
                  <a:pt x="3157220" y="1652270"/>
                  <a:pt x="3022727" y="1785493"/>
                  <a:pt x="2856865" y="1785493"/>
                </a:cubicBezTo>
                <a:lnTo>
                  <a:pt x="300355" y="1785493"/>
                </a:lnTo>
                <a:cubicBezTo>
                  <a:pt x="134493" y="1785493"/>
                  <a:pt x="0" y="1652270"/>
                  <a:pt x="0" y="1487932"/>
                </a:cubicBezTo>
                <a:close/>
              </a:path>
            </a:pathLst>
          </a:custGeom>
          <a:solidFill>
            <a:srgbClr val="FFFFFF"/>
          </a:solidFill>
          <a:ln w="12700">
            <a:solidFill>
              <a:srgbClr val="000000"/>
            </a:solidFill>
          </a:ln>
        </p:spPr>
      </p:sp>
      <p:sp>
        <p:nvSpPr>
          <p:cNvPr id="21" name="Freeform 21"/>
          <p:cNvSpPr/>
          <p:nvPr/>
        </p:nvSpPr>
        <p:spPr>
          <a:xfrm>
            <a:off x="11984759" y="3792471"/>
            <a:ext cx="2367914" cy="1339120"/>
          </a:xfrm>
          <a:custGeom>
            <a:avLst/>
            <a:gdLst/>
            <a:ahLst/>
            <a:cxnLst/>
            <a:rect l="l" t="t" r="r" b="b"/>
            <a:pathLst>
              <a:path w="3157220" h="1785493">
                <a:moveTo>
                  <a:pt x="0" y="297561"/>
                </a:moveTo>
                <a:cubicBezTo>
                  <a:pt x="0" y="133223"/>
                  <a:pt x="134493" y="0"/>
                  <a:pt x="300355" y="0"/>
                </a:cubicBezTo>
                <a:lnTo>
                  <a:pt x="2856865" y="0"/>
                </a:lnTo>
                <a:cubicBezTo>
                  <a:pt x="3022727" y="0"/>
                  <a:pt x="3157220" y="133223"/>
                  <a:pt x="3157220" y="297561"/>
                </a:cubicBezTo>
                <a:lnTo>
                  <a:pt x="3157220" y="1487932"/>
                </a:lnTo>
                <a:cubicBezTo>
                  <a:pt x="3157220" y="1652270"/>
                  <a:pt x="3022727" y="1785493"/>
                  <a:pt x="2856865" y="1785493"/>
                </a:cubicBezTo>
                <a:lnTo>
                  <a:pt x="300355" y="1785493"/>
                </a:lnTo>
                <a:cubicBezTo>
                  <a:pt x="134493" y="1785493"/>
                  <a:pt x="0" y="1652270"/>
                  <a:pt x="0" y="1487932"/>
                </a:cubicBezTo>
                <a:close/>
              </a:path>
            </a:pathLst>
          </a:custGeom>
          <a:solidFill>
            <a:srgbClr val="FFFFFF"/>
          </a:solidFill>
          <a:ln w="12700">
            <a:solidFill>
              <a:srgbClr val="000000"/>
            </a:solidFill>
          </a:ln>
        </p:spPr>
      </p:sp>
      <p:sp>
        <p:nvSpPr>
          <p:cNvPr id="24" name="Freeform 24"/>
          <p:cNvSpPr/>
          <p:nvPr/>
        </p:nvSpPr>
        <p:spPr>
          <a:xfrm>
            <a:off x="4045790" y="6724293"/>
            <a:ext cx="2367915" cy="1339120"/>
          </a:xfrm>
          <a:custGeom>
            <a:avLst/>
            <a:gdLst/>
            <a:ahLst/>
            <a:cxnLst/>
            <a:rect l="l" t="t" r="r" b="b"/>
            <a:pathLst>
              <a:path w="3157220" h="1785493">
                <a:moveTo>
                  <a:pt x="0" y="297561"/>
                </a:moveTo>
                <a:cubicBezTo>
                  <a:pt x="0" y="133223"/>
                  <a:pt x="134493" y="0"/>
                  <a:pt x="300355" y="0"/>
                </a:cubicBezTo>
                <a:lnTo>
                  <a:pt x="2856865" y="0"/>
                </a:lnTo>
                <a:cubicBezTo>
                  <a:pt x="3022727" y="0"/>
                  <a:pt x="3157220" y="133223"/>
                  <a:pt x="3157220" y="297561"/>
                </a:cubicBezTo>
                <a:lnTo>
                  <a:pt x="3157220" y="1487932"/>
                </a:lnTo>
                <a:cubicBezTo>
                  <a:pt x="3157220" y="1652270"/>
                  <a:pt x="3022727" y="1785493"/>
                  <a:pt x="2856865" y="1785493"/>
                </a:cubicBezTo>
                <a:lnTo>
                  <a:pt x="300355" y="1785493"/>
                </a:lnTo>
                <a:cubicBezTo>
                  <a:pt x="134493" y="1785493"/>
                  <a:pt x="0" y="1652270"/>
                  <a:pt x="0" y="1487932"/>
                </a:cubicBezTo>
                <a:close/>
              </a:path>
            </a:pathLst>
          </a:custGeom>
          <a:solidFill>
            <a:srgbClr val="FFFFFF"/>
          </a:solidFill>
          <a:ln w="12700">
            <a:solidFill>
              <a:srgbClr val="000000"/>
            </a:solidFill>
          </a:ln>
        </p:spPr>
      </p:sp>
      <p:grpSp>
        <p:nvGrpSpPr>
          <p:cNvPr id="26" name="Group 26"/>
          <p:cNvGrpSpPr/>
          <p:nvPr/>
        </p:nvGrpSpPr>
        <p:grpSpPr>
          <a:xfrm>
            <a:off x="10734225" y="6541933"/>
            <a:ext cx="4648020" cy="2307297"/>
            <a:chOff x="0" y="-19050"/>
            <a:chExt cx="6197360" cy="3076396"/>
          </a:xfrm>
        </p:grpSpPr>
        <p:sp>
          <p:nvSpPr>
            <p:cNvPr id="27" name="Freeform 27"/>
            <p:cNvSpPr/>
            <p:nvPr/>
          </p:nvSpPr>
          <p:spPr>
            <a:xfrm>
              <a:off x="19050" y="19050"/>
              <a:ext cx="6159246" cy="3019171"/>
            </a:xfrm>
            <a:custGeom>
              <a:avLst/>
              <a:gdLst/>
              <a:ahLst/>
              <a:cxnLst/>
              <a:rect l="l" t="t" r="r" b="b"/>
              <a:pathLst>
                <a:path w="6159246" h="3019171">
                  <a:moveTo>
                    <a:pt x="0" y="503174"/>
                  </a:moveTo>
                  <a:cubicBezTo>
                    <a:pt x="0" y="225298"/>
                    <a:pt x="226695" y="0"/>
                    <a:pt x="506476" y="0"/>
                  </a:cubicBezTo>
                  <a:lnTo>
                    <a:pt x="5652770" y="0"/>
                  </a:lnTo>
                  <a:cubicBezTo>
                    <a:pt x="5932424" y="0"/>
                    <a:pt x="6159246" y="225298"/>
                    <a:pt x="6159246" y="503174"/>
                  </a:cubicBezTo>
                  <a:lnTo>
                    <a:pt x="6159246" y="2515997"/>
                  </a:lnTo>
                  <a:cubicBezTo>
                    <a:pt x="6159246" y="2793873"/>
                    <a:pt x="5932551" y="3019171"/>
                    <a:pt x="5652770" y="3019171"/>
                  </a:cubicBezTo>
                  <a:lnTo>
                    <a:pt x="506476" y="3019171"/>
                  </a:lnTo>
                  <a:cubicBezTo>
                    <a:pt x="226822" y="3019171"/>
                    <a:pt x="0" y="2793873"/>
                    <a:pt x="0" y="2515997"/>
                  </a:cubicBezTo>
                  <a:close/>
                </a:path>
              </a:pathLst>
            </a:custGeom>
            <a:solidFill>
              <a:srgbClr val="FFC000"/>
            </a:solidFill>
            <a:ln w="12700">
              <a:solidFill>
                <a:srgbClr val="000000"/>
              </a:solidFill>
            </a:ln>
          </p:spPr>
        </p:sp>
        <p:sp>
          <p:nvSpPr>
            <p:cNvPr id="29" name="TextBox 29"/>
            <p:cNvSpPr txBox="1"/>
            <p:nvPr/>
          </p:nvSpPr>
          <p:spPr>
            <a:xfrm>
              <a:off x="0" y="-19050"/>
              <a:ext cx="6197360" cy="3076396"/>
            </a:xfrm>
            <a:prstGeom prst="rect">
              <a:avLst/>
            </a:prstGeom>
          </p:spPr>
          <p:txBody>
            <a:bodyPr lIns="50800" tIns="50800" rIns="50800" bIns="50800" rtlCol="0" anchor="ctr"/>
            <a:lstStyle/>
            <a:p>
              <a:pPr algn="ctr">
                <a:lnSpc>
                  <a:spcPts val="3240"/>
                </a:lnSpc>
              </a:pPr>
              <a:endParaRPr>
                <a:latin typeface="Cambria" panose="02040503050406030204" pitchFamily="18" charset="0"/>
                <a:ea typeface="Cambria" panose="02040503050406030204" pitchFamily="18" charset="0"/>
              </a:endParaRPr>
            </a:p>
            <a:p>
              <a:pPr algn="ctr">
                <a:lnSpc>
                  <a:spcPts val="3240"/>
                </a:lnSpc>
              </a:pPr>
              <a:endParaRPr>
                <a:latin typeface="Cambria" panose="02040503050406030204" pitchFamily="18" charset="0"/>
                <a:ea typeface="Cambria" panose="02040503050406030204" pitchFamily="18" charset="0"/>
              </a:endParaRPr>
            </a:p>
            <a:p>
              <a:pPr algn="ctr">
                <a:lnSpc>
                  <a:spcPts val="3240"/>
                </a:lnSpc>
              </a:pPr>
              <a:endParaRPr>
                <a:latin typeface="Cambria" panose="02040503050406030204" pitchFamily="18" charset="0"/>
                <a:ea typeface="Cambria" panose="02040503050406030204" pitchFamily="18" charset="0"/>
              </a:endParaRPr>
            </a:p>
            <a:p>
              <a:pPr algn="ctr">
                <a:lnSpc>
                  <a:spcPts val="4860"/>
                </a:lnSpc>
              </a:pPr>
              <a:r>
                <a:rPr lang="en-US" sz="2700" b="1">
                  <a:solidFill>
                    <a:srgbClr val="FFFFFF"/>
                  </a:solidFill>
                  <a:latin typeface="Cambria" panose="02040503050406030204" pitchFamily="18" charset="0"/>
                  <a:ea typeface="Cambria" panose="02040503050406030204" pitchFamily="18" charset="0"/>
                  <a:cs typeface="Cambria Bold"/>
                  <a:sym typeface="Cambria Bold"/>
                </a:rPr>
                <a:t>PostgreSQL</a:t>
              </a:r>
            </a:p>
          </p:txBody>
        </p:sp>
      </p:grpSp>
      <p:sp>
        <p:nvSpPr>
          <p:cNvPr id="31" name="Freeform 31"/>
          <p:cNvSpPr/>
          <p:nvPr/>
        </p:nvSpPr>
        <p:spPr>
          <a:xfrm>
            <a:off x="11874260" y="6724293"/>
            <a:ext cx="2367915" cy="1339120"/>
          </a:xfrm>
          <a:custGeom>
            <a:avLst/>
            <a:gdLst/>
            <a:ahLst/>
            <a:cxnLst/>
            <a:rect l="l" t="t" r="r" b="b"/>
            <a:pathLst>
              <a:path w="3157220" h="1785493">
                <a:moveTo>
                  <a:pt x="0" y="297561"/>
                </a:moveTo>
                <a:cubicBezTo>
                  <a:pt x="0" y="133223"/>
                  <a:pt x="134493" y="0"/>
                  <a:pt x="300355" y="0"/>
                </a:cubicBezTo>
                <a:lnTo>
                  <a:pt x="2856865" y="0"/>
                </a:lnTo>
                <a:cubicBezTo>
                  <a:pt x="3022727" y="0"/>
                  <a:pt x="3157220" y="133223"/>
                  <a:pt x="3157220" y="297561"/>
                </a:cubicBezTo>
                <a:lnTo>
                  <a:pt x="3157220" y="1487932"/>
                </a:lnTo>
                <a:cubicBezTo>
                  <a:pt x="3157220" y="1652270"/>
                  <a:pt x="3022727" y="1785493"/>
                  <a:pt x="2856865" y="1785493"/>
                </a:cubicBezTo>
                <a:lnTo>
                  <a:pt x="300355" y="1785493"/>
                </a:lnTo>
                <a:cubicBezTo>
                  <a:pt x="134493" y="1785493"/>
                  <a:pt x="0" y="1652270"/>
                  <a:pt x="0" y="1487932"/>
                </a:cubicBezTo>
                <a:close/>
              </a:path>
            </a:pathLst>
          </a:custGeom>
          <a:solidFill>
            <a:srgbClr val="FFFFFF"/>
          </a:solidFill>
          <a:ln w="12700">
            <a:solidFill>
              <a:srgbClr val="000000"/>
            </a:solidFill>
          </a:ln>
        </p:spPr>
      </p:sp>
      <p:grpSp>
        <p:nvGrpSpPr>
          <p:cNvPr id="33" name="Group 33"/>
          <p:cNvGrpSpPr/>
          <p:nvPr/>
        </p:nvGrpSpPr>
        <p:grpSpPr>
          <a:xfrm>
            <a:off x="12003033" y="6910813"/>
            <a:ext cx="2110404" cy="966209"/>
            <a:chOff x="0" y="0"/>
            <a:chExt cx="2813872" cy="1288278"/>
          </a:xfrm>
        </p:grpSpPr>
        <p:sp>
          <p:nvSpPr>
            <p:cNvPr id="34" name="Freeform 34"/>
            <p:cNvSpPr/>
            <p:nvPr/>
          </p:nvSpPr>
          <p:spPr>
            <a:xfrm>
              <a:off x="0" y="0"/>
              <a:ext cx="2813812" cy="1288288"/>
            </a:xfrm>
            <a:custGeom>
              <a:avLst/>
              <a:gdLst/>
              <a:ahLst/>
              <a:cxnLst/>
              <a:rect l="l" t="t" r="r" b="b"/>
              <a:pathLst>
                <a:path w="2813812" h="1288288">
                  <a:moveTo>
                    <a:pt x="0" y="0"/>
                  </a:moveTo>
                  <a:lnTo>
                    <a:pt x="2813812" y="0"/>
                  </a:lnTo>
                  <a:lnTo>
                    <a:pt x="2813812" y="1288288"/>
                  </a:lnTo>
                  <a:lnTo>
                    <a:pt x="0" y="1288288"/>
                  </a:lnTo>
                  <a:lnTo>
                    <a:pt x="0" y="0"/>
                  </a:lnTo>
                  <a:close/>
                </a:path>
              </a:pathLst>
            </a:custGeom>
            <a:blipFill>
              <a:blip r:embed="rId4"/>
              <a:stretch>
                <a:fillRect r="-2"/>
              </a:stretch>
            </a:blipFill>
          </p:spPr>
        </p:sp>
      </p:grpSp>
      <p:grpSp>
        <p:nvGrpSpPr>
          <p:cNvPr id="35" name="Group 35"/>
          <p:cNvGrpSpPr/>
          <p:nvPr/>
        </p:nvGrpSpPr>
        <p:grpSpPr>
          <a:xfrm>
            <a:off x="4200615" y="3957989"/>
            <a:ext cx="2196275" cy="1047465"/>
            <a:chOff x="0" y="0"/>
            <a:chExt cx="2928366" cy="1396619"/>
          </a:xfrm>
        </p:grpSpPr>
        <p:sp>
          <p:nvSpPr>
            <p:cNvPr id="36" name="Freeform 36"/>
            <p:cNvSpPr/>
            <p:nvPr/>
          </p:nvSpPr>
          <p:spPr>
            <a:xfrm>
              <a:off x="0" y="0"/>
              <a:ext cx="2928366" cy="1396619"/>
            </a:xfrm>
            <a:custGeom>
              <a:avLst/>
              <a:gdLst/>
              <a:ahLst/>
              <a:cxnLst/>
              <a:rect l="l" t="t" r="r" b="b"/>
              <a:pathLst>
                <a:path w="2928366" h="1396619">
                  <a:moveTo>
                    <a:pt x="0" y="0"/>
                  </a:moveTo>
                  <a:lnTo>
                    <a:pt x="2928366" y="0"/>
                  </a:lnTo>
                  <a:lnTo>
                    <a:pt x="2928366" y="1396619"/>
                  </a:lnTo>
                  <a:lnTo>
                    <a:pt x="0" y="1396619"/>
                  </a:lnTo>
                  <a:lnTo>
                    <a:pt x="0" y="0"/>
                  </a:lnTo>
                  <a:close/>
                </a:path>
              </a:pathLst>
            </a:custGeom>
            <a:blipFill>
              <a:blip r:embed="rId5"/>
              <a:stretch>
                <a:fillRect r="-2" b="-1"/>
              </a:stretch>
            </a:blipFill>
          </p:spPr>
        </p:sp>
      </p:grpSp>
      <p:grpSp>
        <p:nvGrpSpPr>
          <p:cNvPr id="37" name="Group 37"/>
          <p:cNvGrpSpPr/>
          <p:nvPr/>
        </p:nvGrpSpPr>
        <p:grpSpPr>
          <a:xfrm>
            <a:off x="12137421" y="3921387"/>
            <a:ext cx="1841628" cy="1104977"/>
            <a:chOff x="0" y="0"/>
            <a:chExt cx="2455504" cy="1473302"/>
          </a:xfrm>
        </p:grpSpPr>
        <p:sp>
          <p:nvSpPr>
            <p:cNvPr id="38" name="Freeform 38"/>
            <p:cNvSpPr/>
            <p:nvPr/>
          </p:nvSpPr>
          <p:spPr>
            <a:xfrm>
              <a:off x="0" y="0"/>
              <a:ext cx="2455545" cy="1473327"/>
            </a:xfrm>
            <a:custGeom>
              <a:avLst/>
              <a:gdLst/>
              <a:ahLst/>
              <a:cxnLst/>
              <a:rect l="l" t="t" r="r" b="b"/>
              <a:pathLst>
                <a:path w="2455545" h="1473327">
                  <a:moveTo>
                    <a:pt x="0" y="0"/>
                  </a:moveTo>
                  <a:lnTo>
                    <a:pt x="2455545" y="0"/>
                  </a:lnTo>
                  <a:lnTo>
                    <a:pt x="2455545" y="1473327"/>
                  </a:lnTo>
                  <a:lnTo>
                    <a:pt x="0" y="1473327"/>
                  </a:lnTo>
                  <a:lnTo>
                    <a:pt x="0" y="0"/>
                  </a:lnTo>
                  <a:close/>
                </a:path>
              </a:pathLst>
            </a:custGeom>
            <a:blipFill>
              <a:blip r:embed="rId6"/>
              <a:stretch>
                <a:fillRect r="1" b="1"/>
              </a:stretch>
            </a:blipFill>
          </p:spPr>
        </p:sp>
      </p:grpSp>
      <p:grpSp>
        <p:nvGrpSpPr>
          <p:cNvPr id="39" name="Group 39"/>
          <p:cNvGrpSpPr/>
          <p:nvPr/>
        </p:nvGrpSpPr>
        <p:grpSpPr>
          <a:xfrm>
            <a:off x="4689651" y="6826784"/>
            <a:ext cx="1707284" cy="1050239"/>
            <a:chOff x="0" y="0"/>
            <a:chExt cx="2276378" cy="1400318"/>
          </a:xfrm>
        </p:grpSpPr>
        <p:sp>
          <p:nvSpPr>
            <p:cNvPr id="40" name="Freeform 40" descr="Giới thiệu ngôn ngữ lập trình Java | Khóa học java"/>
            <p:cNvSpPr/>
            <p:nvPr/>
          </p:nvSpPr>
          <p:spPr>
            <a:xfrm>
              <a:off x="0" y="0"/>
              <a:ext cx="2276348" cy="1400302"/>
            </a:xfrm>
            <a:custGeom>
              <a:avLst/>
              <a:gdLst/>
              <a:ahLst/>
              <a:cxnLst/>
              <a:rect l="l" t="t" r="r" b="b"/>
              <a:pathLst>
                <a:path w="2276348" h="1400302">
                  <a:moveTo>
                    <a:pt x="0" y="0"/>
                  </a:moveTo>
                  <a:lnTo>
                    <a:pt x="2276348" y="0"/>
                  </a:lnTo>
                  <a:lnTo>
                    <a:pt x="2276348" y="1400302"/>
                  </a:lnTo>
                  <a:lnTo>
                    <a:pt x="0" y="1400302"/>
                  </a:lnTo>
                  <a:lnTo>
                    <a:pt x="0" y="0"/>
                  </a:lnTo>
                  <a:close/>
                </a:path>
              </a:pathLst>
            </a:custGeom>
            <a:blipFill>
              <a:blip r:embed="rId7"/>
              <a:stretch>
                <a:fillRect r="-1" b="-1"/>
              </a:stretch>
            </a:blipFill>
          </p:spPr>
        </p:sp>
      </p:grpSp>
      <p:cxnSp>
        <p:nvCxnSpPr>
          <p:cNvPr id="41" name="Straight Connector 40">
            <a:extLst>
              <a:ext uri="{FF2B5EF4-FFF2-40B4-BE49-F238E27FC236}">
                <a16:creationId xmlns:a16="http://schemas.microsoft.com/office/drawing/2014/main" id="{9F07B5CF-5BEA-9644-D4EF-EE4DE9A8AC35}"/>
              </a:ext>
            </a:extLst>
          </p:cNvPr>
          <p:cNvCxnSpPr>
            <a:cxnSpLocks/>
          </p:cNvCxnSpPr>
          <p:nvPr/>
        </p:nvCxnSpPr>
        <p:spPr>
          <a:xfrm>
            <a:off x="838200" y="2479725"/>
            <a:ext cx="0" cy="537092"/>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627578" y="2371757"/>
            <a:ext cx="1028643" cy="1057244"/>
            <a:chOff x="0" y="0"/>
            <a:chExt cx="1371524" cy="1409658"/>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sp>
        <p:sp>
          <p:nvSpPr>
            <p:cNvPr id="5" name="TextBox 5"/>
            <p:cNvSpPr txBox="1"/>
            <p:nvPr/>
          </p:nvSpPr>
          <p:spPr>
            <a:xfrm>
              <a:off x="0" y="-19050"/>
              <a:ext cx="1371524" cy="1428708"/>
            </a:xfrm>
            <a:prstGeom prst="rect">
              <a:avLst/>
            </a:prstGeom>
            <a:ln>
              <a:solidFill>
                <a:schemeClr val="bg1"/>
              </a:solidFill>
            </a:ln>
          </p:spPr>
          <p:txBody>
            <a:bodyPr lIns="50800" tIns="50800" rIns="50800" bIns="50800" rtlCol="0" anchor="ctr"/>
            <a:lstStyle/>
            <a:p>
              <a:pPr algn="ctr">
                <a:lnSpc>
                  <a:spcPts val="8640"/>
                </a:lnSpc>
              </a:pPr>
              <a:r>
                <a:rPr lang="en-US" sz="7200" b="1" dirty="0">
                  <a:solidFill>
                    <a:srgbClr val="FFFFFF"/>
                  </a:solidFill>
                  <a:latin typeface="Cambria" panose="02040503050406030204" pitchFamily="18" charset="0"/>
                  <a:ea typeface="Cambria" panose="02040503050406030204" pitchFamily="18" charset="0"/>
                  <a:cs typeface="Cambria Bold"/>
                  <a:sym typeface="Cambria Bold"/>
                </a:rPr>
                <a:t>2</a:t>
              </a:r>
            </a:p>
          </p:txBody>
        </p:sp>
      </p:grpSp>
      <p:sp>
        <p:nvSpPr>
          <p:cNvPr id="6" name="TextBox 6"/>
          <p:cNvSpPr txBox="1"/>
          <p:nvPr/>
        </p:nvSpPr>
        <p:spPr>
          <a:xfrm>
            <a:off x="719018" y="3770028"/>
            <a:ext cx="4313632" cy="3390096"/>
          </a:xfrm>
          <a:prstGeom prst="rect">
            <a:avLst/>
          </a:prstGeom>
        </p:spPr>
        <p:txBody>
          <a:bodyPr lIns="0" tIns="0" rIns="0" bIns="0" rtlCol="0" anchor="t">
            <a:spAutoFit/>
          </a:bodyPr>
          <a:lstStyle/>
          <a:p>
            <a:pPr algn="l">
              <a:lnSpc>
                <a:spcPts val="8640"/>
              </a:lnSpc>
            </a:pP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Phân</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tích</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thiết</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kế</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hệ</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thống</a:t>
            </a:r>
            <a:endParaRPr lang="en-US" sz="7200" b="1" dirty="0">
              <a:solidFill>
                <a:srgbClr val="16458C"/>
              </a:solidFill>
              <a:latin typeface="Cambria" panose="02040503050406030204" pitchFamily="18" charset="0"/>
              <a:ea typeface="Cambria" panose="02040503050406030204" pitchFamily="18" charset="0"/>
              <a:cs typeface="Cambria Bold"/>
              <a:sym typeface="Cambria Bold"/>
            </a:endParaRPr>
          </a:p>
        </p:txBody>
      </p:sp>
      <p:sp>
        <p:nvSpPr>
          <p:cNvPr id="7" name="TextBox 7"/>
          <p:cNvSpPr txBox="1"/>
          <p:nvPr/>
        </p:nvSpPr>
        <p:spPr>
          <a:xfrm>
            <a:off x="8441810" y="2959484"/>
            <a:ext cx="9754751" cy="3966214"/>
          </a:xfrm>
          <a:prstGeom prst="rect">
            <a:avLst/>
          </a:prstGeom>
        </p:spPr>
        <p:txBody>
          <a:bodyPr lIns="0" tIns="0" rIns="0" bIns="0" rtlCol="0" anchor="t">
            <a:spAutoFit/>
          </a:bodyPr>
          <a:lstStyle/>
          <a:p>
            <a:pPr algn="l">
              <a:lnSpc>
                <a:spcPts val="10800"/>
              </a:lnSpc>
            </a:pPr>
            <a:r>
              <a:rPr lang="en-US" sz="5400" dirty="0" err="1">
                <a:solidFill>
                  <a:srgbClr val="16458C"/>
                </a:solidFill>
                <a:latin typeface="Cambria" panose="02040503050406030204" pitchFamily="18" charset="0"/>
                <a:ea typeface="Cambria" panose="02040503050406030204" pitchFamily="18" charset="0"/>
                <a:cs typeface="Cambria"/>
                <a:sym typeface="Cambria"/>
              </a:rPr>
              <a:t>Sơ</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đồ</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các</a:t>
            </a:r>
            <a:r>
              <a:rPr lang="en-US" sz="5400" dirty="0">
                <a:solidFill>
                  <a:srgbClr val="16458C"/>
                </a:solidFill>
                <a:latin typeface="Cambria" panose="02040503050406030204" pitchFamily="18" charset="0"/>
                <a:ea typeface="Cambria" panose="02040503050406030204" pitchFamily="18" charset="0"/>
                <a:cs typeface="Cambria"/>
                <a:sym typeface="Cambria"/>
              </a:rPr>
              <a:t> actor </a:t>
            </a:r>
            <a:r>
              <a:rPr lang="en-US" sz="5400" dirty="0" err="1">
                <a:solidFill>
                  <a:srgbClr val="16458C"/>
                </a:solidFill>
                <a:latin typeface="Cambria" panose="02040503050406030204" pitchFamily="18" charset="0"/>
                <a:ea typeface="Cambria" panose="02040503050406030204" pitchFamily="18" charset="0"/>
                <a:cs typeface="Cambria"/>
                <a:sym typeface="Cambria"/>
              </a:rPr>
              <a:t>của</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hệ</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thống</a:t>
            </a:r>
            <a:endParaRPr lang="en-US" sz="5400" dirty="0">
              <a:solidFill>
                <a:srgbClr val="16458C"/>
              </a:solidFill>
              <a:latin typeface="Cambria" panose="02040503050406030204" pitchFamily="18" charset="0"/>
              <a:ea typeface="Cambria" panose="02040503050406030204" pitchFamily="18" charset="0"/>
              <a:cs typeface="Cambria"/>
              <a:sym typeface="Cambria"/>
            </a:endParaRPr>
          </a:p>
          <a:p>
            <a:pPr algn="l">
              <a:lnSpc>
                <a:spcPts val="10800"/>
              </a:lnSpc>
            </a:pPr>
            <a:r>
              <a:rPr lang="en-US" sz="5400" dirty="0" err="1">
                <a:solidFill>
                  <a:srgbClr val="16458C"/>
                </a:solidFill>
                <a:latin typeface="Cambria" panose="02040503050406030204" pitchFamily="18" charset="0"/>
                <a:ea typeface="Cambria" panose="02040503050406030204" pitchFamily="18" charset="0"/>
                <a:cs typeface="Cambria"/>
                <a:sym typeface="Cambria"/>
              </a:rPr>
              <a:t>Sơ</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đồ</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các</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usecase</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tổng</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quan</a:t>
            </a:r>
            <a:endParaRPr lang="en-US" sz="5400" dirty="0">
              <a:solidFill>
                <a:srgbClr val="16458C"/>
              </a:solidFill>
              <a:latin typeface="Cambria" panose="02040503050406030204" pitchFamily="18" charset="0"/>
              <a:ea typeface="Cambria" panose="02040503050406030204" pitchFamily="18" charset="0"/>
              <a:cs typeface="Cambria"/>
              <a:sym typeface="Cambria"/>
            </a:endParaRPr>
          </a:p>
          <a:p>
            <a:pPr algn="l">
              <a:lnSpc>
                <a:spcPts val="10800"/>
              </a:lnSpc>
            </a:pPr>
            <a:r>
              <a:rPr lang="en-US" sz="5400" dirty="0" err="1">
                <a:solidFill>
                  <a:srgbClr val="16458C"/>
                </a:solidFill>
                <a:latin typeface="Cambria" panose="02040503050406030204" pitchFamily="18" charset="0"/>
                <a:ea typeface="Cambria" panose="02040503050406030204" pitchFamily="18" charset="0"/>
                <a:cs typeface="Cambria"/>
                <a:sym typeface="Cambria"/>
              </a:rPr>
              <a:t>Biểu</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đồ</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thực</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thể</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liên</a:t>
            </a:r>
            <a:r>
              <a:rPr lang="en-US" sz="5400" dirty="0">
                <a:solidFill>
                  <a:srgbClr val="16458C"/>
                </a:solidFill>
                <a:latin typeface="Cambria" panose="02040503050406030204" pitchFamily="18" charset="0"/>
                <a:ea typeface="Cambria" panose="02040503050406030204" pitchFamily="18" charset="0"/>
                <a:cs typeface="Cambria"/>
                <a:sym typeface="Cambria"/>
              </a:rPr>
              <a:t> </a:t>
            </a:r>
            <a:r>
              <a:rPr lang="en-US" sz="5400" dirty="0" err="1">
                <a:solidFill>
                  <a:srgbClr val="16458C"/>
                </a:solidFill>
                <a:latin typeface="Cambria" panose="02040503050406030204" pitchFamily="18" charset="0"/>
                <a:ea typeface="Cambria" panose="02040503050406030204" pitchFamily="18" charset="0"/>
                <a:cs typeface="Cambria"/>
                <a:sym typeface="Cambria"/>
              </a:rPr>
              <a:t>kết</a:t>
            </a:r>
            <a:endParaRPr lang="en-US" sz="5400" dirty="0">
              <a:solidFill>
                <a:srgbClr val="16458C"/>
              </a:solidFill>
              <a:latin typeface="Cambria" panose="02040503050406030204" pitchFamily="18" charset="0"/>
              <a:ea typeface="Cambria" panose="02040503050406030204" pitchFamily="18" charset="0"/>
              <a:cs typeface="Cambria"/>
              <a:sym typeface="Cambria"/>
            </a:endParaRPr>
          </a:p>
        </p:txBody>
      </p:sp>
      <p:cxnSp>
        <p:nvCxnSpPr>
          <p:cNvPr id="11" name="Straight Connector 10">
            <a:extLst>
              <a:ext uri="{FF2B5EF4-FFF2-40B4-BE49-F238E27FC236}">
                <a16:creationId xmlns:a16="http://schemas.microsoft.com/office/drawing/2014/main" id="{B0926DD7-5026-43E6-3F4E-205722ABF444}"/>
              </a:ext>
            </a:extLst>
          </p:cNvPr>
          <p:cNvCxnSpPr>
            <a:cxnSpLocks/>
          </p:cNvCxnSpPr>
          <p:nvPr/>
        </p:nvCxnSpPr>
        <p:spPr>
          <a:xfrm>
            <a:off x="8252935" y="3399092"/>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C62871A-7A0F-4C71-1D3D-F0717692DAFC}"/>
              </a:ext>
            </a:extLst>
          </p:cNvPr>
          <p:cNvCxnSpPr>
            <a:cxnSpLocks/>
          </p:cNvCxnSpPr>
          <p:nvPr/>
        </p:nvCxnSpPr>
        <p:spPr>
          <a:xfrm>
            <a:off x="8252935" y="4804696"/>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28D0E56-0207-0507-6717-2559B725B5D9}"/>
              </a:ext>
            </a:extLst>
          </p:cNvPr>
          <p:cNvCxnSpPr>
            <a:cxnSpLocks/>
          </p:cNvCxnSpPr>
          <p:nvPr/>
        </p:nvCxnSpPr>
        <p:spPr>
          <a:xfrm>
            <a:off x="8252935" y="6134100"/>
            <a:ext cx="0" cy="677608"/>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502448" y="2192354"/>
            <a:ext cx="8031951" cy="553549"/>
          </a:xfrm>
          <a:prstGeom prst="rect">
            <a:avLst/>
          </a:prstGeom>
        </p:spPr>
        <p:txBody>
          <a:bodyPr wrap="square" lIns="0" tIns="0" rIns="0" bIns="0" rtlCol="0" anchor="t">
            <a:spAutoFit/>
          </a:bodyPr>
          <a:lstStyle/>
          <a:p>
            <a:pPr algn="l">
              <a:lnSpc>
                <a:spcPts val="4320"/>
              </a:lnSpc>
            </a:pPr>
            <a:r>
              <a:rPr lang="en-US" sz="4800" b="1" dirty="0" err="1">
                <a:solidFill>
                  <a:srgbClr val="16458C"/>
                </a:solidFill>
                <a:latin typeface="Cambria" panose="02040503050406030204" pitchFamily="18" charset="0"/>
                <a:ea typeface="Cambria" panose="02040503050406030204" pitchFamily="18" charset="0"/>
                <a:cs typeface="Cambria Bold"/>
                <a:sym typeface="Cambria Bold"/>
              </a:rPr>
              <a:t>Sơ</a:t>
            </a:r>
            <a:r>
              <a:rPr lang="en-US" sz="48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4800" b="1" dirty="0" err="1">
                <a:solidFill>
                  <a:srgbClr val="16458C"/>
                </a:solidFill>
                <a:latin typeface="Cambria" panose="02040503050406030204" pitchFamily="18" charset="0"/>
                <a:ea typeface="Cambria" panose="02040503050406030204" pitchFamily="18" charset="0"/>
                <a:cs typeface="Cambria Bold"/>
                <a:sym typeface="Cambria Bold"/>
              </a:rPr>
              <a:t>đồ</a:t>
            </a:r>
            <a:r>
              <a:rPr lang="en-US" sz="48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4800" b="1" dirty="0" err="1">
                <a:solidFill>
                  <a:srgbClr val="16458C"/>
                </a:solidFill>
                <a:latin typeface="Cambria" panose="02040503050406030204" pitchFamily="18" charset="0"/>
                <a:ea typeface="Cambria" panose="02040503050406030204" pitchFamily="18" charset="0"/>
                <a:cs typeface="Cambria Bold"/>
                <a:sym typeface="Cambria Bold"/>
              </a:rPr>
              <a:t>các</a:t>
            </a:r>
            <a:r>
              <a:rPr lang="en-US" sz="4800" b="1" dirty="0">
                <a:solidFill>
                  <a:srgbClr val="16458C"/>
                </a:solidFill>
                <a:latin typeface="Cambria" panose="02040503050406030204" pitchFamily="18" charset="0"/>
                <a:ea typeface="Cambria" panose="02040503050406030204" pitchFamily="18" charset="0"/>
                <a:cs typeface="Cambria Bold"/>
                <a:sym typeface="Cambria Bold"/>
              </a:rPr>
              <a:t> Actor </a:t>
            </a:r>
            <a:r>
              <a:rPr lang="en-US" sz="4800" b="1" dirty="0" err="1">
                <a:solidFill>
                  <a:srgbClr val="16458C"/>
                </a:solidFill>
                <a:latin typeface="Cambria" panose="02040503050406030204" pitchFamily="18" charset="0"/>
                <a:ea typeface="Cambria" panose="02040503050406030204" pitchFamily="18" charset="0"/>
                <a:cs typeface="Cambria Bold"/>
                <a:sym typeface="Cambria Bold"/>
              </a:rPr>
              <a:t>của</a:t>
            </a:r>
            <a:r>
              <a:rPr lang="en-US" sz="48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4800" b="1" dirty="0" err="1">
                <a:solidFill>
                  <a:srgbClr val="16458C"/>
                </a:solidFill>
                <a:latin typeface="Cambria" panose="02040503050406030204" pitchFamily="18" charset="0"/>
                <a:ea typeface="Cambria" panose="02040503050406030204" pitchFamily="18" charset="0"/>
                <a:cs typeface="Cambria Bold"/>
                <a:sym typeface="Cambria Bold"/>
              </a:rPr>
              <a:t>hệ</a:t>
            </a:r>
            <a:r>
              <a:rPr lang="en-US" sz="48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4800" b="1" dirty="0" err="1">
                <a:solidFill>
                  <a:srgbClr val="16458C"/>
                </a:solidFill>
                <a:latin typeface="Cambria" panose="02040503050406030204" pitchFamily="18" charset="0"/>
                <a:ea typeface="Cambria" panose="02040503050406030204" pitchFamily="18" charset="0"/>
                <a:cs typeface="Cambria Bold"/>
                <a:sym typeface="Cambria Bold"/>
              </a:rPr>
              <a:t>thống</a:t>
            </a:r>
            <a:endParaRPr lang="en-US" sz="4800" b="1" dirty="0">
              <a:solidFill>
                <a:srgbClr val="16458C"/>
              </a:solidFill>
              <a:latin typeface="Cambria" panose="02040503050406030204" pitchFamily="18" charset="0"/>
              <a:ea typeface="Cambria" panose="02040503050406030204" pitchFamily="18" charset="0"/>
              <a:cs typeface="Cambria Bold"/>
              <a:sym typeface="Cambria Bold"/>
            </a:endParaRPr>
          </a:p>
        </p:txBody>
      </p:sp>
      <p:grpSp>
        <p:nvGrpSpPr>
          <p:cNvPr id="4" name="Group 4"/>
          <p:cNvGrpSpPr/>
          <p:nvPr/>
        </p:nvGrpSpPr>
        <p:grpSpPr>
          <a:xfrm>
            <a:off x="2990480" y="3531363"/>
            <a:ext cx="686469" cy="962401"/>
            <a:chOff x="0" y="0"/>
            <a:chExt cx="915292" cy="1283202"/>
          </a:xfrm>
        </p:grpSpPr>
        <p:sp>
          <p:nvSpPr>
            <p:cNvPr id="5" name="Freeform 5"/>
            <p:cNvSpPr/>
            <p:nvPr/>
          </p:nvSpPr>
          <p:spPr>
            <a:xfrm>
              <a:off x="0" y="0"/>
              <a:ext cx="915289" cy="1283208"/>
            </a:xfrm>
            <a:custGeom>
              <a:avLst/>
              <a:gdLst/>
              <a:ahLst/>
              <a:cxnLst/>
              <a:rect l="l" t="t" r="r" b="b"/>
              <a:pathLst>
                <a:path w="915289" h="1283208">
                  <a:moveTo>
                    <a:pt x="0" y="0"/>
                  </a:moveTo>
                  <a:lnTo>
                    <a:pt x="915289" y="0"/>
                  </a:lnTo>
                  <a:lnTo>
                    <a:pt x="915289" y="1283208"/>
                  </a:lnTo>
                  <a:lnTo>
                    <a:pt x="0" y="1283208"/>
                  </a:lnTo>
                  <a:lnTo>
                    <a:pt x="0" y="0"/>
                  </a:lnTo>
                  <a:close/>
                </a:path>
              </a:pathLst>
            </a:custGeom>
            <a:blipFill>
              <a:blip r:embed="rId3"/>
              <a:stretch>
                <a:fillRect/>
              </a:stretch>
            </a:blipFill>
          </p:spPr>
        </p:sp>
      </p:grpSp>
      <p:grpSp>
        <p:nvGrpSpPr>
          <p:cNvPr id="6" name="Group 6"/>
          <p:cNvGrpSpPr/>
          <p:nvPr/>
        </p:nvGrpSpPr>
        <p:grpSpPr>
          <a:xfrm>
            <a:off x="2990480" y="6466419"/>
            <a:ext cx="686469" cy="962402"/>
            <a:chOff x="0" y="0"/>
            <a:chExt cx="915292" cy="1283202"/>
          </a:xfrm>
        </p:grpSpPr>
        <p:sp>
          <p:nvSpPr>
            <p:cNvPr id="7" name="Freeform 7"/>
            <p:cNvSpPr/>
            <p:nvPr/>
          </p:nvSpPr>
          <p:spPr>
            <a:xfrm>
              <a:off x="0" y="0"/>
              <a:ext cx="915289" cy="1283208"/>
            </a:xfrm>
            <a:custGeom>
              <a:avLst/>
              <a:gdLst/>
              <a:ahLst/>
              <a:cxnLst/>
              <a:rect l="l" t="t" r="r" b="b"/>
              <a:pathLst>
                <a:path w="915289" h="1283208">
                  <a:moveTo>
                    <a:pt x="0" y="0"/>
                  </a:moveTo>
                  <a:lnTo>
                    <a:pt x="915289" y="0"/>
                  </a:lnTo>
                  <a:lnTo>
                    <a:pt x="915289" y="1283208"/>
                  </a:lnTo>
                  <a:lnTo>
                    <a:pt x="0" y="1283208"/>
                  </a:lnTo>
                  <a:lnTo>
                    <a:pt x="0" y="0"/>
                  </a:lnTo>
                  <a:close/>
                </a:path>
              </a:pathLst>
            </a:custGeom>
            <a:blipFill>
              <a:blip r:embed="rId3"/>
              <a:stretch>
                <a:fillRect/>
              </a:stretch>
            </a:blipFill>
          </p:spPr>
        </p:sp>
      </p:grpSp>
      <p:sp>
        <p:nvSpPr>
          <p:cNvPr id="8" name="TextBox 8"/>
          <p:cNvSpPr txBox="1"/>
          <p:nvPr/>
        </p:nvSpPr>
        <p:spPr>
          <a:xfrm>
            <a:off x="2449630" y="4580506"/>
            <a:ext cx="2103120" cy="410369"/>
          </a:xfrm>
          <a:prstGeom prst="rect">
            <a:avLst/>
          </a:prstGeom>
        </p:spPr>
        <p:txBody>
          <a:bodyPr lIns="0" tIns="0" rIns="0" bIns="0" rtlCol="0" anchor="t">
            <a:spAutoFit/>
          </a:bodyPr>
          <a:lstStyle/>
          <a:p>
            <a:pPr algn="l">
              <a:lnSpc>
                <a:spcPts val="3240"/>
              </a:lnSpc>
            </a:pPr>
            <a:r>
              <a:rPr lang="en-US" sz="2700">
                <a:solidFill>
                  <a:srgbClr val="000000"/>
                </a:solidFill>
                <a:latin typeface="Cambria" panose="02040503050406030204" pitchFamily="18" charset="0"/>
                <a:ea typeface="Cambria" panose="02040503050406030204" pitchFamily="18" charset="0"/>
                <a:cs typeface="Cambria"/>
                <a:sym typeface="Cambria"/>
              </a:rPr>
              <a:t>NguoiDung</a:t>
            </a:r>
          </a:p>
        </p:txBody>
      </p:sp>
      <p:sp>
        <p:nvSpPr>
          <p:cNvPr id="9" name="TextBox 9"/>
          <p:cNvSpPr txBox="1"/>
          <p:nvPr/>
        </p:nvSpPr>
        <p:spPr>
          <a:xfrm>
            <a:off x="2582943" y="7593988"/>
            <a:ext cx="1501540" cy="410369"/>
          </a:xfrm>
          <a:prstGeom prst="rect">
            <a:avLst/>
          </a:prstGeom>
        </p:spPr>
        <p:txBody>
          <a:bodyPr lIns="0" tIns="0" rIns="0" bIns="0" rtlCol="0" anchor="t">
            <a:spAutoFit/>
          </a:bodyPr>
          <a:lstStyle/>
          <a:p>
            <a:pPr algn="ctr">
              <a:lnSpc>
                <a:spcPts val="3240"/>
              </a:lnSpc>
            </a:pPr>
            <a:r>
              <a:rPr lang="en-US" sz="2700">
                <a:solidFill>
                  <a:srgbClr val="000000"/>
                </a:solidFill>
                <a:latin typeface="Cambria" panose="02040503050406030204" pitchFamily="18" charset="0"/>
                <a:ea typeface="Cambria" panose="02040503050406030204" pitchFamily="18" charset="0"/>
                <a:cs typeface="Cambria"/>
                <a:sym typeface="Cambria"/>
              </a:rPr>
              <a:t>Quan tri</a:t>
            </a:r>
          </a:p>
        </p:txBody>
      </p:sp>
      <p:grpSp>
        <p:nvGrpSpPr>
          <p:cNvPr id="10" name="Group 10"/>
          <p:cNvGrpSpPr/>
          <p:nvPr/>
        </p:nvGrpSpPr>
        <p:grpSpPr>
          <a:xfrm>
            <a:off x="6256420" y="2858182"/>
            <a:ext cx="11141243" cy="2892912"/>
            <a:chOff x="0" y="0"/>
            <a:chExt cx="14854990" cy="3857216"/>
          </a:xfrm>
        </p:grpSpPr>
        <p:sp>
          <p:nvSpPr>
            <p:cNvPr id="11" name="Freeform 11"/>
            <p:cNvSpPr/>
            <p:nvPr/>
          </p:nvSpPr>
          <p:spPr>
            <a:xfrm>
              <a:off x="0" y="0"/>
              <a:ext cx="14854935" cy="3857117"/>
            </a:xfrm>
            <a:custGeom>
              <a:avLst/>
              <a:gdLst/>
              <a:ahLst/>
              <a:cxnLst/>
              <a:rect l="l" t="t" r="r" b="b"/>
              <a:pathLst>
                <a:path w="14854935" h="3857117">
                  <a:moveTo>
                    <a:pt x="1196086" y="0"/>
                  </a:moveTo>
                  <a:cubicBezTo>
                    <a:pt x="536829" y="0"/>
                    <a:pt x="0" y="219583"/>
                    <a:pt x="0" y="489204"/>
                  </a:cubicBezTo>
                  <a:lnTo>
                    <a:pt x="0" y="3367913"/>
                  </a:lnTo>
                  <a:cubicBezTo>
                    <a:pt x="0" y="3637661"/>
                    <a:pt x="536829" y="3857117"/>
                    <a:pt x="1196086" y="3857117"/>
                  </a:cubicBezTo>
                  <a:lnTo>
                    <a:pt x="13659358" y="3857117"/>
                  </a:lnTo>
                  <a:cubicBezTo>
                    <a:pt x="14318235" y="3857117"/>
                    <a:pt x="14854935" y="3637661"/>
                    <a:pt x="14854935" y="3367913"/>
                  </a:cubicBezTo>
                  <a:lnTo>
                    <a:pt x="14854935" y="489204"/>
                  </a:lnTo>
                  <a:cubicBezTo>
                    <a:pt x="14854935" y="219710"/>
                    <a:pt x="14318107" y="0"/>
                    <a:pt x="13659358" y="0"/>
                  </a:cubicBezTo>
                  <a:close/>
                </a:path>
              </a:pathLst>
            </a:custGeom>
            <a:solidFill>
              <a:srgbClr val="EEEEEE"/>
            </a:solidFill>
            <a:ln w="12700">
              <a:solidFill>
                <a:srgbClr val="000000"/>
              </a:solidFill>
            </a:ln>
          </p:spPr>
        </p:sp>
        <p:sp>
          <p:nvSpPr>
            <p:cNvPr id="12" name="TextBox 12"/>
            <p:cNvSpPr txBox="1"/>
            <p:nvPr/>
          </p:nvSpPr>
          <p:spPr>
            <a:xfrm>
              <a:off x="0" y="-19050"/>
              <a:ext cx="14854990" cy="3876266"/>
            </a:xfrm>
            <a:prstGeom prst="rect">
              <a:avLst/>
            </a:prstGeom>
          </p:spPr>
          <p:txBody>
            <a:bodyPr lIns="50800" tIns="50800" rIns="50800" bIns="50800" rtlCol="0" anchor="ctr"/>
            <a:lstStyle/>
            <a:p>
              <a:pPr algn="just">
                <a:lnSpc>
                  <a:spcPts val="4320"/>
                </a:lnSpc>
              </a:pPr>
              <a:r>
                <a:rPr lang="en-US" sz="3600" dirty="0" err="1">
                  <a:solidFill>
                    <a:srgbClr val="000000"/>
                  </a:solidFill>
                  <a:latin typeface="Cambria" panose="02040503050406030204" pitchFamily="18" charset="0"/>
                  <a:ea typeface="Cambria" panose="02040503050406030204" pitchFamily="18" charset="0"/>
                  <a:cs typeface="Cambria"/>
                  <a:sym typeface="Cambria"/>
                </a:rPr>
                <a:t>Là</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người</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có</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thể</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xem</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các</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thông</a:t>
              </a:r>
              <a:r>
                <a:rPr lang="en-US" sz="3600" dirty="0">
                  <a:solidFill>
                    <a:srgbClr val="000000"/>
                  </a:solidFill>
                  <a:latin typeface="Cambria" panose="02040503050406030204" pitchFamily="18" charset="0"/>
                  <a:ea typeface="Cambria" panose="02040503050406030204" pitchFamily="18" charset="0"/>
                  <a:cs typeface="Cambria"/>
                  <a:sym typeface="Cambria"/>
                </a:rPr>
                <a:t> tin </a:t>
              </a:r>
              <a:r>
                <a:rPr lang="en-US" sz="3600" dirty="0" err="1">
                  <a:solidFill>
                    <a:srgbClr val="000000"/>
                  </a:solidFill>
                  <a:latin typeface="Cambria" panose="02040503050406030204" pitchFamily="18" charset="0"/>
                  <a:ea typeface="Cambria" panose="02040503050406030204" pitchFamily="18" charset="0"/>
                  <a:cs typeface="Cambria"/>
                  <a:sym typeface="Cambria"/>
                </a:rPr>
                <a:t>về</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sản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phẩm</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trên</a:t>
              </a:r>
              <a:r>
                <a:rPr lang="en-US" sz="3600" dirty="0">
                  <a:solidFill>
                    <a:srgbClr val="000000"/>
                  </a:solidFill>
                  <a:latin typeface="Cambria" panose="02040503050406030204" pitchFamily="18" charset="0"/>
                  <a:ea typeface="Cambria" panose="02040503050406030204" pitchFamily="18" charset="0"/>
                  <a:cs typeface="Cambria"/>
                  <a:sym typeface="Cambria"/>
                </a:rPr>
                <a:t> website, </a:t>
              </a:r>
              <a:r>
                <a:rPr lang="en-US" sz="3600" dirty="0" err="1">
                  <a:solidFill>
                    <a:srgbClr val="000000"/>
                  </a:solidFill>
                  <a:latin typeface="Cambria" panose="02040503050406030204" pitchFamily="18" charset="0"/>
                  <a:ea typeface="Cambria" panose="02040503050406030204" pitchFamily="18" charset="0"/>
                  <a:cs typeface="Cambria"/>
                  <a:sym typeface="Cambria"/>
                </a:rPr>
                <a:t>tìm</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kiếm</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sản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phẩm</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theo</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danh</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mục</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đặt</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hàng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và</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theo</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dõi</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trạng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thái</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đơn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hàng</a:t>
              </a:r>
              <a:endParaRPr lang="en-US" sz="3600" dirty="0">
                <a:solidFill>
                  <a:srgbClr val="000000"/>
                </a:solidFill>
                <a:latin typeface="Cambria" panose="02040503050406030204" pitchFamily="18" charset="0"/>
                <a:ea typeface="Cambria" panose="02040503050406030204" pitchFamily="18" charset="0"/>
                <a:cs typeface="Cambria"/>
                <a:sym typeface="Cambria"/>
              </a:endParaRPr>
            </a:p>
          </p:txBody>
        </p:sp>
      </p:grpSp>
      <p:grpSp>
        <p:nvGrpSpPr>
          <p:cNvPr id="13" name="Group 13"/>
          <p:cNvGrpSpPr/>
          <p:nvPr/>
        </p:nvGrpSpPr>
        <p:grpSpPr>
          <a:xfrm>
            <a:off x="6251616" y="6139910"/>
            <a:ext cx="11146006" cy="2968546"/>
            <a:chOff x="-6405" y="0"/>
            <a:chExt cx="14861340" cy="3958061"/>
          </a:xfrm>
        </p:grpSpPr>
        <p:sp>
          <p:nvSpPr>
            <p:cNvPr id="14" name="Freeform 14"/>
            <p:cNvSpPr/>
            <p:nvPr/>
          </p:nvSpPr>
          <p:spPr>
            <a:xfrm>
              <a:off x="0" y="0"/>
              <a:ext cx="14854935" cy="3857117"/>
            </a:xfrm>
            <a:custGeom>
              <a:avLst/>
              <a:gdLst/>
              <a:ahLst/>
              <a:cxnLst/>
              <a:rect l="l" t="t" r="r" b="b"/>
              <a:pathLst>
                <a:path w="14854935" h="3857117">
                  <a:moveTo>
                    <a:pt x="1196086" y="0"/>
                  </a:moveTo>
                  <a:cubicBezTo>
                    <a:pt x="536829" y="0"/>
                    <a:pt x="0" y="219583"/>
                    <a:pt x="0" y="489204"/>
                  </a:cubicBezTo>
                  <a:lnTo>
                    <a:pt x="0" y="3367913"/>
                  </a:lnTo>
                  <a:cubicBezTo>
                    <a:pt x="0" y="3637661"/>
                    <a:pt x="536829" y="3857117"/>
                    <a:pt x="1196086" y="3857117"/>
                  </a:cubicBezTo>
                  <a:lnTo>
                    <a:pt x="13659358" y="3857117"/>
                  </a:lnTo>
                  <a:cubicBezTo>
                    <a:pt x="14318235" y="3857117"/>
                    <a:pt x="14854935" y="3637661"/>
                    <a:pt x="14854935" y="3367913"/>
                  </a:cubicBezTo>
                  <a:lnTo>
                    <a:pt x="14854935" y="489204"/>
                  </a:lnTo>
                  <a:cubicBezTo>
                    <a:pt x="14854935" y="219710"/>
                    <a:pt x="14318107" y="0"/>
                    <a:pt x="13659358" y="0"/>
                  </a:cubicBezTo>
                  <a:close/>
                </a:path>
              </a:pathLst>
            </a:custGeom>
            <a:solidFill>
              <a:srgbClr val="EEEEEE"/>
            </a:solidFill>
            <a:ln w="12700">
              <a:solidFill>
                <a:srgbClr val="000000"/>
              </a:solidFill>
            </a:ln>
          </p:spPr>
        </p:sp>
        <p:sp>
          <p:nvSpPr>
            <p:cNvPr id="15" name="TextBox 15"/>
            <p:cNvSpPr txBox="1"/>
            <p:nvPr/>
          </p:nvSpPr>
          <p:spPr>
            <a:xfrm>
              <a:off x="-6405" y="665572"/>
              <a:ext cx="14854990" cy="3292489"/>
            </a:xfrm>
            <a:prstGeom prst="rect">
              <a:avLst/>
            </a:prstGeom>
          </p:spPr>
          <p:txBody>
            <a:bodyPr lIns="50800" tIns="50800" rIns="50800" bIns="50800" rtlCol="0" anchor="ctr"/>
            <a:lstStyle/>
            <a:p>
              <a:pPr algn="just">
                <a:lnSpc>
                  <a:spcPts val="4320"/>
                </a:lnSpc>
              </a:pPr>
              <a:r>
                <a:rPr lang="en-US" sz="3600" dirty="0" err="1">
                  <a:solidFill>
                    <a:srgbClr val="000000"/>
                  </a:solidFill>
                  <a:latin typeface="Cambria" panose="02040503050406030204" pitchFamily="18" charset="0"/>
                  <a:ea typeface="Cambria" panose="02040503050406030204" pitchFamily="18" charset="0"/>
                  <a:cs typeface="Cambria"/>
                  <a:sym typeface="Cambria"/>
                </a:rPr>
                <a:t>Là</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người</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có</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quyền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tương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tác</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với</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hệ</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thống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có</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quyền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điều</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khiển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kiểm</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soát</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các</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hoạt</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động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của</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hệ</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thống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Với</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các</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chức</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năng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quản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lý</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người</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dùng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quản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lý</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sản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phẩm</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quản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lý</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đơn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hàng</a:t>
              </a:r>
              <a:r>
                <a:rPr lang="en-US" sz="3600" dirty="0">
                  <a:solidFill>
                    <a:srgbClr val="000000"/>
                  </a:solidFill>
                  <a:latin typeface="Cambria" panose="02040503050406030204" pitchFamily="18" charset="0"/>
                  <a:ea typeface="Cambria" panose="02040503050406030204" pitchFamily="18" charset="0"/>
                  <a:cs typeface="Cambria"/>
                  <a:sym typeface="Cambria"/>
                </a:rPr>
                <a:t>,…</a:t>
              </a:r>
            </a:p>
            <a:p>
              <a:pPr algn="just">
                <a:lnSpc>
                  <a:spcPts val="4320"/>
                </a:lnSpc>
              </a:pPr>
              <a:endParaRPr lang="en-US" sz="3600" dirty="0">
                <a:solidFill>
                  <a:srgbClr val="000000"/>
                </a:solidFill>
                <a:latin typeface="Cambria" panose="02040503050406030204" pitchFamily="18" charset="0"/>
                <a:ea typeface="Cambria" panose="02040503050406030204" pitchFamily="18" charset="0"/>
                <a:cs typeface="Cambria"/>
                <a:sym typeface="Cambria"/>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4" name="TextBox 4"/>
          <p:cNvSpPr txBox="1"/>
          <p:nvPr/>
        </p:nvSpPr>
        <p:spPr>
          <a:xfrm>
            <a:off x="803118" y="1944245"/>
            <a:ext cx="8721882" cy="743793"/>
          </a:xfrm>
          <a:prstGeom prst="rect">
            <a:avLst/>
          </a:prstGeom>
        </p:spPr>
        <p:txBody>
          <a:bodyPr wrap="square" lIns="0" tIns="0" rIns="0" bIns="0" rtlCol="0" anchor="t">
            <a:spAutoFit/>
          </a:bodyPr>
          <a:lstStyle/>
          <a:p>
            <a:pPr algn="l">
              <a:lnSpc>
                <a:spcPts val="5759"/>
              </a:lnSpc>
            </a:pP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Sơ</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đồ</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các</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usecase</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tổng</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quát</a:t>
            </a:r>
            <a:endParaRPr lang="en-US" sz="5400" b="1" dirty="0">
              <a:solidFill>
                <a:srgbClr val="16458C"/>
              </a:solidFill>
              <a:latin typeface="Cambria" panose="02040503050406030204" pitchFamily="18" charset="0"/>
              <a:ea typeface="Cambria" panose="02040503050406030204" pitchFamily="18" charset="0"/>
              <a:cs typeface="Cambria Bold"/>
              <a:sym typeface="Cambria Bold"/>
            </a:endParaRPr>
          </a:p>
        </p:txBody>
      </p:sp>
      <p:grpSp>
        <p:nvGrpSpPr>
          <p:cNvPr id="5" name="Group 5"/>
          <p:cNvGrpSpPr/>
          <p:nvPr/>
        </p:nvGrpSpPr>
        <p:grpSpPr>
          <a:xfrm>
            <a:off x="9963150" y="1755649"/>
            <a:ext cx="8041109" cy="7572453"/>
            <a:chOff x="0" y="0"/>
            <a:chExt cx="10721478" cy="10096604"/>
          </a:xfrm>
        </p:grpSpPr>
        <p:sp>
          <p:nvSpPr>
            <p:cNvPr id="6" name="Freeform 6"/>
            <p:cNvSpPr/>
            <p:nvPr/>
          </p:nvSpPr>
          <p:spPr>
            <a:xfrm>
              <a:off x="0" y="0"/>
              <a:ext cx="10721467" cy="10096627"/>
            </a:xfrm>
            <a:custGeom>
              <a:avLst/>
              <a:gdLst/>
              <a:ahLst/>
              <a:cxnLst/>
              <a:rect l="l" t="t" r="r" b="b"/>
              <a:pathLst>
                <a:path w="10721467" h="10096627">
                  <a:moveTo>
                    <a:pt x="0" y="0"/>
                  </a:moveTo>
                  <a:lnTo>
                    <a:pt x="10721467" y="0"/>
                  </a:lnTo>
                  <a:lnTo>
                    <a:pt x="10721467" y="10096627"/>
                  </a:lnTo>
                  <a:lnTo>
                    <a:pt x="0" y="10096627"/>
                  </a:lnTo>
                  <a:lnTo>
                    <a:pt x="0" y="0"/>
                  </a:lnTo>
                  <a:close/>
                </a:path>
              </a:pathLst>
            </a:custGeom>
            <a:blipFill>
              <a:blip r:embed="rId3"/>
              <a:stretch>
                <a:fillRect/>
              </a:stretch>
            </a:blipFill>
          </p:spPr>
        </p:sp>
      </p:grpSp>
      <p:cxnSp>
        <p:nvCxnSpPr>
          <p:cNvPr id="7" name="Straight Connector 6">
            <a:extLst>
              <a:ext uri="{FF2B5EF4-FFF2-40B4-BE49-F238E27FC236}">
                <a16:creationId xmlns:a16="http://schemas.microsoft.com/office/drawing/2014/main" id="{D5C2541B-4CDB-536C-5BCF-CA710F8651E4}"/>
              </a:ext>
            </a:extLst>
          </p:cNvPr>
          <p:cNvCxnSpPr>
            <a:cxnSpLocks/>
          </p:cNvCxnSpPr>
          <p:nvPr/>
        </p:nvCxnSpPr>
        <p:spPr>
          <a:xfrm>
            <a:off x="609600" y="1944245"/>
            <a:ext cx="0" cy="608455"/>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pic>
        <p:nvPicPr>
          <p:cNvPr id="7" name="Picture 6">
            <a:extLst>
              <a:ext uri="{FF2B5EF4-FFF2-40B4-BE49-F238E27FC236}">
                <a16:creationId xmlns:a16="http://schemas.microsoft.com/office/drawing/2014/main" id="{3A76CD53-32A9-1D32-357D-DCDE25D00DCF}"/>
              </a:ext>
            </a:extLst>
          </p:cNvPr>
          <p:cNvPicPr/>
          <p:nvPr/>
        </p:nvPicPr>
        <p:blipFill>
          <a:blip r:embed="rId3"/>
          <a:stretch>
            <a:fillRect/>
          </a:stretch>
        </p:blipFill>
        <p:spPr>
          <a:xfrm>
            <a:off x="8346173" y="1921385"/>
            <a:ext cx="9287462" cy="7060194"/>
          </a:xfrm>
          <a:prstGeom prst="rect">
            <a:avLst/>
          </a:prstGeom>
        </p:spPr>
      </p:pic>
      <p:sp>
        <p:nvSpPr>
          <p:cNvPr id="4" name="TextBox 4"/>
          <p:cNvSpPr txBox="1"/>
          <p:nvPr/>
        </p:nvSpPr>
        <p:spPr>
          <a:xfrm>
            <a:off x="803120" y="1944245"/>
            <a:ext cx="7883680" cy="743793"/>
          </a:xfrm>
          <a:prstGeom prst="rect">
            <a:avLst/>
          </a:prstGeom>
        </p:spPr>
        <p:txBody>
          <a:bodyPr wrap="square" lIns="0" tIns="0" rIns="0" bIns="0" rtlCol="0" anchor="t">
            <a:spAutoFit/>
          </a:bodyPr>
          <a:lstStyle/>
          <a:p>
            <a:pPr algn="l">
              <a:lnSpc>
                <a:spcPts val="5759"/>
              </a:lnSpc>
            </a:pP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Biểu</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đồ</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thực</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thể</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liên</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kết</a:t>
            </a:r>
            <a:endParaRPr lang="en-US" sz="5400" b="1" dirty="0">
              <a:solidFill>
                <a:srgbClr val="16458C"/>
              </a:solidFill>
              <a:latin typeface="Cambria" panose="02040503050406030204" pitchFamily="18" charset="0"/>
              <a:ea typeface="Cambria" panose="02040503050406030204" pitchFamily="18" charset="0"/>
              <a:cs typeface="Cambria Bold"/>
              <a:sym typeface="Cambria Bold"/>
            </a:endParaRPr>
          </a:p>
        </p:txBody>
      </p:sp>
      <p:cxnSp>
        <p:nvCxnSpPr>
          <p:cNvPr id="8" name="Straight Connector 7">
            <a:extLst>
              <a:ext uri="{FF2B5EF4-FFF2-40B4-BE49-F238E27FC236}">
                <a16:creationId xmlns:a16="http://schemas.microsoft.com/office/drawing/2014/main" id="{20989A2B-1288-7987-8AEB-AAF71DC7F7A5}"/>
              </a:ext>
            </a:extLst>
          </p:cNvPr>
          <p:cNvCxnSpPr>
            <a:cxnSpLocks/>
          </p:cNvCxnSpPr>
          <p:nvPr/>
        </p:nvCxnSpPr>
        <p:spPr>
          <a:xfrm>
            <a:off x="609600" y="1944245"/>
            <a:ext cx="0" cy="608455"/>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627578" y="2371757"/>
            <a:ext cx="1028643" cy="1057244"/>
            <a:chOff x="0" y="0"/>
            <a:chExt cx="1371524" cy="1409658"/>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sp>
        <p:sp>
          <p:nvSpPr>
            <p:cNvPr id="5" name="TextBox 5"/>
            <p:cNvSpPr txBox="1"/>
            <p:nvPr/>
          </p:nvSpPr>
          <p:spPr>
            <a:xfrm>
              <a:off x="0" y="-19050"/>
              <a:ext cx="1371524" cy="1428708"/>
            </a:xfrm>
            <a:prstGeom prst="rect">
              <a:avLst/>
            </a:prstGeom>
            <a:ln>
              <a:solidFill>
                <a:schemeClr val="bg1"/>
              </a:solidFill>
            </a:ln>
          </p:spPr>
          <p:txBody>
            <a:bodyPr lIns="50800" tIns="50800" rIns="50800" bIns="50800" rtlCol="0" anchor="ctr"/>
            <a:lstStyle/>
            <a:p>
              <a:pPr algn="ctr">
                <a:lnSpc>
                  <a:spcPts val="8640"/>
                </a:lnSpc>
              </a:pPr>
              <a:r>
                <a:rPr lang="en-US" sz="7200" b="1">
                  <a:solidFill>
                    <a:srgbClr val="FFFFFF"/>
                  </a:solidFill>
                  <a:latin typeface="Cambria" panose="02040503050406030204" pitchFamily="18" charset="0"/>
                  <a:ea typeface="Cambria" panose="02040503050406030204" pitchFamily="18" charset="0"/>
                  <a:cs typeface="Cambria Bold"/>
                  <a:sym typeface="Cambria Bold"/>
                </a:rPr>
                <a:t>3</a:t>
              </a:r>
            </a:p>
          </p:txBody>
        </p:sp>
      </p:grpSp>
      <p:sp>
        <p:nvSpPr>
          <p:cNvPr id="6" name="TextBox 6"/>
          <p:cNvSpPr txBox="1"/>
          <p:nvPr/>
        </p:nvSpPr>
        <p:spPr>
          <a:xfrm>
            <a:off x="719018" y="3770028"/>
            <a:ext cx="4313632" cy="2282100"/>
          </a:xfrm>
          <a:prstGeom prst="rect">
            <a:avLst/>
          </a:prstGeom>
        </p:spPr>
        <p:txBody>
          <a:bodyPr lIns="0" tIns="0" rIns="0" bIns="0" rtlCol="0" anchor="t">
            <a:spAutoFit/>
          </a:bodyPr>
          <a:lstStyle/>
          <a:p>
            <a:pPr algn="l">
              <a:lnSpc>
                <a:spcPts val="8640"/>
              </a:lnSpc>
            </a:pPr>
            <a:r>
              <a:rPr lang="en-US" sz="7200" b="1" dirty="0">
                <a:solidFill>
                  <a:srgbClr val="16458C"/>
                </a:solidFill>
                <a:latin typeface="Cambria" panose="02040503050406030204" pitchFamily="18" charset="0"/>
                <a:ea typeface="Cambria" panose="02040503050406030204" pitchFamily="18" charset="0"/>
                <a:cs typeface="Cambria Bold"/>
                <a:sym typeface="Cambria Bold"/>
              </a:rPr>
              <a:t>Quy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trình</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mua</a:t>
            </a:r>
            <a:r>
              <a:rPr lang="en-US" sz="72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7200" b="1" dirty="0" err="1">
                <a:solidFill>
                  <a:srgbClr val="16458C"/>
                </a:solidFill>
                <a:latin typeface="Cambria" panose="02040503050406030204" pitchFamily="18" charset="0"/>
                <a:ea typeface="Cambria" panose="02040503050406030204" pitchFamily="18" charset="0"/>
                <a:cs typeface="Cambria Bold"/>
                <a:sym typeface="Cambria Bold"/>
              </a:rPr>
              <a:t>hàng</a:t>
            </a:r>
            <a:endParaRPr lang="en-US" sz="7200" b="1" dirty="0">
              <a:solidFill>
                <a:srgbClr val="16458C"/>
              </a:solidFill>
              <a:latin typeface="Cambria" panose="02040503050406030204" pitchFamily="18" charset="0"/>
              <a:ea typeface="Cambria" panose="02040503050406030204" pitchFamily="18" charset="0"/>
              <a:cs typeface="Cambria Bold"/>
              <a:sym typeface="Cambria Bold"/>
            </a:endParaRPr>
          </a:p>
        </p:txBody>
      </p:sp>
      <p:grpSp>
        <p:nvGrpSpPr>
          <p:cNvPr id="7" name="Group 7"/>
          <p:cNvGrpSpPr/>
          <p:nvPr/>
        </p:nvGrpSpPr>
        <p:grpSpPr>
          <a:xfrm>
            <a:off x="6710940" y="2563179"/>
            <a:ext cx="10949482" cy="5160640"/>
            <a:chOff x="0" y="0"/>
            <a:chExt cx="14599310" cy="6880854"/>
          </a:xfrm>
        </p:grpSpPr>
        <p:sp>
          <p:nvSpPr>
            <p:cNvPr id="8" name="Freeform 8"/>
            <p:cNvSpPr/>
            <p:nvPr/>
          </p:nvSpPr>
          <p:spPr>
            <a:xfrm>
              <a:off x="0" y="0"/>
              <a:ext cx="14599286" cy="6880860"/>
            </a:xfrm>
            <a:custGeom>
              <a:avLst/>
              <a:gdLst/>
              <a:ahLst/>
              <a:cxnLst/>
              <a:rect l="l" t="t" r="r" b="b"/>
              <a:pathLst>
                <a:path w="14599286" h="6880860">
                  <a:moveTo>
                    <a:pt x="0" y="0"/>
                  </a:moveTo>
                  <a:lnTo>
                    <a:pt x="14599286" y="0"/>
                  </a:lnTo>
                  <a:lnTo>
                    <a:pt x="14599286" y="6880860"/>
                  </a:lnTo>
                  <a:lnTo>
                    <a:pt x="0" y="6880860"/>
                  </a:lnTo>
                  <a:lnTo>
                    <a:pt x="0" y="0"/>
                  </a:lnTo>
                  <a:close/>
                </a:path>
              </a:pathLst>
            </a:custGeom>
            <a:blipFill>
              <a:blip r:embed="rId3"/>
              <a:stretch>
                <a:fillRect/>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7053098" y="7775262"/>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935586" y="2312649"/>
            <a:ext cx="8116974" cy="743793"/>
          </a:xfrm>
          <a:prstGeom prst="rect">
            <a:avLst/>
          </a:prstGeom>
        </p:spPr>
        <p:txBody>
          <a:bodyPr lIns="0" tIns="0" rIns="0" bIns="0" rtlCol="0" anchor="t">
            <a:spAutoFit/>
          </a:bodyPr>
          <a:lstStyle/>
          <a:p>
            <a:pPr algn="l">
              <a:lnSpc>
                <a:spcPts val="5759"/>
              </a:lnSpc>
            </a:pPr>
            <a:r>
              <a:rPr lang="en-US" sz="5400" b="1" dirty="0">
                <a:solidFill>
                  <a:srgbClr val="16458C"/>
                </a:solidFill>
                <a:latin typeface="Cambria" panose="02040503050406030204" pitchFamily="18" charset="0"/>
                <a:ea typeface="Cambria" panose="02040503050406030204" pitchFamily="18" charset="0"/>
                <a:cs typeface="Cambria Bold"/>
                <a:sym typeface="Cambria Bold"/>
              </a:rPr>
              <a:t>Quy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trình</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mua</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hàng</a:t>
            </a:r>
            <a:endParaRPr lang="en-US" sz="5400" b="1" dirty="0">
              <a:solidFill>
                <a:srgbClr val="16458C"/>
              </a:solidFill>
              <a:latin typeface="Cambria" panose="02040503050406030204" pitchFamily="18" charset="0"/>
              <a:ea typeface="Cambria" panose="02040503050406030204" pitchFamily="18" charset="0"/>
              <a:cs typeface="Cambria Bold"/>
              <a:sym typeface="Cambria Bold"/>
            </a:endParaRPr>
          </a:p>
        </p:txBody>
      </p:sp>
      <p:grpSp>
        <p:nvGrpSpPr>
          <p:cNvPr id="6" name="Group 6"/>
          <p:cNvGrpSpPr/>
          <p:nvPr/>
        </p:nvGrpSpPr>
        <p:grpSpPr>
          <a:xfrm>
            <a:off x="711680" y="3211149"/>
            <a:ext cx="1368870" cy="2345774"/>
            <a:chOff x="0" y="0"/>
            <a:chExt cx="1825160" cy="3127698"/>
          </a:xfrm>
        </p:grpSpPr>
        <p:sp>
          <p:nvSpPr>
            <p:cNvPr id="7" name="Freeform 7"/>
            <p:cNvSpPr/>
            <p:nvPr/>
          </p:nvSpPr>
          <p:spPr>
            <a:xfrm>
              <a:off x="0" y="0"/>
              <a:ext cx="1825117" cy="3127756"/>
            </a:xfrm>
            <a:custGeom>
              <a:avLst/>
              <a:gdLst/>
              <a:ahLst/>
              <a:cxnLst/>
              <a:rect l="l" t="t" r="r" b="b"/>
              <a:pathLst>
                <a:path w="1825117" h="3127756">
                  <a:moveTo>
                    <a:pt x="0" y="0"/>
                  </a:moveTo>
                  <a:lnTo>
                    <a:pt x="1825117" y="0"/>
                  </a:lnTo>
                  <a:lnTo>
                    <a:pt x="1825117" y="3127756"/>
                  </a:lnTo>
                  <a:lnTo>
                    <a:pt x="0" y="3127756"/>
                  </a:lnTo>
                  <a:lnTo>
                    <a:pt x="0" y="0"/>
                  </a:lnTo>
                  <a:close/>
                </a:path>
              </a:pathLst>
            </a:custGeom>
            <a:blipFill>
              <a:blip r:embed="rId5"/>
              <a:stretch>
                <a:fillRect r="-2" b="1"/>
              </a:stretch>
            </a:blipFill>
          </p:spPr>
        </p:sp>
      </p:grpSp>
      <p:sp>
        <p:nvSpPr>
          <p:cNvPr id="8" name="TextBox 8"/>
          <p:cNvSpPr txBox="1"/>
          <p:nvPr/>
        </p:nvSpPr>
        <p:spPr>
          <a:xfrm>
            <a:off x="160228" y="5801503"/>
            <a:ext cx="2849078" cy="1641475"/>
          </a:xfrm>
          <a:prstGeom prst="rect">
            <a:avLst/>
          </a:prstGeom>
        </p:spPr>
        <p:txBody>
          <a:bodyPr lIns="0" tIns="0" rIns="0" bIns="0" rtlCol="0" anchor="t">
            <a:spAutoFit/>
          </a:bodyPr>
          <a:lstStyle/>
          <a:p>
            <a:pPr algn="ctr">
              <a:lnSpc>
                <a:spcPts val="3240"/>
              </a:lnSpc>
            </a:pPr>
            <a:r>
              <a:rPr lang="en-US" sz="2700">
                <a:solidFill>
                  <a:srgbClr val="000000"/>
                </a:solidFill>
                <a:latin typeface="Cambria" panose="02040503050406030204" pitchFamily="18" charset="0"/>
                <a:ea typeface="Cambria" panose="02040503050406030204" pitchFamily="18" charset="0"/>
                <a:cs typeface="Cambria"/>
                <a:sym typeface="Cambria"/>
              </a:rPr>
              <a:t>Truy cập website và đăng nhập (Đăng ký nếu chưa có tài khoản)</a:t>
            </a:r>
          </a:p>
        </p:txBody>
      </p:sp>
      <p:sp>
        <p:nvSpPr>
          <p:cNvPr id="9" name="Freeform 9"/>
          <p:cNvSpPr/>
          <p:nvPr/>
        </p:nvSpPr>
        <p:spPr>
          <a:xfrm>
            <a:off x="1206836" y="7692918"/>
            <a:ext cx="645807" cy="678741"/>
          </a:xfrm>
          <a:custGeom>
            <a:avLst/>
            <a:gdLst/>
            <a:ahLst/>
            <a:cxnLst/>
            <a:rect l="l" t="t" r="r" b="b"/>
            <a:pathLst>
              <a:path w="645807" h="678741">
                <a:moveTo>
                  <a:pt x="0" y="0"/>
                </a:moveTo>
                <a:lnTo>
                  <a:pt x="645806" y="0"/>
                </a:lnTo>
                <a:lnTo>
                  <a:pt x="645806" y="678741"/>
                </a:lnTo>
                <a:lnTo>
                  <a:pt x="0" y="67874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1311169" y="7844429"/>
            <a:ext cx="409522" cy="320601"/>
          </a:xfrm>
          <a:prstGeom prst="rect">
            <a:avLst/>
          </a:prstGeom>
        </p:spPr>
        <p:txBody>
          <a:bodyPr lIns="0" tIns="0" rIns="0" bIns="0" rtlCol="0" anchor="t">
            <a:spAutoFit/>
          </a:bodyPr>
          <a:lstStyle/>
          <a:p>
            <a:pPr algn="l">
              <a:lnSpc>
                <a:spcPts val="2520"/>
              </a:lnSpc>
            </a:pPr>
            <a:r>
              <a:rPr lang="en-US" sz="2100" b="1">
                <a:solidFill>
                  <a:srgbClr val="FFFFFF"/>
                </a:solidFill>
                <a:latin typeface="Cambria" panose="02040503050406030204" pitchFamily="18" charset="0"/>
                <a:ea typeface="Cambria" panose="02040503050406030204" pitchFamily="18" charset="0"/>
                <a:cs typeface="Cambria Bold"/>
                <a:sym typeface="Cambria Bold"/>
              </a:rPr>
              <a:t>01</a:t>
            </a:r>
          </a:p>
        </p:txBody>
      </p:sp>
      <p:sp>
        <p:nvSpPr>
          <p:cNvPr id="11" name="TextBox 11"/>
          <p:cNvSpPr txBox="1"/>
          <p:nvPr/>
        </p:nvSpPr>
        <p:spPr>
          <a:xfrm>
            <a:off x="447750" y="8644243"/>
            <a:ext cx="2728762" cy="410369"/>
          </a:xfrm>
          <a:prstGeom prst="rect">
            <a:avLst/>
          </a:prstGeom>
        </p:spPr>
        <p:txBody>
          <a:bodyPr lIns="0" tIns="0" rIns="0" bIns="0" rtlCol="0" anchor="t">
            <a:spAutoFit/>
          </a:bodyPr>
          <a:lstStyle/>
          <a:p>
            <a:pPr algn="l">
              <a:lnSpc>
                <a:spcPts val="3240"/>
              </a:lnSpc>
            </a:pPr>
            <a:r>
              <a:rPr lang="en-US" sz="2700" b="1">
                <a:solidFill>
                  <a:srgbClr val="000000"/>
                </a:solidFill>
                <a:latin typeface="Cambria" panose="02040503050406030204" pitchFamily="18" charset="0"/>
                <a:ea typeface="Cambria" panose="02040503050406030204" pitchFamily="18" charset="0"/>
                <a:cs typeface="Cambria Bold"/>
                <a:sym typeface="Cambria Bold"/>
              </a:rPr>
              <a:t>KHÁCH HÀNG</a:t>
            </a:r>
          </a:p>
        </p:txBody>
      </p:sp>
      <p:sp>
        <p:nvSpPr>
          <p:cNvPr id="12" name="Freeform 12"/>
          <p:cNvSpPr/>
          <p:nvPr/>
        </p:nvSpPr>
        <p:spPr>
          <a:xfrm>
            <a:off x="3749674" y="6416528"/>
            <a:ext cx="1449168" cy="1520161"/>
          </a:xfrm>
          <a:custGeom>
            <a:avLst/>
            <a:gdLst/>
            <a:ahLst/>
            <a:cxnLst/>
            <a:rect l="l" t="t" r="r" b="b"/>
            <a:pathLst>
              <a:path w="1449168" h="1520161">
                <a:moveTo>
                  <a:pt x="0" y="0"/>
                </a:moveTo>
                <a:lnTo>
                  <a:pt x="1449168" y="0"/>
                </a:lnTo>
                <a:lnTo>
                  <a:pt x="1449168" y="1520161"/>
                </a:lnTo>
                <a:lnTo>
                  <a:pt x="0" y="152016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13"/>
          <p:cNvSpPr txBox="1"/>
          <p:nvPr/>
        </p:nvSpPr>
        <p:spPr>
          <a:xfrm>
            <a:off x="3154353" y="4316445"/>
            <a:ext cx="2488872" cy="1231106"/>
          </a:xfrm>
          <a:prstGeom prst="rect">
            <a:avLst/>
          </a:prstGeom>
        </p:spPr>
        <p:txBody>
          <a:bodyPr lIns="0" tIns="0" rIns="0" bIns="0" rtlCol="0" anchor="t">
            <a:spAutoFit/>
          </a:bodyPr>
          <a:lstStyle/>
          <a:p>
            <a:pPr algn="ctr">
              <a:lnSpc>
                <a:spcPts val="3240"/>
              </a:lnSpc>
            </a:pPr>
            <a:r>
              <a:rPr lang="en-US" sz="2700">
                <a:solidFill>
                  <a:srgbClr val="000000"/>
                </a:solidFill>
                <a:latin typeface="Cambria" panose="02040503050406030204" pitchFamily="18" charset="0"/>
                <a:ea typeface="Cambria" panose="02040503050406030204" pitchFamily="18" charset="0"/>
                <a:cs typeface="Cambria"/>
                <a:sym typeface="Cambria"/>
              </a:rPr>
              <a:t>Chọn sản phẩm muốn mua vào giỏ hàng</a:t>
            </a:r>
          </a:p>
        </p:txBody>
      </p:sp>
      <p:sp>
        <p:nvSpPr>
          <p:cNvPr id="14" name="Freeform 14"/>
          <p:cNvSpPr/>
          <p:nvPr/>
        </p:nvSpPr>
        <p:spPr>
          <a:xfrm>
            <a:off x="4103921" y="3498111"/>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5" name="TextBox 15"/>
          <p:cNvSpPr txBox="1"/>
          <p:nvPr/>
        </p:nvSpPr>
        <p:spPr>
          <a:xfrm>
            <a:off x="4200579" y="3634749"/>
            <a:ext cx="731520" cy="320601"/>
          </a:xfrm>
          <a:prstGeom prst="rect">
            <a:avLst/>
          </a:prstGeom>
        </p:spPr>
        <p:txBody>
          <a:bodyPr lIns="0" tIns="0" rIns="0" bIns="0" rtlCol="0" anchor="t">
            <a:spAutoFit/>
          </a:bodyPr>
          <a:lstStyle/>
          <a:p>
            <a:pPr algn="l">
              <a:lnSpc>
                <a:spcPts val="2520"/>
              </a:lnSpc>
            </a:pPr>
            <a:r>
              <a:rPr lang="en-US" sz="2100" b="1">
                <a:solidFill>
                  <a:srgbClr val="FFFFFF"/>
                </a:solidFill>
                <a:latin typeface="Cambria" panose="02040503050406030204" pitchFamily="18" charset="0"/>
                <a:ea typeface="Cambria" panose="02040503050406030204" pitchFamily="18" charset="0"/>
                <a:cs typeface="Cambria Bold"/>
                <a:sym typeface="Cambria Bold"/>
              </a:rPr>
              <a:t>02</a:t>
            </a:r>
          </a:p>
        </p:txBody>
      </p:sp>
      <p:sp>
        <p:nvSpPr>
          <p:cNvPr id="16" name="Freeform 16"/>
          <p:cNvSpPr/>
          <p:nvPr/>
        </p:nvSpPr>
        <p:spPr>
          <a:xfrm>
            <a:off x="6717028" y="3349443"/>
            <a:ext cx="1730691" cy="2425391"/>
          </a:xfrm>
          <a:custGeom>
            <a:avLst/>
            <a:gdLst/>
            <a:ahLst/>
            <a:cxnLst/>
            <a:rect l="l" t="t" r="r" b="b"/>
            <a:pathLst>
              <a:path w="1730691" h="2425391">
                <a:moveTo>
                  <a:pt x="0" y="0"/>
                </a:moveTo>
                <a:lnTo>
                  <a:pt x="1730691" y="0"/>
                </a:lnTo>
                <a:lnTo>
                  <a:pt x="1730691" y="2425391"/>
                </a:lnTo>
                <a:lnTo>
                  <a:pt x="0" y="242539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7" name="TextBox 17"/>
          <p:cNvSpPr txBox="1"/>
          <p:nvPr/>
        </p:nvSpPr>
        <p:spPr>
          <a:xfrm>
            <a:off x="6084710" y="5826135"/>
            <a:ext cx="2977249" cy="1231106"/>
          </a:xfrm>
          <a:prstGeom prst="rect">
            <a:avLst/>
          </a:prstGeom>
        </p:spPr>
        <p:txBody>
          <a:bodyPr lIns="0" tIns="0" rIns="0" bIns="0" rtlCol="0" anchor="t">
            <a:spAutoFit/>
          </a:bodyPr>
          <a:lstStyle/>
          <a:p>
            <a:pPr algn="ctr">
              <a:lnSpc>
                <a:spcPts val="3240"/>
              </a:lnSpc>
            </a:pPr>
            <a:r>
              <a:rPr lang="en-US" sz="2700" dirty="0" err="1">
                <a:solidFill>
                  <a:srgbClr val="000000"/>
                </a:solidFill>
                <a:latin typeface="Cambria" panose="02040503050406030204" pitchFamily="18" charset="0"/>
                <a:ea typeface="Cambria" panose="02040503050406030204" pitchFamily="18" charset="0"/>
                <a:cs typeface="Cambria"/>
                <a:sym typeface="Cambria"/>
              </a:rPr>
              <a:t>Thực</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hiện</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đặt</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hàng</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sau</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khi</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xác</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định</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số</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lượng</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muốn</a:t>
            </a:r>
            <a:r>
              <a:rPr lang="en-US" sz="2700" dirty="0">
                <a:solidFill>
                  <a:srgbClr val="000000"/>
                </a:solidFill>
                <a:latin typeface="Cambria" panose="02040503050406030204" pitchFamily="18" charset="0"/>
                <a:ea typeface="Cambria" panose="02040503050406030204" pitchFamily="18" charset="0"/>
                <a:cs typeface="Cambria"/>
                <a:sym typeface="Cambria"/>
              </a:rPr>
              <a:t> </a:t>
            </a:r>
            <a:r>
              <a:rPr lang="en-US" sz="2700" dirty="0" err="1">
                <a:solidFill>
                  <a:srgbClr val="000000"/>
                </a:solidFill>
                <a:latin typeface="Cambria" panose="02040503050406030204" pitchFamily="18" charset="0"/>
                <a:ea typeface="Cambria" panose="02040503050406030204" pitchFamily="18" charset="0"/>
                <a:cs typeface="Cambria"/>
                <a:sym typeface="Cambria"/>
              </a:rPr>
              <a:t>mua</a:t>
            </a:r>
            <a:endParaRPr lang="en-US" sz="2700" dirty="0">
              <a:solidFill>
                <a:srgbClr val="000000"/>
              </a:solidFill>
              <a:latin typeface="Cambria" panose="02040503050406030204" pitchFamily="18" charset="0"/>
              <a:ea typeface="Cambria" panose="02040503050406030204" pitchFamily="18" charset="0"/>
              <a:cs typeface="Cambria"/>
              <a:sym typeface="Cambria"/>
            </a:endParaRPr>
          </a:p>
        </p:txBody>
      </p:sp>
      <p:sp>
        <p:nvSpPr>
          <p:cNvPr id="18" name="TextBox 18"/>
          <p:cNvSpPr txBox="1"/>
          <p:nvPr/>
        </p:nvSpPr>
        <p:spPr>
          <a:xfrm>
            <a:off x="7150605" y="7900603"/>
            <a:ext cx="586501" cy="320601"/>
          </a:xfrm>
          <a:prstGeom prst="rect">
            <a:avLst/>
          </a:prstGeom>
        </p:spPr>
        <p:txBody>
          <a:bodyPr lIns="0" tIns="0" rIns="0" bIns="0" rtlCol="0" anchor="t">
            <a:spAutoFit/>
          </a:bodyPr>
          <a:lstStyle/>
          <a:p>
            <a:pPr algn="l">
              <a:lnSpc>
                <a:spcPts val="2520"/>
              </a:lnSpc>
            </a:pPr>
            <a:r>
              <a:rPr lang="en-US" sz="2100" b="1">
                <a:solidFill>
                  <a:srgbClr val="FFFFFF"/>
                </a:solidFill>
                <a:latin typeface="Cambria" panose="02040503050406030204" pitchFamily="18" charset="0"/>
                <a:ea typeface="Cambria" panose="02040503050406030204" pitchFamily="18" charset="0"/>
                <a:cs typeface="Cambria Bold"/>
                <a:sym typeface="Cambria Bold"/>
              </a:rPr>
              <a:t>03</a:t>
            </a:r>
          </a:p>
        </p:txBody>
      </p:sp>
      <p:sp>
        <p:nvSpPr>
          <p:cNvPr id="19" name="Freeform 19"/>
          <p:cNvSpPr/>
          <p:nvPr/>
        </p:nvSpPr>
        <p:spPr>
          <a:xfrm>
            <a:off x="10881281" y="3534734"/>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TextBox 20"/>
          <p:cNvSpPr txBox="1"/>
          <p:nvPr/>
        </p:nvSpPr>
        <p:spPr>
          <a:xfrm>
            <a:off x="9628316" y="4410705"/>
            <a:ext cx="3123871" cy="1641475"/>
          </a:xfrm>
          <a:prstGeom prst="rect">
            <a:avLst/>
          </a:prstGeom>
        </p:spPr>
        <p:txBody>
          <a:bodyPr lIns="0" tIns="0" rIns="0" bIns="0" rtlCol="0" anchor="t">
            <a:spAutoFit/>
          </a:bodyPr>
          <a:lstStyle/>
          <a:p>
            <a:pPr algn="ctr">
              <a:lnSpc>
                <a:spcPts val="3240"/>
              </a:lnSpc>
            </a:pPr>
            <a:r>
              <a:rPr lang="en-US" sz="2700">
                <a:solidFill>
                  <a:srgbClr val="000000"/>
                </a:solidFill>
                <a:latin typeface="Cambria" panose="02040503050406030204" pitchFamily="18" charset="0"/>
                <a:ea typeface="Cambria" panose="02040503050406030204" pitchFamily="18" charset="0"/>
                <a:cs typeface="Cambria"/>
                <a:sym typeface="Cambria"/>
              </a:rPr>
              <a:t>Điền và kiểm tra thông tin đặt hàng, chọn phương thức thanh toán</a:t>
            </a:r>
          </a:p>
        </p:txBody>
      </p:sp>
      <p:sp>
        <p:nvSpPr>
          <p:cNvPr id="21" name="Freeform 21"/>
          <p:cNvSpPr/>
          <p:nvPr/>
        </p:nvSpPr>
        <p:spPr>
          <a:xfrm>
            <a:off x="10393671" y="6454245"/>
            <a:ext cx="1488402" cy="1688928"/>
          </a:xfrm>
          <a:custGeom>
            <a:avLst/>
            <a:gdLst/>
            <a:ahLst/>
            <a:cxnLst/>
            <a:rect l="l" t="t" r="r" b="b"/>
            <a:pathLst>
              <a:path w="1488402" h="1688928">
                <a:moveTo>
                  <a:pt x="0" y="0"/>
                </a:moveTo>
                <a:lnTo>
                  <a:pt x="1488402" y="0"/>
                </a:lnTo>
                <a:lnTo>
                  <a:pt x="1488402" y="1688928"/>
                </a:lnTo>
                <a:lnTo>
                  <a:pt x="0" y="168892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2" name="Freeform 22"/>
          <p:cNvSpPr/>
          <p:nvPr/>
        </p:nvSpPr>
        <p:spPr>
          <a:xfrm>
            <a:off x="13620525" y="3478344"/>
            <a:ext cx="1604562" cy="1744498"/>
          </a:xfrm>
          <a:custGeom>
            <a:avLst/>
            <a:gdLst/>
            <a:ahLst/>
            <a:cxnLst/>
            <a:rect l="l" t="t" r="r" b="b"/>
            <a:pathLst>
              <a:path w="1604562" h="1744498">
                <a:moveTo>
                  <a:pt x="0" y="0"/>
                </a:moveTo>
                <a:lnTo>
                  <a:pt x="1604562" y="0"/>
                </a:lnTo>
                <a:lnTo>
                  <a:pt x="1604562" y="1744498"/>
                </a:lnTo>
                <a:lnTo>
                  <a:pt x="0" y="174449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23" name="TextBox 23"/>
          <p:cNvSpPr txBox="1"/>
          <p:nvPr/>
        </p:nvSpPr>
        <p:spPr>
          <a:xfrm>
            <a:off x="13624564" y="5518701"/>
            <a:ext cx="1684416" cy="1231106"/>
          </a:xfrm>
          <a:prstGeom prst="rect">
            <a:avLst/>
          </a:prstGeom>
        </p:spPr>
        <p:txBody>
          <a:bodyPr lIns="0" tIns="0" rIns="0" bIns="0" rtlCol="0" anchor="t">
            <a:spAutoFit/>
          </a:bodyPr>
          <a:lstStyle/>
          <a:p>
            <a:pPr algn="ctr">
              <a:lnSpc>
                <a:spcPts val="3240"/>
              </a:lnSpc>
            </a:pPr>
            <a:r>
              <a:rPr lang="en-US" sz="2700">
                <a:solidFill>
                  <a:srgbClr val="000000"/>
                </a:solidFill>
                <a:latin typeface="Cambria" panose="02040503050406030204" pitchFamily="18" charset="0"/>
                <a:ea typeface="Cambria" panose="02040503050406030204" pitchFamily="18" charset="0"/>
                <a:cs typeface="Cambria"/>
                <a:sym typeface="Cambria"/>
              </a:rPr>
              <a:t>Theo dõi trạng thái đơn hàng</a:t>
            </a:r>
          </a:p>
        </p:txBody>
      </p:sp>
      <p:sp>
        <p:nvSpPr>
          <p:cNvPr id="24" name="Freeform 24"/>
          <p:cNvSpPr/>
          <p:nvPr/>
        </p:nvSpPr>
        <p:spPr>
          <a:xfrm>
            <a:off x="14157803" y="7646181"/>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Freeform 25"/>
          <p:cNvSpPr/>
          <p:nvPr/>
        </p:nvSpPr>
        <p:spPr>
          <a:xfrm>
            <a:off x="16648367" y="3505064"/>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6" name="TextBox 26"/>
          <p:cNvSpPr txBox="1"/>
          <p:nvPr/>
        </p:nvSpPr>
        <p:spPr>
          <a:xfrm>
            <a:off x="15971922" y="4485759"/>
            <a:ext cx="1993020" cy="2872581"/>
          </a:xfrm>
          <a:prstGeom prst="rect">
            <a:avLst/>
          </a:prstGeom>
        </p:spPr>
        <p:txBody>
          <a:bodyPr lIns="0" tIns="0" rIns="0" bIns="0" rtlCol="0" anchor="t">
            <a:spAutoFit/>
          </a:bodyPr>
          <a:lstStyle/>
          <a:p>
            <a:pPr algn="ctr">
              <a:lnSpc>
                <a:spcPts val="3240"/>
              </a:lnSpc>
            </a:pPr>
            <a:r>
              <a:rPr lang="en-US" sz="2700">
                <a:solidFill>
                  <a:srgbClr val="000000"/>
                </a:solidFill>
                <a:latin typeface="Cambria" panose="02040503050406030204" pitchFamily="18" charset="0"/>
                <a:ea typeface="Cambria" panose="02040503050406030204" pitchFamily="18" charset="0"/>
                <a:cs typeface="Cambria"/>
                <a:sym typeface="Cambria"/>
              </a:rPr>
              <a:t>CH xác nhận đã giao hàng cho KH, chuyển trạng thái đơn hàng thành đã giao</a:t>
            </a:r>
          </a:p>
        </p:txBody>
      </p:sp>
      <p:grpSp>
        <p:nvGrpSpPr>
          <p:cNvPr id="27" name="Group 27"/>
          <p:cNvGrpSpPr/>
          <p:nvPr/>
        </p:nvGrpSpPr>
        <p:grpSpPr>
          <a:xfrm>
            <a:off x="16140212" y="7369077"/>
            <a:ext cx="1916171" cy="1248497"/>
            <a:chOff x="0" y="0"/>
            <a:chExt cx="2554894" cy="1664662"/>
          </a:xfrm>
        </p:grpSpPr>
        <p:sp>
          <p:nvSpPr>
            <p:cNvPr id="28" name="Freeform 28"/>
            <p:cNvSpPr/>
            <p:nvPr/>
          </p:nvSpPr>
          <p:spPr>
            <a:xfrm>
              <a:off x="0" y="0"/>
              <a:ext cx="2554859" cy="1664716"/>
            </a:xfrm>
            <a:custGeom>
              <a:avLst/>
              <a:gdLst/>
              <a:ahLst/>
              <a:cxnLst/>
              <a:rect l="l" t="t" r="r" b="b"/>
              <a:pathLst>
                <a:path w="2554859" h="1664716">
                  <a:moveTo>
                    <a:pt x="0" y="0"/>
                  </a:moveTo>
                  <a:lnTo>
                    <a:pt x="2554859" y="0"/>
                  </a:lnTo>
                  <a:lnTo>
                    <a:pt x="2554859" y="1664716"/>
                  </a:lnTo>
                  <a:lnTo>
                    <a:pt x="0" y="1664716"/>
                  </a:lnTo>
                  <a:lnTo>
                    <a:pt x="0" y="0"/>
                  </a:lnTo>
                  <a:close/>
                </a:path>
              </a:pathLst>
            </a:custGeom>
            <a:blipFill>
              <a:blip r:embed="rId16"/>
              <a:stretch>
                <a:fillRect r="-1" b="3"/>
              </a:stretch>
            </a:blipFill>
          </p:spPr>
        </p:sp>
      </p:grpSp>
      <p:sp>
        <p:nvSpPr>
          <p:cNvPr id="29" name="TextBox 29"/>
          <p:cNvSpPr txBox="1"/>
          <p:nvPr/>
        </p:nvSpPr>
        <p:spPr>
          <a:xfrm>
            <a:off x="10967542" y="3634749"/>
            <a:ext cx="605436" cy="320601"/>
          </a:xfrm>
          <a:prstGeom prst="rect">
            <a:avLst/>
          </a:prstGeom>
        </p:spPr>
        <p:txBody>
          <a:bodyPr lIns="0" tIns="0" rIns="0" bIns="0" rtlCol="0" anchor="t">
            <a:spAutoFit/>
          </a:bodyPr>
          <a:lstStyle/>
          <a:p>
            <a:pPr algn="l">
              <a:lnSpc>
                <a:spcPts val="2520"/>
              </a:lnSpc>
            </a:pPr>
            <a:r>
              <a:rPr lang="en-US" sz="2100" b="1">
                <a:solidFill>
                  <a:srgbClr val="FFFFFF"/>
                </a:solidFill>
                <a:latin typeface="Cambria" panose="02040503050406030204" pitchFamily="18" charset="0"/>
                <a:ea typeface="Cambria" panose="02040503050406030204" pitchFamily="18" charset="0"/>
                <a:cs typeface="Cambria Bold"/>
                <a:sym typeface="Cambria Bold"/>
              </a:rPr>
              <a:t>04</a:t>
            </a:r>
          </a:p>
        </p:txBody>
      </p:sp>
      <p:sp>
        <p:nvSpPr>
          <p:cNvPr id="30" name="TextBox 30"/>
          <p:cNvSpPr txBox="1"/>
          <p:nvPr/>
        </p:nvSpPr>
        <p:spPr>
          <a:xfrm>
            <a:off x="14253972" y="7768846"/>
            <a:ext cx="534735" cy="320601"/>
          </a:xfrm>
          <a:prstGeom prst="rect">
            <a:avLst/>
          </a:prstGeom>
        </p:spPr>
        <p:txBody>
          <a:bodyPr lIns="0" tIns="0" rIns="0" bIns="0" rtlCol="0" anchor="t">
            <a:spAutoFit/>
          </a:bodyPr>
          <a:lstStyle/>
          <a:p>
            <a:pPr algn="l">
              <a:lnSpc>
                <a:spcPts val="2520"/>
              </a:lnSpc>
            </a:pPr>
            <a:r>
              <a:rPr lang="en-US" sz="2100" b="1">
                <a:solidFill>
                  <a:srgbClr val="FFFFFF"/>
                </a:solidFill>
                <a:latin typeface="Cambria" panose="02040503050406030204" pitchFamily="18" charset="0"/>
                <a:ea typeface="Cambria" panose="02040503050406030204" pitchFamily="18" charset="0"/>
                <a:cs typeface="Cambria Bold"/>
                <a:sym typeface="Cambria Bold"/>
              </a:rPr>
              <a:t>05</a:t>
            </a:r>
          </a:p>
        </p:txBody>
      </p:sp>
      <p:sp>
        <p:nvSpPr>
          <p:cNvPr id="31" name="TextBox 31"/>
          <p:cNvSpPr txBox="1"/>
          <p:nvPr/>
        </p:nvSpPr>
        <p:spPr>
          <a:xfrm>
            <a:off x="16746631" y="3634748"/>
            <a:ext cx="541751" cy="320601"/>
          </a:xfrm>
          <a:prstGeom prst="rect">
            <a:avLst/>
          </a:prstGeom>
        </p:spPr>
        <p:txBody>
          <a:bodyPr lIns="0" tIns="0" rIns="0" bIns="0" rtlCol="0" anchor="t">
            <a:spAutoFit/>
          </a:bodyPr>
          <a:lstStyle/>
          <a:p>
            <a:pPr algn="l">
              <a:lnSpc>
                <a:spcPts val="2520"/>
              </a:lnSpc>
            </a:pPr>
            <a:r>
              <a:rPr lang="en-US" sz="2100" b="1">
                <a:solidFill>
                  <a:srgbClr val="FFFFFF"/>
                </a:solidFill>
                <a:latin typeface="Cambria" panose="02040503050406030204" pitchFamily="18" charset="0"/>
                <a:ea typeface="Cambria" panose="02040503050406030204" pitchFamily="18" charset="0"/>
                <a:cs typeface="Cambria Bold"/>
                <a:sym typeface="Cambria Bold"/>
              </a:rPr>
              <a:t>06</a:t>
            </a:r>
          </a:p>
        </p:txBody>
      </p:sp>
      <p:sp>
        <p:nvSpPr>
          <p:cNvPr id="32" name="Freeform 32"/>
          <p:cNvSpPr/>
          <p:nvPr/>
        </p:nvSpPr>
        <p:spPr>
          <a:xfrm>
            <a:off x="5782257" y="4459089"/>
            <a:ext cx="314676" cy="3225992"/>
          </a:xfrm>
          <a:custGeom>
            <a:avLst/>
            <a:gdLst/>
            <a:ahLst/>
            <a:cxnLst/>
            <a:rect l="l" t="t" r="r" b="b"/>
            <a:pathLst>
              <a:path w="314676" h="3225992">
                <a:moveTo>
                  <a:pt x="0" y="0"/>
                </a:moveTo>
                <a:lnTo>
                  <a:pt x="314676" y="0"/>
                </a:lnTo>
                <a:lnTo>
                  <a:pt x="314676" y="3225992"/>
                </a:lnTo>
                <a:lnTo>
                  <a:pt x="0" y="322599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3" name="Freeform 33"/>
          <p:cNvSpPr/>
          <p:nvPr/>
        </p:nvSpPr>
        <p:spPr>
          <a:xfrm>
            <a:off x="12895725" y="4459089"/>
            <a:ext cx="314676" cy="3225992"/>
          </a:xfrm>
          <a:custGeom>
            <a:avLst/>
            <a:gdLst/>
            <a:ahLst/>
            <a:cxnLst/>
            <a:rect l="l" t="t" r="r" b="b"/>
            <a:pathLst>
              <a:path w="314676" h="3225992">
                <a:moveTo>
                  <a:pt x="0" y="0"/>
                </a:moveTo>
                <a:lnTo>
                  <a:pt x="314676" y="0"/>
                </a:lnTo>
                <a:lnTo>
                  <a:pt x="314676" y="3225992"/>
                </a:lnTo>
                <a:lnTo>
                  <a:pt x="0" y="322599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4" name="Freeform 34"/>
          <p:cNvSpPr/>
          <p:nvPr/>
        </p:nvSpPr>
        <p:spPr>
          <a:xfrm>
            <a:off x="9164969" y="4437772"/>
            <a:ext cx="345858" cy="3268621"/>
          </a:xfrm>
          <a:custGeom>
            <a:avLst/>
            <a:gdLst/>
            <a:ahLst/>
            <a:cxnLst/>
            <a:rect l="l" t="t" r="r" b="b"/>
            <a:pathLst>
              <a:path w="345858" h="3268621">
                <a:moveTo>
                  <a:pt x="0" y="0"/>
                </a:moveTo>
                <a:lnTo>
                  <a:pt x="345858" y="0"/>
                </a:lnTo>
                <a:lnTo>
                  <a:pt x="345858" y="3268622"/>
                </a:lnTo>
                <a:lnTo>
                  <a:pt x="0" y="326862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35" name="Freeform 35"/>
          <p:cNvSpPr/>
          <p:nvPr/>
        </p:nvSpPr>
        <p:spPr>
          <a:xfrm>
            <a:off x="15487384" y="4544595"/>
            <a:ext cx="345858" cy="3268622"/>
          </a:xfrm>
          <a:custGeom>
            <a:avLst/>
            <a:gdLst/>
            <a:ahLst/>
            <a:cxnLst/>
            <a:rect l="l" t="t" r="r" b="b"/>
            <a:pathLst>
              <a:path w="345858" h="3268622">
                <a:moveTo>
                  <a:pt x="0" y="0"/>
                </a:moveTo>
                <a:lnTo>
                  <a:pt x="345859" y="0"/>
                </a:lnTo>
                <a:lnTo>
                  <a:pt x="345859" y="3268621"/>
                </a:lnTo>
                <a:lnTo>
                  <a:pt x="0" y="3268621"/>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36" name="Freeform 36"/>
          <p:cNvSpPr/>
          <p:nvPr/>
        </p:nvSpPr>
        <p:spPr>
          <a:xfrm>
            <a:off x="2832062" y="4473555"/>
            <a:ext cx="345858" cy="3268622"/>
          </a:xfrm>
          <a:custGeom>
            <a:avLst/>
            <a:gdLst/>
            <a:ahLst/>
            <a:cxnLst/>
            <a:rect l="l" t="t" r="r" b="b"/>
            <a:pathLst>
              <a:path w="345858" h="3268622">
                <a:moveTo>
                  <a:pt x="0" y="0"/>
                </a:moveTo>
                <a:lnTo>
                  <a:pt x="345858" y="0"/>
                </a:lnTo>
                <a:lnTo>
                  <a:pt x="345858" y="3268622"/>
                </a:lnTo>
                <a:lnTo>
                  <a:pt x="0" y="326862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cxnSp>
        <p:nvCxnSpPr>
          <p:cNvPr id="37" name="Straight Connector 36">
            <a:extLst>
              <a:ext uri="{FF2B5EF4-FFF2-40B4-BE49-F238E27FC236}">
                <a16:creationId xmlns:a16="http://schemas.microsoft.com/office/drawing/2014/main" id="{0D4C046F-1859-0B4B-6341-A5CDFFCDC9AC}"/>
              </a:ext>
            </a:extLst>
          </p:cNvPr>
          <p:cNvCxnSpPr>
            <a:cxnSpLocks/>
          </p:cNvCxnSpPr>
          <p:nvPr/>
        </p:nvCxnSpPr>
        <p:spPr>
          <a:xfrm>
            <a:off x="711680" y="2312649"/>
            <a:ext cx="0" cy="743793"/>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627578" y="2371787"/>
            <a:ext cx="1028643" cy="1057214"/>
            <a:chOff x="0" y="-19009"/>
            <a:chExt cx="1371600" cy="1428709"/>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sp>
        <p:sp>
          <p:nvSpPr>
            <p:cNvPr id="5" name="TextBox 5"/>
            <p:cNvSpPr txBox="1"/>
            <p:nvPr/>
          </p:nvSpPr>
          <p:spPr>
            <a:xfrm>
              <a:off x="76" y="-19009"/>
              <a:ext cx="1371524" cy="1428708"/>
            </a:xfrm>
            <a:prstGeom prst="rect">
              <a:avLst/>
            </a:prstGeom>
            <a:ln>
              <a:solidFill>
                <a:schemeClr val="bg1"/>
              </a:solidFill>
            </a:ln>
          </p:spPr>
          <p:txBody>
            <a:bodyPr lIns="50800" tIns="50800" rIns="50800" bIns="50800" rtlCol="0" anchor="ctr"/>
            <a:lstStyle/>
            <a:p>
              <a:pPr algn="ctr">
                <a:lnSpc>
                  <a:spcPts val="8640"/>
                </a:lnSpc>
              </a:pPr>
              <a:r>
                <a:rPr lang="en-US" sz="5400" b="1" dirty="0">
                  <a:solidFill>
                    <a:srgbClr val="FFFFFF"/>
                  </a:solidFill>
                  <a:latin typeface="Cambria" panose="02040503050406030204" pitchFamily="18" charset="0"/>
                  <a:ea typeface="Cambria" panose="02040503050406030204" pitchFamily="18" charset="0"/>
                  <a:cs typeface="Cambria Bold"/>
                  <a:sym typeface="Cambria Bold"/>
                </a:rPr>
                <a:t>4</a:t>
              </a:r>
            </a:p>
          </p:txBody>
        </p:sp>
      </p:grpSp>
      <p:sp>
        <p:nvSpPr>
          <p:cNvPr id="6" name="TextBox 6"/>
          <p:cNvSpPr txBox="1"/>
          <p:nvPr/>
        </p:nvSpPr>
        <p:spPr>
          <a:xfrm>
            <a:off x="1764853" y="2303799"/>
            <a:ext cx="7518123" cy="984629"/>
          </a:xfrm>
          <a:prstGeom prst="rect">
            <a:avLst/>
          </a:prstGeom>
        </p:spPr>
        <p:txBody>
          <a:bodyPr lIns="0" tIns="0" rIns="0" bIns="0" rtlCol="0" anchor="t">
            <a:spAutoFit/>
          </a:bodyPr>
          <a:lstStyle/>
          <a:p>
            <a:pPr algn="l">
              <a:lnSpc>
                <a:spcPts val="8640"/>
              </a:lnSpc>
            </a:pP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Kết</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quả</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đạt</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được</a:t>
            </a:r>
            <a:endParaRPr lang="en-US" sz="5400" b="1" dirty="0">
              <a:solidFill>
                <a:srgbClr val="16458C"/>
              </a:solidFill>
              <a:latin typeface="Cambria" panose="02040503050406030204" pitchFamily="18" charset="0"/>
              <a:ea typeface="Cambria" panose="02040503050406030204" pitchFamily="18" charset="0"/>
              <a:cs typeface="Cambria Bold"/>
              <a:sym typeface="Cambria Bold"/>
            </a:endParaRPr>
          </a:p>
        </p:txBody>
      </p:sp>
      <p:sp>
        <p:nvSpPr>
          <p:cNvPr id="9" name="TextBox 9"/>
          <p:cNvSpPr txBox="1"/>
          <p:nvPr/>
        </p:nvSpPr>
        <p:spPr>
          <a:xfrm>
            <a:off x="1747661" y="3490392"/>
            <a:ext cx="15919508" cy="1563761"/>
          </a:xfrm>
          <a:prstGeom prst="rect">
            <a:avLst/>
          </a:prstGeom>
        </p:spPr>
        <p:txBody>
          <a:bodyPr lIns="0" tIns="0" rIns="0" bIns="0" rtlCol="0" anchor="t">
            <a:spAutoFit/>
          </a:bodyPr>
          <a:lstStyle/>
          <a:p>
            <a:pPr algn="just">
              <a:lnSpc>
                <a:spcPts val="6480"/>
              </a:lnSpc>
            </a:pPr>
            <a:r>
              <a:rPr lang="en-US" sz="3600">
                <a:solidFill>
                  <a:srgbClr val="000000"/>
                </a:solidFill>
                <a:latin typeface="Cambria" panose="02040503050406030204" pitchFamily="18" charset="0"/>
                <a:ea typeface="Cambria" panose="02040503050406030204" pitchFamily="18" charset="0"/>
                <a:cs typeface="Cambria"/>
                <a:sym typeface="Cambria"/>
              </a:rPr>
              <a:t>Áp dụng được các kiến thức về phân tích thiết kế hệ thống, thiết kế cơ sở dữ liệu vào việc xây dựng website thương mại điện tử.</a:t>
            </a:r>
          </a:p>
        </p:txBody>
      </p:sp>
      <p:sp>
        <p:nvSpPr>
          <p:cNvPr id="10" name="TextBox 10"/>
          <p:cNvSpPr txBox="1"/>
          <p:nvPr/>
        </p:nvSpPr>
        <p:spPr>
          <a:xfrm>
            <a:off x="1764853" y="5363707"/>
            <a:ext cx="15902312" cy="1563761"/>
          </a:xfrm>
          <a:prstGeom prst="rect">
            <a:avLst/>
          </a:prstGeom>
        </p:spPr>
        <p:txBody>
          <a:bodyPr lIns="0" tIns="0" rIns="0" bIns="0" rtlCol="0" anchor="t">
            <a:spAutoFit/>
          </a:bodyPr>
          <a:lstStyle/>
          <a:p>
            <a:pPr algn="just">
              <a:lnSpc>
                <a:spcPts val="6480"/>
              </a:lnSpc>
            </a:pPr>
            <a:r>
              <a:rPr lang="en-US" sz="3600" dirty="0" err="1">
                <a:solidFill>
                  <a:srgbClr val="000000"/>
                </a:solidFill>
                <a:latin typeface="Cambria" panose="02040503050406030204" pitchFamily="18" charset="0"/>
                <a:ea typeface="Cambria" panose="02040503050406030204" pitchFamily="18" charset="0"/>
                <a:cs typeface="Cambria"/>
                <a:sym typeface="Cambria"/>
              </a:rPr>
              <a:t>Tìm</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hiểu</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và</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áp</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dụng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những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kỹ</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năng</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kiến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thức</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về</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VueJS</a:t>
            </a:r>
            <a:r>
              <a:rPr lang="en-US" sz="3600" dirty="0">
                <a:solidFill>
                  <a:srgbClr val="000000"/>
                </a:solidFill>
                <a:latin typeface="Cambria" panose="02040503050406030204" pitchFamily="18" charset="0"/>
                <a:ea typeface="Cambria" panose="02040503050406030204" pitchFamily="18" charset="0"/>
                <a:cs typeface="Cambria"/>
                <a:sym typeface="Cambria"/>
              </a:rPr>
              <a:t>, Spring Boot, </a:t>
            </a:r>
            <a:r>
              <a:rPr lang="en-US" sz="3600" dirty="0" err="1">
                <a:solidFill>
                  <a:srgbClr val="000000"/>
                </a:solidFill>
                <a:latin typeface="Cambria" panose="02040503050406030204" pitchFamily="18" charset="0"/>
                <a:ea typeface="Cambria" panose="02040503050406030204" pitchFamily="18" charset="0"/>
                <a:cs typeface="Cambria"/>
                <a:sym typeface="Cambria"/>
              </a:rPr>
              <a:t>PostgreSql</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để</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xây</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dựng</a:t>
            </a:r>
            <a:r>
              <a:rPr lang="en-US" sz="3600" dirty="0">
                <a:solidFill>
                  <a:srgbClr val="000000"/>
                </a:solidFill>
                <a:latin typeface="Cambria" panose="02040503050406030204" pitchFamily="18" charset="0"/>
                <a:ea typeface="Cambria" panose="02040503050406030204" pitchFamily="18" charset="0"/>
                <a:cs typeface="Cambria"/>
                <a:sym typeface="Cambria"/>
              </a:rPr>
              <a:t> website </a:t>
            </a:r>
            <a:r>
              <a:rPr lang="en-US" sz="3600" dirty="0" err="1">
                <a:solidFill>
                  <a:srgbClr val="000000"/>
                </a:solidFill>
                <a:latin typeface="Cambria" panose="02040503050406030204" pitchFamily="18" charset="0"/>
                <a:ea typeface="Cambria" panose="02040503050406030204" pitchFamily="18" charset="0"/>
                <a:cs typeface="Cambria"/>
                <a:sym typeface="Cambria"/>
              </a:rPr>
              <a:t>bán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đồ</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điện</a:t>
            </a:r>
            <a:r>
              <a:rPr lang="en-US" sz="3600" dirty="0">
                <a:solidFill>
                  <a:srgbClr val="000000"/>
                </a:solidFill>
                <a:latin typeface="Cambria" panose="02040503050406030204" pitchFamily="18" charset="0"/>
                <a:ea typeface="Cambria" panose="02040503050406030204" pitchFamily="18" charset="0"/>
                <a:cs typeface="Cambria"/>
                <a:sym typeface="Cambria"/>
              </a:rPr>
              <a:t> </a:t>
            </a:r>
            <a:r>
              <a:rPr lang="en-US" sz="3600" dirty="0" err="1">
                <a:solidFill>
                  <a:srgbClr val="000000"/>
                </a:solidFill>
                <a:latin typeface="Cambria" panose="02040503050406030204" pitchFamily="18" charset="0"/>
                <a:ea typeface="Cambria" panose="02040503050406030204" pitchFamily="18" charset="0"/>
                <a:cs typeface="Cambria"/>
                <a:sym typeface="Cambria"/>
              </a:rPr>
              <a:t>tử</a:t>
            </a:r>
            <a:r>
              <a:rPr lang="en-US" sz="3600" dirty="0">
                <a:solidFill>
                  <a:srgbClr val="000000"/>
                </a:solidFill>
                <a:latin typeface="Cambria" panose="02040503050406030204" pitchFamily="18" charset="0"/>
                <a:ea typeface="Cambria" panose="02040503050406030204" pitchFamily="18" charset="0"/>
                <a:cs typeface="Cambria"/>
                <a:sym typeface="Cambria"/>
              </a:rPr>
              <a:t>.</a:t>
            </a:r>
          </a:p>
        </p:txBody>
      </p:sp>
      <p:sp>
        <p:nvSpPr>
          <p:cNvPr id="11" name="TextBox 11"/>
          <p:cNvSpPr txBox="1"/>
          <p:nvPr/>
        </p:nvSpPr>
        <p:spPr>
          <a:xfrm>
            <a:off x="1747661" y="7061385"/>
            <a:ext cx="15630752" cy="1563761"/>
          </a:xfrm>
          <a:prstGeom prst="rect">
            <a:avLst/>
          </a:prstGeom>
        </p:spPr>
        <p:txBody>
          <a:bodyPr lIns="0" tIns="0" rIns="0" bIns="0" rtlCol="0" anchor="t">
            <a:spAutoFit/>
          </a:bodyPr>
          <a:lstStyle/>
          <a:p>
            <a:pPr algn="just">
              <a:lnSpc>
                <a:spcPts val="6480"/>
              </a:lnSpc>
            </a:pPr>
            <a:r>
              <a:rPr lang="en-US" sz="3600">
                <a:solidFill>
                  <a:srgbClr val="000000"/>
                </a:solidFill>
                <a:latin typeface="Cambria" panose="02040503050406030204" pitchFamily="18" charset="0"/>
                <a:ea typeface="Cambria" panose="02040503050406030204" pitchFamily="18" charset="0"/>
                <a:cs typeface="Cambria"/>
                <a:sym typeface="Cambria"/>
              </a:rPr>
              <a:t>Xây dựng được cơ bản các chức năng cho một trang web bán hàng: Đăng nhập, đăng ký, xem thông tin sản phẩm, xem đơn hàng, cập nhật đơn hàng, đặt hàng…</a:t>
            </a:r>
          </a:p>
        </p:txBody>
      </p:sp>
      <p:cxnSp>
        <p:nvCxnSpPr>
          <p:cNvPr id="13" name="Straight Connector 12">
            <a:extLst>
              <a:ext uri="{FF2B5EF4-FFF2-40B4-BE49-F238E27FC236}">
                <a16:creationId xmlns:a16="http://schemas.microsoft.com/office/drawing/2014/main" id="{F401758A-CF71-8812-F2C3-662E19B42B04}"/>
              </a:ext>
            </a:extLst>
          </p:cNvPr>
          <p:cNvCxnSpPr>
            <a:cxnSpLocks/>
          </p:cNvCxnSpPr>
          <p:nvPr/>
        </p:nvCxnSpPr>
        <p:spPr>
          <a:xfrm>
            <a:off x="1447800" y="3771900"/>
            <a:ext cx="0" cy="12192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6B4F637-D06A-C866-2F06-73DD4E116D69}"/>
              </a:ext>
            </a:extLst>
          </p:cNvPr>
          <p:cNvCxnSpPr>
            <a:cxnSpLocks/>
          </p:cNvCxnSpPr>
          <p:nvPr/>
        </p:nvCxnSpPr>
        <p:spPr>
          <a:xfrm>
            <a:off x="1447800" y="5676900"/>
            <a:ext cx="0" cy="12954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51DFF8F-7EFC-E0BA-C74E-BF5BB77D3767}"/>
              </a:ext>
            </a:extLst>
          </p:cNvPr>
          <p:cNvCxnSpPr>
            <a:cxnSpLocks/>
          </p:cNvCxnSpPr>
          <p:nvPr/>
        </p:nvCxnSpPr>
        <p:spPr>
          <a:xfrm>
            <a:off x="1447800" y="7429500"/>
            <a:ext cx="0" cy="10668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2074114" y="3535041"/>
            <a:ext cx="609240" cy="609240"/>
          </a:xfrm>
          <a:custGeom>
            <a:avLst/>
            <a:gdLst/>
            <a:ahLst/>
            <a:cxnLst/>
            <a:rect l="l" t="t" r="r" b="b"/>
            <a:pathLst>
              <a:path w="609240" h="609240">
                <a:moveTo>
                  <a:pt x="0" y="0"/>
                </a:moveTo>
                <a:lnTo>
                  <a:pt x="609240" y="0"/>
                </a:lnTo>
                <a:lnTo>
                  <a:pt x="609240" y="609240"/>
                </a:lnTo>
                <a:lnTo>
                  <a:pt x="0" y="6092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972215" y="4557765"/>
            <a:ext cx="813039" cy="813039"/>
          </a:xfrm>
          <a:custGeom>
            <a:avLst/>
            <a:gdLst/>
            <a:ahLst/>
            <a:cxnLst/>
            <a:rect l="l" t="t" r="r" b="b"/>
            <a:pathLst>
              <a:path w="813039" h="813039">
                <a:moveTo>
                  <a:pt x="0" y="0"/>
                </a:moveTo>
                <a:lnTo>
                  <a:pt x="813039" y="0"/>
                </a:lnTo>
                <a:lnTo>
                  <a:pt x="813039" y="813039"/>
                </a:lnTo>
                <a:lnTo>
                  <a:pt x="0" y="81303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2048236" y="8287212"/>
            <a:ext cx="654067" cy="654067"/>
          </a:xfrm>
          <a:custGeom>
            <a:avLst/>
            <a:gdLst/>
            <a:ahLst/>
            <a:cxnLst/>
            <a:rect l="l" t="t" r="r" b="b"/>
            <a:pathLst>
              <a:path w="654067" h="654067">
                <a:moveTo>
                  <a:pt x="0" y="0"/>
                </a:moveTo>
                <a:lnTo>
                  <a:pt x="654068" y="0"/>
                </a:lnTo>
                <a:lnTo>
                  <a:pt x="654068" y="654068"/>
                </a:lnTo>
                <a:lnTo>
                  <a:pt x="0" y="65406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2002947" y="5840126"/>
            <a:ext cx="680408" cy="680408"/>
          </a:xfrm>
          <a:custGeom>
            <a:avLst/>
            <a:gdLst/>
            <a:ahLst/>
            <a:cxnLst/>
            <a:rect l="l" t="t" r="r" b="b"/>
            <a:pathLst>
              <a:path w="680408" h="680408">
                <a:moveTo>
                  <a:pt x="0" y="0"/>
                </a:moveTo>
                <a:lnTo>
                  <a:pt x="680407" y="0"/>
                </a:lnTo>
                <a:lnTo>
                  <a:pt x="680407" y="680407"/>
                </a:lnTo>
                <a:lnTo>
                  <a:pt x="0" y="68040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2899864" y="2198653"/>
            <a:ext cx="13123070" cy="7145123"/>
          </a:xfrm>
          <a:custGeom>
            <a:avLst/>
            <a:gdLst/>
            <a:ahLst/>
            <a:cxnLst/>
            <a:rect l="l" t="t" r="r" b="b"/>
            <a:pathLst>
              <a:path w="13123070" h="7145123">
                <a:moveTo>
                  <a:pt x="0" y="0"/>
                </a:moveTo>
                <a:lnTo>
                  <a:pt x="13123070" y="0"/>
                </a:lnTo>
                <a:lnTo>
                  <a:pt x="13123070" y="7145123"/>
                </a:lnTo>
                <a:lnTo>
                  <a:pt x="0" y="714512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13623543" y="8583740"/>
            <a:ext cx="285024" cy="194336"/>
          </a:xfrm>
          <a:custGeom>
            <a:avLst/>
            <a:gdLst/>
            <a:ahLst/>
            <a:cxnLst/>
            <a:rect l="l" t="t" r="r" b="b"/>
            <a:pathLst>
              <a:path w="285024" h="194336">
                <a:moveTo>
                  <a:pt x="0" y="0"/>
                </a:moveTo>
                <a:lnTo>
                  <a:pt x="285024" y="0"/>
                </a:lnTo>
                <a:lnTo>
                  <a:pt x="285024" y="194335"/>
                </a:lnTo>
                <a:lnTo>
                  <a:pt x="0" y="194335"/>
                </a:lnTo>
                <a:lnTo>
                  <a:pt x="0" y="0"/>
                </a:lnTo>
                <a:close/>
              </a:path>
            </a:pathLst>
          </a:custGeom>
          <a:blipFill>
            <a:blip r:embed="rId13">
              <a:extLst>
                <a:ext uri="{96DAC541-7B7A-43D3-8B79-37D633B846F1}">
                  <asvg:svgBlip xmlns:asvg="http://schemas.microsoft.com/office/drawing/2016/SVG/main" r:embed="rId14"/>
                </a:ext>
              </a:extLst>
            </a:blip>
            <a:stretch>
              <a:fillRect r="-649"/>
            </a:stretch>
          </a:blipFill>
        </p:spPr>
      </p:sp>
      <p:sp>
        <p:nvSpPr>
          <p:cNvPr id="9" name="Freeform 9"/>
          <p:cNvSpPr/>
          <p:nvPr/>
        </p:nvSpPr>
        <p:spPr>
          <a:xfrm>
            <a:off x="4392735" y="3368124"/>
            <a:ext cx="862615" cy="864118"/>
          </a:xfrm>
          <a:custGeom>
            <a:avLst/>
            <a:gdLst/>
            <a:ahLst/>
            <a:cxnLst/>
            <a:rect l="l" t="t" r="r" b="b"/>
            <a:pathLst>
              <a:path w="862615" h="864118">
                <a:moveTo>
                  <a:pt x="0" y="0"/>
                </a:moveTo>
                <a:lnTo>
                  <a:pt x="862615" y="0"/>
                </a:lnTo>
                <a:lnTo>
                  <a:pt x="862615" y="864118"/>
                </a:lnTo>
                <a:lnTo>
                  <a:pt x="0" y="86411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a:off x="4392735" y="5469508"/>
            <a:ext cx="862615" cy="864119"/>
          </a:xfrm>
          <a:custGeom>
            <a:avLst/>
            <a:gdLst/>
            <a:ahLst/>
            <a:cxnLst/>
            <a:rect l="l" t="t" r="r" b="b"/>
            <a:pathLst>
              <a:path w="862615" h="864119">
                <a:moveTo>
                  <a:pt x="0" y="0"/>
                </a:moveTo>
                <a:lnTo>
                  <a:pt x="862615" y="0"/>
                </a:lnTo>
                <a:lnTo>
                  <a:pt x="862615" y="864119"/>
                </a:lnTo>
                <a:lnTo>
                  <a:pt x="0" y="86411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1" name="Freeform 11"/>
          <p:cNvSpPr/>
          <p:nvPr/>
        </p:nvSpPr>
        <p:spPr>
          <a:xfrm>
            <a:off x="4392735" y="7569438"/>
            <a:ext cx="862615" cy="864072"/>
          </a:xfrm>
          <a:custGeom>
            <a:avLst/>
            <a:gdLst/>
            <a:ahLst/>
            <a:cxnLst/>
            <a:rect l="l" t="t" r="r" b="b"/>
            <a:pathLst>
              <a:path w="862615" h="864072">
                <a:moveTo>
                  <a:pt x="0" y="0"/>
                </a:moveTo>
                <a:lnTo>
                  <a:pt x="862615" y="0"/>
                </a:lnTo>
                <a:lnTo>
                  <a:pt x="862615" y="864072"/>
                </a:lnTo>
                <a:lnTo>
                  <a:pt x="0" y="86407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a:off x="13657964" y="3359612"/>
            <a:ext cx="862616" cy="864118"/>
          </a:xfrm>
          <a:custGeom>
            <a:avLst/>
            <a:gdLst/>
            <a:ahLst/>
            <a:cxnLst/>
            <a:rect l="l" t="t" r="r" b="b"/>
            <a:pathLst>
              <a:path w="862616" h="864118">
                <a:moveTo>
                  <a:pt x="0" y="0"/>
                </a:moveTo>
                <a:lnTo>
                  <a:pt x="862615" y="0"/>
                </a:lnTo>
                <a:lnTo>
                  <a:pt x="862615" y="864118"/>
                </a:lnTo>
                <a:lnTo>
                  <a:pt x="0" y="864118"/>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13657964" y="5460996"/>
            <a:ext cx="862616" cy="864119"/>
          </a:xfrm>
          <a:custGeom>
            <a:avLst/>
            <a:gdLst/>
            <a:ahLst/>
            <a:cxnLst/>
            <a:rect l="l" t="t" r="r" b="b"/>
            <a:pathLst>
              <a:path w="862616" h="864119">
                <a:moveTo>
                  <a:pt x="0" y="0"/>
                </a:moveTo>
                <a:lnTo>
                  <a:pt x="862615" y="0"/>
                </a:lnTo>
                <a:lnTo>
                  <a:pt x="862615" y="864118"/>
                </a:lnTo>
                <a:lnTo>
                  <a:pt x="0" y="864118"/>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a:off x="13657964" y="7560926"/>
            <a:ext cx="862616" cy="864072"/>
          </a:xfrm>
          <a:custGeom>
            <a:avLst/>
            <a:gdLst/>
            <a:ahLst/>
            <a:cxnLst/>
            <a:rect l="l" t="t" r="r" b="b"/>
            <a:pathLst>
              <a:path w="862616" h="864072">
                <a:moveTo>
                  <a:pt x="0" y="0"/>
                </a:moveTo>
                <a:lnTo>
                  <a:pt x="862615" y="0"/>
                </a:lnTo>
                <a:lnTo>
                  <a:pt x="862615" y="864072"/>
                </a:lnTo>
                <a:lnTo>
                  <a:pt x="0" y="864072"/>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a:off x="6430592" y="4391160"/>
            <a:ext cx="6057572" cy="3467890"/>
          </a:xfrm>
          <a:custGeom>
            <a:avLst/>
            <a:gdLst/>
            <a:ahLst/>
            <a:cxnLst/>
            <a:rect l="l" t="t" r="r" b="b"/>
            <a:pathLst>
              <a:path w="6057572" h="3467890">
                <a:moveTo>
                  <a:pt x="0" y="0"/>
                </a:moveTo>
                <a:lnTo>
                  <a:pt x="6057571" y="0"/>
                </a:lnTo>
                <a:lnTo>
                  <a:pt x="6057571" y="3467891"/>
                </a:lnTo>
                <a:lnTo>
                  <a:pt x="0" y="3467891"/>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grpSp>
        <p:nvGrpSpPr>
          <p:cNvPr id="16" name="Group 16"/>
          <p:cNvGrpSpPr/>
          <p:nvPr/>
        </p:nvGrpSpPr>
        <p:grpSpPr>
          <a:xfrm>
            <a:off x="5135500" y="2519771"/>
            <a:ext cx="8382852" cy="698850"/>
            <a:chOff x="0" y="0"/>
            <a:chExt cx="11177136" cy="931800"/>
          </a:xfrm>
        </p:grpSpPr>
        <p:sp>
          <p:nvSpPr>
            <p:cNvPr id="17" name="Freeform 17"/>
            <p:cNvSpPr/>
            <p:nvPr/>
          </p:nvSpPr>
          <p:spPr>
            <a:xfrm>
              <a:off x="0" y="0"/>
              <a:ext cx="11177136" cy="931800"/>
            </a:xfrm>
            <a:custGeom>
              <a:avLst/>
              <a:gdLst/>
              <a:ahLst/>
              <a:cxnLst/>
              <a:rect l="l" t="t" r="r" b="b"/>
              <a:pathLst>
                <a:path w="11177136" h="931800">
                  <a:moveTo>
                    <a:pt x="0" y="0"/>
                  </a:moveTo>
                  <a:lnTo>
                    <a:pt x="11177136" y="0"/>
                  </a:lnTo>
                  <a:lnTo>
                    <a:pt x="11177136" y="931800"/>
                  </a:lnTo>
                  <a:lnTo>
                    <a:pt x="0" y="931800"/>
                  </a:lnTo>
                  <a:close/>
                </a:path>
              </a:pathLst>
            </a:custGeom>
            <a:solidFill>
              <a:srgbClr val="000000">
                <a:alpha val="0"/>
              </a:srgbClr>
            </a:solidFill>
          </p:spPr>
        </p:sp>
        <p:sp>
          <p:nvSpPr>
            <p:cNvPr id="18" name="TextBox 18"/>
            <p:cNvSpPr txBox="1"/>
            <p:nvPr/>
          </p:nvSpPr>
          <p:spPr>
            <a:xfrm>
              <a:off x="0" y="-9525"/>
              <a:ext cx="11177136" cy="941325"/>
            </a:xfrm>
            <a:prstGeom prst="rect">
              <a:avLst/>
            </a:prstGeom>
          </p:spPr>
          <p:txBody>
            <a:bodyPr lIns="0" tIns="0" rIns="0" bIns="0" rtlCol="0" anchor="ctr"/>
            <a:lstStyle/>
            <a:p>
              <a:pPr algn="ctr">
                <a:lnSpc>
                  <a:spcPts val="5040"/>
                </a:lnSpc>
              </a:pPr>
              <a:r>
                <a:rPr lang="en-US" sz="5400" b="1" dirty="0">
                  <a:solidFill>
                    <a:srgbClr val="16458C"/>
                  </a:solidFill>
                  <a:latin typeface="Cambria" panose="02040503050406030204" pitchFamily="18" charset="0"/>
                  <a:ea typeface="Cambria" panose="02040503050406030204" pitchFamily="18" charset="0"/>
                  <a:cs typeface="Cambria Bold"/>
                  <a:sym typeface="Cambria Bold"/>
                </a:rPr>
                <a:t>DEMO SẢN PHẨM</a:t>
              </a:r>
            </a:p>
          </p:txBody>
        </p:sp>
      </p:grpSp>
      <p:grpSp>
        <p:nvGrpSpPr>
          <p:cNvPr id="19" name="Group 19"/>
          <p:cNvGrpSpPr/>
          <p:nvPr/>
        </p:nvGrpSpPr>
        <p:grpSpPr>
          <a:xfrm>
            <a:off x="650038" y="2446777"/>
            <a:ext cx="896422" cy="921347"/>
            <a:chOff x="0" y="0"/>
            <a:chExt cx="1371524" cy="1409658"/>
          </a:xfrm>
        </p:grpSpPr>
        <p:sp>
          <p:nvSpPr>
            <p:cNvPr id="20" name="Freeform 20"/>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sp>
        <p:sp>
          <p:nvSpPr>
            <p:cNvPr id="21" name="TextBox 21"/>
            <p:cNvSpPr txBox="1"/>
            <p:nvPr/>
          </p:nvSpPr>
          <p:spPr>
            <a:xfrm>
              <a:off x="0" y="-19050"/>
              <a:ext cx="1371524" cy="1428708"/>
            </a:xfrm>
            <a:prstGeom prst="rect">
              <a:avLst/>
            </a:prstGeom>
            <a:ln>
              <a:solidFill>
                <a:schemeClr val="bg1"/>
              </a:solidFill>
            </a:ln>
          </p:spPr>
          <p:txBody>
            <a:bodyPr lIns="50800" tIns="50800" rIns="50800" bIns="50800" rtlCol="0" anchor="ctr"/>
            <a:lstStyle/>
            <a:p>
              <a:pPr algn="ctr">
                <a:lnSpc>
                  <a:spcPts val="8640"/>
                </a:lnSpc>
              </a:pPr>
              <a:r>
                <a:rPr lang="en-US" sz="5400" b="1" dirty="0">
                  <a:solidFill>
                    <a:srgbClr val="FFFFFF"/>
                  </a:solidFill>
                  <a:latin typeface="Cambria" panose="02040503050406030204" pitchFamily="18" charset="0"/>
                  <a:ea typeface="Cambria" panose="02040503050406030204" pitchFamily="18" charset="0"/>
                  <a:cs typeface="Cambria Bold"/>
                  <a:sym typeface="Cambria Bold"/>
                </a:rPr>
                <a:t>5</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dirty="0">
              <a:latin typeface="Cambria" panose="02040503050406030204" pitchFamily="18" charset="0"/>
              <a:ea typeface="Cambria" panose="02040503050406030204" pitchFamily="18" charset="0"/>
            </a:endParaRPr>
          </a:p>
        </p:txBody>
      </p:sp>
      <p:sp>
        <p:nvSpPr>
          <p:cNvPr id="3" name="TextBox 3"/>
          <p:cNvSpPr txBox="1"/>
          <p:nvPr/>
        </p:nvSpPr>
        <p:spPr>
          <a:xfrm>
            <a:off x="893697" y="2312651"/>
            <a:ext cx="6597480" cy="743793"/>
          </a:xfrm>
          <a:prstGeom prst="rect">
            <a:avLst/>
          </a:prstGeom>
        </p:spPr>
        <p:txBody>
          <a:bodyPr lIns="0" tIns="0" rIns="0" bIns="0" rtlCol="0" anchor="t">
            <a:spAutoFit/>
          </a:bodyPr>
          <a:lstStyle/>
          <a:p>
            <a:pPr algn="l">
              <a:lnSpc>
                <a:spcPts val="5759"/>
              </a:lnSpc>
            </a:pP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Hướng</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phát</a:t>
            </a:r>
            <a:r>
              <a:rPr lang="en-US" sz="5400" b="1" dirty="0">
                <a:solidFill>
                  <a:srgbClr val="16458C"/>
                </a:solidFill>
                <a:latin typeface="Cambria" panose="02040503050406030204" pitchFamily="18" charset="0"/>
                <a:ea typeface="Cambria" panose="02040503050406030204" pitchFamily="18" charset="0"/>
                <a:cs typeface="Cambria Bold"/>
                <a:sym typeface="Cambria Bold"/>
              </a:rPr>
              <a:t> </a:t>
            </a:r>
            <a:r>
              <a:rPr lang="en-US" sz="5400" b="1" dirty="0" err="1">
                <a:solidFill>
                  <a:srgbClr val="16458C"/>
                </a:solidFill>
                <a:latin typeface="Cambria" panose="02040503050406030204" pitchFamily="18" charset="0"/>
                <a:ea typeface="Cambria" panose="02040503050406030204" pitchFamily="18" charset="0"/>
                <a:cs typeface="Cambria Bold"/>
                <a:sym typeface="Cambria Bold"/>
              </a:rPr>
              <a:t>triển</a:t>
            </a:r>
            <a:endParaRPr lang="en-US" sz="5400" b="1" dirty="0">
              <a:solidFill>
                <a:srgbClr val="16458C"/>
              </a:solidFill>
              <a:latin typeface="Cambria" panose="02040503050406030204" pitchFamily="18" charset="0"/>
              <a:ea typeface="Cambria" panose="02040503050406030204" pitchFamily="18" charset="0"/>
              <a:cs typeface="Cambria Bold"/>
              <a:sym typeface="Cambria Bold"/>
            </a:endParaRPr>
          </a:p>
        </p:txBody>
      </p:sp>
      <p:grpSp>
        <p:nvGrpSpPr>
          <p:cNvPr id="5" name="Group 5"/>
          <p:cNvGrpSpPr/>
          <p:nvPr/>
        </p:nvGrpSpPr>
        <p:grpSpPr>
          <a:xfrm>
            <a:off x="4541805" y="3337286"/>
            <a:ext cx="9655373" cy="940951"/>
            <a:chOff x="19049" y="-66010"/>
            <a:chExt cx="12873831" cy="1254602"/>
          </a:xfrm>
        </p:grpSpPr>
        <p:sp>
          <p:nvSpPr>
            <p:cNvPr id="6" name="Freeform 6"/>
            <p:cNvSpPr/>
            <p:nvPr/>
          </p:nvSpPr>
          <p:spPr>
            <a:xfrm>
              <a:off x="19049" y="19050"/>
              <a:ext cx="12557125" cy="1169542"/>
            </a:xfrm>
            <a:custGeom>
              <a:avLst/>
              <a:gdLst/>
              <a:ahLst/>
              <a:cxnLst/>
              <a:rect l="l" t="t" r="r" b="b"/>
              <a:pathLst>
                <a:path w="12557125" h="1169543">
                  <a:moveTo>
                    <a:pt x="0" y="194945"/>
                  </a:moveTo>
                  <a:cubicBezTo>
                    <a:pt x="0" y="87249"/>
                    <a:pt x="89789" y="0"/>
                    <a:pt x="200660" y="0"/>
                  </a:cubicBezTo>
                  <a:lnTo>
                    <a:pt x="12356465" y="0"/>
                  </a:lnTo>
                  <a:cubicBezTo>
                    <a:pt x="12467336" y="0"/>
                    <a:pt x="12557125" y="87249"/>
                    <a:pt x="12557125" y="194945"/>
                  </a:cubicBezTo>
                  <a:lnTo>
                    <a:pt x="12557125" y="974598"/>
                  </a:lnTo>
                  <a:cubicBezTo>
                    <a:pt x="12557125" y="1082294"/>
                    <a:pt x="12467336" y="1169543"/>
                    <a:pt x="12356465" y="1169543"/>
                  </a:cubicBezTo>
                  <a:lnTo>
                    <a:pt x="200660" y="1169543"/>
                  </a:lnTo>
                  <a:cubicBezTo>
                    <a:pt x="89789" y="1169543"/>
                    <a:pt x="0" y="1082294"/>
                    <a:pt x="0" y="974598"/>
                  </a:cubicBezTo>
                  <a:close/>
                </a:path>
              </a:pathLst>
            </a:custGeom>
            <a:solidFill>
              <a:srgbClr val="FCB618"/>
            </a:solidFill>
            <a:ln w="12700">
              <a:solidFill>
                <a:srgbClr val="000000"/>
              </a:solidFill>
            </a:ln>
          </p:spPr>
          <p:txBody>
            <a:bodyPr/>
            <a:lstStyle/>
            <a:p>
              <a:endParaRPr lang="en-US" dirty="0">
                <a:latin typeface="Cambria" panose="02040503050406030204" pitchFamily="18" charset="0"/>
                <a:ea typeface="Cambria" panose="02040503050406030204" pitchFamily="18" charset="0"/>
              </a:endParaRPr>
            </a:p>
          </p:txBody>
        </p:sp>
        <p:sp>
          <p:nvSpPr>
            <p:cNvPr id="8" name="TextBox 8"/>
            <p:cNvSpPr txBox="1"/>
            <p:nvPr/>
          </p:nvSpPr>
          <p:spPr>
            <a:xfrm>
              <a:off x="297594" y="-66010"/>
              <a:ext cx="12595286" cy="786526"/>
            </a:xfrm>
            <a:prstGeom prst="rect">
              <a:avLst/>
            </a:prstGeom>
          </p:spPr>
          <p:txBody>
            <a:bodyPr lIns="50800" tIns="50800" rIns="50800" bIns="50800" rtlCol="0" anchor="t"/>
            <a:lstStyle/>
            <a:p>
              <a:r>
                <a:rPr lang="en-US" sz="2700" dirty="0" err="1">
                  <a:solidFill>
                    <a:srgbClr val="FFFFFF"/>
                  </a:solidFill>
                  <a:latin typeface="Cambria" panose="02040503050406030204" pitchFamily="18" charset="0"/>
                  <a:ea typeface="Cambria" panose="02040503050406030204" pitchFamily="18" charset="0"/>
                  <a:cs typeface="Cambria Bold"/>
                  <a:sym typeface="Cambria Bold"/>
                </a:rPr>
                <a:t>Phát</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triển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tính</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năng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gợi</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ý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sản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phẩm</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dựa</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trên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lịch</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sử</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và</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p>
            <a:p>
              <a:r>
                <a:rPr lang="en-US" sz="2700" dirty="0" err="1">
                  <a:solidFill>
                    <a:srgbClr val="FFFFFF"/>
                  </a:solidFill>
                  <a:latin typeface="Cambria" panose="02040503050406030204" pitchFamily="18" charset="0"/>
                  <a:ea typeface="Cambria" panose="02040503050406030204" pitchFamily="18" charset="0"/>
                  <a:cs typeface="Cambria Bold"/>
                  <a:sym typeface="Cambria Bold"/>
                </a:rPr>
                <a:t>nhu</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cầu</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tìm</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kiếm</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của</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người</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dùng</a:t>
              </a:r>
              <a:endParaRPr lang="en-US" sz="2700" dirty="0">
                <a:solidFill>
                  <a:srgbClr val="FFFFFF"/>
                </a:solidFill>
                <a:latin typeface="Cambria" panose="02040503050406030204" pitchFamily="18" charset="0"/>
                <a:ea typeface="Cambria" panose="02040503050406030204" pitchFamily="18" charset="0"/>
                <a:cs typeface="Cambria Bold"/>
                <a:sym typeface="Cambria Bold"/>
              </a:endParaRPr>
            </a:p>
          </p:txBody>
        </p:sp>
      </p:grpSp>
      <p:grpSp>
        <p:nvGrpSpPr>
          <p:cNvPr id="9" name="Group 9"/>
          <p:cNvGrpSpPr/>
          <p:nvPr/>
        </p:nvGrpSpPr>
        <p:grpSpPr>
          <a:xfrm>
            <a:off x="4541806" y="4511414"/>
            <a:ext cx="9655374" cy="891451"/>
            <a:chOff x="19051" y="-7"/>
            <a:chExt cx="12873832" cy="1188600"/>
          </a:xfrm>
        </p:grpSpPr>
        <p:sp>
          <p:nvSpPr>
            <p:cNvPr id="10" name="Freeform 10"/>
            <p:cNvSpPr/>
            <p:nvPr/>
          </p:nvSpPr>
          <p:spPr>
            <a:xfrm>
              <a:off x="19051" y="19050"/>
              <a:ext cx="12557125" cy="1169543"/>
            </a:xfrm>
            <a:custGeom>
              <a:avLst/>
              <a:gdLst/>
              <a:ahLst/>
              <a:cxnLst/>
              <a:rect l="l" t="t" r="r" b="b"/>
              <a:pathLst>
                <a:path w="12557125" h="1169543">
                  <a:moveTo>
                    <a:pt x="0" y="194945"/>
                  </a:moveTo>
                  <a:cubicBezTo>
                    <a:pt x="0" y="87249"/>
                    <a:pt x="89789" y="0"/>
                    <a:pt x="200660" y="0"/>
                  </a:cubicBezTo>
                  <a:lnTo>
                    <a:pt x="12356465" y="0"/>
                  </a:lnTo>
                  <a:cubicBezTo>
                    <a:pt x="12467336" y="0"/>
                    <a:pt x="12557125" y="87249"/>
                    <a:pt x="12557125" y="194945"/>
                  </a:cubicBezTo>
                  <a:lnTo>
                    <a:pt x="12557125" y="974598"/>
                  </a:lnTo>
                  <a:cubicBezTo>
                    <a:pt x="12557125" y="1082294"/>
                    <a:pt x="12467336" y="1169543"/>
                    <a:pt x="12356465" y="1169543"/>
                  </a:cubicBezTo>
                  <a:lnTo>
                    <a:pt x="200660" y="1169543"/>
                  </a:lnTo>
                  <a:cubicBezTo>
                    <a:pt x="89789" y="1169543"/>
                    <a:pt x="0" y="1082294"/>
                    <a:pt x="0" y="974598"/>
                  </a:cubicBezTo>
                  <a:close/>
                </a:path>
              </a:pathLst>
            </a:custGeom>
            <a:solidFill>
              <a:srgbClr val="FCB618"/>
            </a:solidFill>
            <a:ln w="12700">
              <a:solidFill>
                <a:srgbClr val="000000"/>
              </a:solidFill>
            </a:ln>
          </p:spPr>
        </p:sp>
        <p:sp>
          <p:nvSpPr>
            <p:cNvPr id="12" name="TextBox 12"/>
            <p:cNvSpPr txBox="1"/>
            <p:nvPr/>
          </p:nvSpPr>
          <p:spPr>
            <a:xfrm>
              <a:off x="297595" y="-7"/>
              <a:ext cx="12595288" cy="991723"/>
            </a:xfrm>
            <a:prstGeom prst="rect">
              <a:avLst/>
            </a:prstGeom>
          </p:spPr>
          <p:txBody>
            <a:bodyPr lIns="50800" tIns="50800" rIns="50800" bIns="50800" rtlCol="0" anchor="t"/>
            <a:lstStyle/>
            <a:p>
              <a:r>
                <a:rPr lang="en-US" sz="2700" dirty="0" err="1">
                  <a:solidFill>
                    <a:srgbClr val="FFFFFF"/>
                  </a:solidFill>
                  <a:latin typeface="Cambria" panose="02040503050406030204" pitchFamily="18" charset="0"/>
                  <a:ea typeface="Cambria" panose="02040503050406030204" pitchFamily="18" charset="0"/>
                  <a:cs typeface="Cambria Bold"/>
                  <a:sym typeface="Cambria Bold"/>
                </a:rPr>
                <a:t>Phát</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triển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chức</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năng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tìm</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kiếm</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nâng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cao</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theo</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tên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khoảng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giá</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thương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hiệu</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p>
          </p:txBody>
        </p:sp>
      </p:grpSp>
      <p:grpSp>
        <p:nvGrpSpPr>
          <p:cNvPr id="13" name="Group 13"/>
          <p:cNvGrpSpPr/>
          <p:nvPr/>
        </p:nvGrpSpPr>
        <p:grpSpPr>
          <a:xfrm>
            <a:off x="4541806" y="5717610"/>
            <a:ext cx="9655375" cy="904774"/>
            <a:chOff x="19050" y="-17774"/>
            <a:chExt cx="12873833" cy="1206367"/>
          </a:xfrm>
        </p:grpSpPr>
        <p:sp>
          <p:nvSpPr>
            <p:cNvPr id="14" name="Freeform 14"/>
            <p:cNvSpPr/>
            <p:nvPr/>
          </p:nvSpPr>
          <p:spPr>
            <a:xfrm>
              <a:off x="19050" y="19050"/>
              <a:ext cx="12557125" cy="1169543"/>
            </a:xfrm>
            <a:custGeom>
              <a:avLst/>
              <a:gdLst/>
              <a:ahLst/>
              <a:cxnLst/>
              <a:rect l="l" t="t" r="r" b="b"/>
              <a:pathLst>
                <a:path w="12557125" h="1169543">
                  <a:moveTo>
                    <a:pt x="0" y="194945"/>
                  </a:moveTo>
                  <a:cubicBezTo>
                    <a:pt x="0" y="87249"/>
                    <a:pt x="89789" y="0"/>
                    <a:pt x="200660" y="0"/>
                  </a:cubicBezTo>
                  <a:lnTo>
                    <a:pt x="12356465" y="0"/>
                  </a:lnTo>
                  <a:cubicBezTo>
                    <a:pt x="12467336" y="0"/>
                    <a:pt x="12557125" y="87249"/>
                    <a:pt x="12557125" y="194945"/>
                  </a:cubicBezTo>
                  <a:lnTo>
                    <a:pt x="12557125" y="974598"/>
                  </a:lnTo>
                  <a:cubicBezTo>
                    <a:pt x="12557125" y="1082294"/>
                    <a:pt x="12467336" y="1169543"/>
                    <a:pt x="12356465" y="1169543"/>
                  </a:cubicBezTo>
                  <a:lnTo>
                    <a:pt x="200660" y="1169543"/>
                  </a:lnTo>
                  <a:cubicBezTo>
                    <a:pt x="89789" y="1169543"/>
                    <a:pt x="0" y="1082294"/>
                    <a:pt x="0" y="974598"/>
                  </a:cubicBezTo>
                  <a:close/>
                </a:path>
              </a:pathLst>
            </a:custGeom>
            <a:solidFill>
              <a:srgbClr val="FCB618"/>
            </a:solidFill>
            <a:ln w="12700">
              <a:solidFill>
                <a:srgbClr val="000000"/>
              </a:solidFill>
            </a:ln>
          </p:spPr>
        </p:sp>
        <p:sp>
          <p:nvSpPr>
            <p:cNvPr id="16" name="TextBox 16"/>
            <p:cNvSpPr txBox="1"/>
            <p:nvPr/>
          </p:nvSpPr>
          <p:spPr>
            <a:xfrm>
              <a:off x="297595" y="-17774"/>
              <a:ext cx="12595288" cy="810597"/>
            </a:xfrm>
            <a:prstGeom prst="rect">
              <a:avLst/>
            </a:prstGeom>
          </p:spPr>
          <p:txBody>
            <a:bodyPr lIns="50800" tIns="50800" rIns="50800" bIns="50800" rtlCol="0" anchor="t"/>
            <a:lstStyle/>
            <a:p>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Tích</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hợp</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hệ</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thống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với</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các</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đơn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vị</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vận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chuyển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tự</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động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hoá</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quy</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trình</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xử</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lý</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đơn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hàng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p>
          </p:txBody>
        </p:sp>
      </p:grpSp>
      <p:grpSp>
        <p:nvGrpSpPr>
          <p:cNvPr id="17" name="Group 17"/>
          <p:cNvGrpSpPr/>
          <p:nvPr/>
        </p:nvGrpSpPr>
        <p:grpSpPr>
          <a:xfrm>
            <a:off x="4541806" y="6964747"/>
            <a:ext cx="9662129" cy="877157"/>
            <a:chOff x="19050" y="19049"/>
            <a:chExt cx="12882838" cy="1169544"/>
          </a:xfrm>
        </p:grpSpPr>
        <p:sp>
          <p:nvSpPr>
            <p:cNvPr id="18" name="Freeform 18"/>
            <p:cNvSpPr/>
            <p:nvPr/>
          </p:nvSpPr>
          <p:spPr>
            <a:xfrm>
              <a:off x="19050" y="19050"/>
              <a:ext cx="12557125" cy="1169543"/>
            </a:xfrm>
            <a:custGeom>
              <a:avLst/>
              <a:gdLst/>
              <a:ahLst/>
              <a:cxnLst/>
              <a:rect l="l" t="t" r="r" b="b"/>
              <a:pathLst>
                <a:path w="12557125" h="1169543">
                  <a:moveTo>
                    <a:pt x="0" y="194945"/>
                  </a:moveTo>
                  <a:cubicBezTo>
                    <a:pt x="0" y="87249"/>
                    <a:pt x="89789" y="0"/>
                    <a:pt x="200660" y="0"/>
                  </a:cubicBezTo>
                  <a:lnTo>
                    <a:pt x="12356465" y="0"/>
                  </a:lnTo>
                  <a:cubicBezTo>
                    <a:pt x="12467336" y="0"/>
                    <a:pt x="12557125" y="87249"/>
                    <a:pt x="12557125" y="194945"/>
                  </a:cubicBezTo>
                  <a:lnTo>
                    <a:pt x="12557125" y="974598"/>
                  </a:lnTo>
                  <a:cubicBezTo>
                    <a:pt x="12557125" y="1082294"/>
                    <a:pt x="12467336" y="1169543"/>
                    <a:pt x="12356465" y="1169543"/>
                  </a:cubicBezTo>
                  <a:lnTo>
                    <a:pt x="200660" y="1169543"/>
                  </a:lnTo>
                  <a:cubicBezTo>
                    <a:pt x="89789" y="1169543"/>
                    <a:pt x="0" y="1082294"/>
                    <a:pt x="0" y="974598"/>
                  </a:cubicBezTo>
                  <a:close/>
                </a:path>
              </a:pathLst>
            </a:custGeom>
            <a:solidFill>
              <a:srgbClr val="FCB618"/>
            </a:solidFill>
            <a:ln w="12700">
              <a:solidFill>
                <a:srgbClr val="000000"/>
              </a:solidFill>
            </a:ln>
          </p:spPr>
        </p:sp>
        <p:sp>
          <p:nvSpPr>
            <p:cNvPr id="20" name="TextBox 20"/>
            <p:cNvSpPr txBox="1"/>
            <p:nvPr/>
          </p:nvSpPr>
          <p:spPr>
            <a:xfrm>
              <a:off x="306600" y="19049"/>
              <a:ext cx="12595288" cy="991725"/>
            </a:xfrm>
            <a:prstGeom prst="rect">
              <a:avLst/>
            </a:prstGeom>
          </p:spPr>
          <p:txBody>
            <a:bodyPr lIns="50800" tIns="50800" rIns="50800" bIns="50800" rtlCol="0" anchor="t"/>
            <a:lstStyle/>
            <a:p>
              <a:r>
                <a:rPr lang="en-US" sz="2700" dirty="0" err="1">
                  <a:solidFill>
                    <a:srgbClr val="FFFFFF"/>
                  </a:solidFill>
                  <a:latin typeface="Cambria" panose="02040503050406030204" pitchFamily="18" charset="0"/>
                  <a:ea typeface="Cambria" panose="02040503050406030204" pitchFamily="18" charset="0"/>
                  <a:cs typeface="Cambria Bold"/>
                  <a:sym typeface="Cambria Bold"/>
                </a:rPr>
                <a:t>Nâng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cấp</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ChatBot</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nhằm</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tư</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vấn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sản</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phẩm</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và</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giải</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đáp</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thắc</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mắc</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nhanh</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chóng</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chính</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xác</a:t>
              </a:r>
              <a:r>
                <a:rPr lang="en-US" sz="2700" dirty="0">
                  <a:solidFill>
                    <a:srgbClr val="FFFFFF"/>
                  </a:solidFill>
                  <a:latin typeface="Cambria" panose="02040503050406030204" pitchFamily="18" charset="0"/>
                  <a:ea typeface="Cambria" panose="02040503050406030204" pitchFamily="18" charset="0"/>
                  <a:cs typeface="Cambria Bold"/>
                  <a:sym typeface="Cambria Bold"/>
                </a:rPr>
                <a:t> </a:t>
              </a:r>
              <a:r>
                <a:rPr lang="en-US" sz="2700" dirty="0" err="1">
                  <a:solidFill>
                    <a:srgbClr val="FFFFFF"/>
                  </a:solidFill>
                  <a:latin typeface="Cambria" panose="02040503050406030204" pitchFamily="18" charset="0"/>
                  <a:ea typeface="Cambria" panose="02040503050406030204" pitchFamily="18" charset="0"/>
                  <a:cs typeface="Cambria Bold"/>
                  <a:sym typeface="Cambria Bold"/>
                </a:rPr>
                <a:t>hơn</a:t>
              </a:r>
              <a:endParaRPr lang="en-US" sz="2700" dirty="0">
                <a:solidFill>
                  <a:srgbClr val="FFFFFF"/>
                </a:solidFill>
                <a:latin typeface="Cambria" panose="02040503050406030204" pitchFamily="18" charset="0"/>
                <a:ea typeface="Cambria" panose="02040503050406030204" pitchFamily="18" charset="0"/>
                <a:cs typeface="Cambria Bold"/>
                <a:sym typeface="Cambria Bold"/>
              </a:endParaRPr>
            </a:p>
          </p:txBody>
        </p:sp>
      </p:grpSp>
      <p:sp>
        <p:nvSpPr>
          <p:cNvPr id="26" name="Freeform 26"/>
          <p:cNvSpPr/>
          <p:nvPr/>
        </p:nvSpPr>
        <p:spPr>
          <a:xfrm>
            <a:off x="1936631" y="3401081"/>
            <a:ext cx="884206" cy="877156"/>
          </a:xfrm>
          <a:custGeom>
            <a:avLst/>
            <a:gdLst/>
            <a:ahLst/>
            <a:cxnLst/>
            <a:rect l="l" t="t" r="r" b="b"/>
            <a:pathLst>
              <a:path w="1178941" h="1169543">
                <a:moveTo>
                  <a:pt x="0" y="194945"/>
                </a:moveTo>
                <a:cubicBezTo>
                  <a:pt x="0" y="87249"/>
                  <a:pt x="87249" y="0"/>
                  <a:pt x="194945" y="0"/>
                </a:cubicBezTo>
                <a:lnTo>
                  <a:pt x="983996" y="0"/>
                </a:lnTo>
                <a:cubicBezTo>
                  <a:pt x="1091692" y="0"/>
                  <a:pt x="1178941" y="87249"/>
                  <a:pt x="1178941" y="194945"/>
                </a:cubicBezTo>
                <a:lnTo>
                  <a:pt x="1178941" y="974598"/>
                </a:lnTo>
                <a:cubicBezTo>
                  <a:pt x="1178941" y="1082294"/>
                  <a:pt x="1091692" y="1169543"/>
                  <a:pt x="983996" y="1169543"/>
                </a:cubicBezTo>
                <a:lnTo>
                  <a:pt x="194945" y="1169543"/>
                </a:lnTo>
                <a:cubicBezTo>
                  <a:pt x="87249" y="1169543"/>
                  <a:pt x="0" y="1082294"/>
                  <a:pt x="0" y="974598"/>
                </a:cubicBezTo>
                <a:close/>
              </a:path>
            </a:pathLst>
          </a:custGeom>
          <a:solidFill>
            <a:srgbClr val="16458C"/>
          </a:solidFill>
          <a:ln w="12700">
            <a:solidFill>
              <a:srgbClr val="000000"/>
            </a:solidFill>
          </a:ln>
        </p:spPr>
      </p:sp>
      <p:sp>
        <p:nvSpPr>
          <p:cNvPr id="29" name="Freeform 29"/>
          <p:cNvSpPr/>
          <p:nvPr/>
        </p:nvSpPr>
        <p:spPr>
          <a:xfrm>
            <a:off x="1916969" y="5742796"/>
            <a:ext cx="884206" cy="877157"/>
          </a:xfrm>
          <a:custGeom>
            <a:avLst/>
            <a:gdLst/>
            <a:ahLst/>
            <a:cxnLst/>
            <a:rect l="l" t="t" r="r" b="b"/>
            <a:pathLst>
              <a:path w="1178941" h="1169543">
                <a:moveTo>
                  <a:pt x="0" y="194945"/>
                </a:moveTo>
                <a:cubicBezTo>
                  <a:pt x="0" y="87249"/>
                  <a:pt x="87249" y="0"/>
                  <a:pt x="194945" y="0"/>
                </a:cubicBezTo>
                <a:lnTo>
                  <a:pt x="983996" y="0"/>
                </a:lnTo>
                <a:cubicBezTo>
                  <a:pt x="1091692" y="0"/>
                  <a:pt x="1178941" y="87249"/>
                  <a:pt x="1178941" y="194945"/>
                </a:cubicBezTo>
                <a:lnTo>
                  <a:pt x="1178941" y="974598"/>
                </a:lnTo>
                <a:cubicBezTo>
                  <a:pt x="1178941" y="1082294"/>
                  <a:pt x="1091692" y="1169543"/>
                  <a:pt x="983996" y="1169543"/>
                </a:cubicBezTo>
                <a:lnTo>
                  <a:pt x="194945" y="1169543"/>
                </a:lnTo>
                <a:cubicBezTo>
                  <a:pt x="87249" y="1169543"/>
                  <a:pt x="0" y="1082294"/>
                  <a:pt x="0" y="974598"/>
                </a:cubicBezTo>
                <a:close/>
              </a:path>
            </a:pathLst>
          </a:custGeom>
          <a:solidFill>
            <a:srgbClr val="16458C"/>
          </a:solidFill>
          <a:ln w="12700">
            <a:solidFill>
              <a:srgbClr val="000000"/>
            </a:solidFill>
          </a:ln>
        </p:spPr>
      </p:sp>
      <p:sp>
        <p:nvSpPr>
          <p:cNvPr id="32" name="Freeform 32"/>
          <p:cNvSpPr/>
          <p:nvPr/>
        </p:nvSpPr>
        <p:spPr>
          <a:xfrm>
            <a:off x="1936631" y="6964748"/>
            <a:ext cx="884206" cy="877157"/>
          </a:xfrm>
          <a:custGeom>
            <a:avLst/>
            <a:gdLst/>
            <a:ahLst/>
            <a:cxnLst/>
            <a:rect l="l" t="t" r="r" b="b"/>
            <a:pathLst>
              <a:path w="1178941" h="1169543">
                <a:moveTo>
                  <a:pt x="0" y="194945"/>
                </a:moveTo>
                <a:cubicBezTo>
                  <a:pt x="0" y="87249"/>
                  <a:pt x="87249" y="0"/>
                  <a:pt x="194945" y="0"/>
                </a:cubicBezTo>
                <a:lnTo>
                  <a:pt x="983996" y="0"/>
                </a:lnTo>
                <a:cubicBezTo>
                  <a:pt x="1091692" y="0"/>
                  <a:pt x="1178941" y="87249"/>
                  <a:pt x="1178941" y="194945"/>
                </a:cubicBezTo>
                <a:lnTo>
                  <a:pt x="1178941" y="974598"/>
                </a:lnTo>
                <a:cubicBezTo>
                  <a:pt x="1178941" y="1082294"/>
                  <a:pt x="1091692" y="1169543"/>
                  <a:pt x="983996" y="1169543"/>
                </a:cubicBezTo>
                <a:lnTo>
                  <a:pt x="194945" y="1169543"/>
                </a:lnTo>
                <a:cubicBezTo>
                  <a:pt x="87249" y="1169543"/>
                  <a:pt x="0" y="1082294"/>
                  <a:pt x="0" y="974598"/>
                </a:cubicBezTo>
                <a:close/>
              </a:path>
            </a:pathLst>
          </a:custGeom>
          <a:solidFill>
            <a:srgbClr val="16458C"/>
          </a:solidFill>
          <a:ln w="12700">
            <a:solidFill>
              <a:srgbClr val="000000"/>
            </a:solidFill>
          </a:ln>
        </p:spPr>
      </p:sp>
      <p:sp>
        <p:nvSpPr>
          <p:cNvPr id="38" name="Freeform 38"/>
          <p:cNvSpPr/>
          <p:nvPr/>
        </p:nvSpPr>
        <p:spPr>
          <a:xfrm>
            <a:off x="1936630" y="4525704"/>
            <a:ext cx="884206" cy="877158"/>
          </a:xfrm>
          <a:custGeom>
            <a:avLst/>
            <a:gdLst/>
            <a:ahLst/>
            <a:cxnLst/>
            <a:rect l="l" t="t" r="r" b="b"/>
            <a:pathLst>
              <a:path w="1178941" h="1169543">
                <a:moveTo>
                  <a:pt x="0" y="194945"/>
                </a:moveTo>
                <a:cubicBezTo>
                  <a:pt x="0" y="87249"/>
                  <a:pt x="87249" y="0"/>
                  <a:pt x="194945" y="0"/>
                </a:cubicBezTo>
                <a:lnTo>
                  <a:pt x="983996" y="0"/>
                </a:lnTo>
                <a:cubicBezTo>
                  <a:pt x="1091692" y="0"/>
                  <a:pt x="1178941" y="87249"/>
                  <a:pt x="1178941" y="194945"/>
                </a:cubicBezTo>
                <a:lnTo>
                  <a:pt x="1178941" y="974598"/>
                </a:lnTo>
                <a:cubicBezTo>
                  <a:pt x="1178941" y="1082294"/>
                  <a:pt x="1091692" y="1169543"/>
                  <a:pt x="983996" y="1169543"/>
                </a:cubicBezTo>
                <a:lnTo>
                  <a:pt x="194945" y="1169543"/>
                </a:lnTo>
                <a:cubicBezTo>
                  <a:pt x="87249" y="1169543"/>
                  <a:pt x="0" y="1082294"/>
                  <a:pt x="0" y="974598"/>
                </a:cubicBezTo>
                <a:close/>
              </a:path>
            </a:pathLst>
          </a:custGeom>
          <a:solidFill>
            <a:srgbClr val="16458C"/>
          </a:solidFill>
          <a:ln w="12700">
            <a:solidFill>
              <a:srgbClr val="000000"/>
            </a:solidFill>
          </a:ln>
        </p:spPr>
      </p:sp>
      <p:sp>
        <p:nvSpPr>
          <p:cNvPr id="40" name="Freeform 40"/>
          <p:cNvSpPr/>
          <p:nvPr/>
        </p:nvSpPr>
        <p:spPr>
          <a:xfrm>
            <a:off x="2074114" y="3535041"/>
            <a:ext cx="609240" cy="609240"/>
          </a:xfrm>
          <a:custGeom>
            <a:avLst/>
            <a:gdLst/>
            <a:ahLst/>
            <a:cxnLst/>
            <a:rect l="l" t="t" r="r" b="b"/>
            <a:pathLst>
              <a:path w="609240" h="609240">
                <a:moveTo>
                  <a:pt x="0" y="0"/>
                </a:moveTo>
                <a:lnTo>
                  <a:pt x="609240" y="0"/>
                </a:lnTo>
                <a:lnTo>
                  <a:pt x="609240" y="609240"/>
                </a:lnTo>
                <a:lnTo>
                  <a:pt x="0" y="6092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1" name="Freeform 41"/>
          <p:cNvSpPr/>
          <p:nvPr/>
        </p:nvSpPr>
        <p:spPr>
          <a:xfrm>
            <a:off x="1972215" y="4557765"/>
            <a:ext cx="813039" cy="813039"/>
          </a:xfrm>
          <a:custGeom>
            <a:avLst/>
            <a:gdLst/>
            <a:ahLst/>
            <a:cxnLst/>
            <a:rect l="l" t="t" r="r" b="b"/>
            <a:pathLst>
              <a:path w="813039" h="813039">
                <a:moveTo>
                  <a:pt x="0" y="0"/>
                </a:moveTo>
                <a:lnTo>
                  <a:pt x="813039" y="0"/>
                </a:lnTo>
                <a:lnTo>
                  <a:pt x="813039" y="813039"/>
                </a:lnTo>
                <a:lnTo>
                  <a:pt x="0" y="81303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42" name="Freeform 42"/>
          <p:cNvSpPr/>
          <p:nvPr/>
        </p:nvSpPr>
        <p:spPr>
          <a:xfrm>
            <a:off x="1972215" y="7016469"/>
            <a:ext cx="773719" cy="773720"/>
          </a:xfrm>
          <a:custGeom>
            <a:avLst/>
            <a:gdLst/>
            <a:ahLst/>
            <a:cxnLst/>
            <a:rect l="l" t="t" r="r" b="b"/>
            <a:pathLst>
              <a:path w="773719" h="773720">
                <a:moveTo>
                  <a:pt x="0" y="0"/>
                </a:moveTo>
                <a:lnTo>
                  <a:pt x="773719" y="0"/>
                </a:lnTo>
                <a:lnTo>
                  <a:pt x="773719" y="773720"/>
                </a:lnTo>
                <a:lnTo>
                  <a:pt x="0" y="77372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43" name="Freeform 43"/>
          <p:cNvSpPr/>
          <p:nvPr/>
        </p:nvSpPr>
        <p:spPr>
          <a:xfrm>
            <a:off x="2048236" y="8287212"/>
            <a:ext cx="654067" cy="654067"/>
          </a:xfrm>
          <a:custGeom>
            <a:avLst/>
            <a:gdLst/>
            <a:ahLst/>
            <a:cxnLst/>
            <a:rect l="l" t="t" r="r" b="b"/>
            <a:pathLst>
              <a:path w="654067" h="654067">
                <a:moveTo>
                  <a:pt x="0" y="0"/>
                </a:moveTo>
                <a:lnTo>
                  <a:pt x="654068" y="0"/>
                </a:lnTo>
                <a:lnTo>
                  <a:pt x="654068" y="654068"/>
                </a:lnTo>
                <a:lnTo>
                  <a:pt x="0" y="6540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44" name="Freeform 44"/>
          <p:cNvSpPr/>
          <p:nvPr/>
        </p:nvSpPr>
        <p:spPr>
          <a:xfrm>
            <a:off x="2002947" y="5840126"/>
            <a:ext cx="680408" cy="680408"/>
          </a:xfrm>
          <a:custGeom>
            <a:avLst/>
            <a:gdLst/>
            <a:ahLst/>
            <a:cxnLst/>
            <a:rect l="l" t="t" r="r" b="b"/>
            <a:pathLst>
              <a:path w="680408" h="680408">
                <a:moveTo>
                  <a:pt x="0" y="0"/>
                </a:moveTo>
                <a:lnTo>
                  <a:pt x="680407" y="0"/>
                </a:lnTo>
                <a:lnTo>
                  <a:pt x="680407" y="680407"/>
                </a:lnTo>
                <a:lnTo>
                  <a:pt x="0" y="68040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cxnSp>
        <p:nvCxnSpPr>
          <p:cNvPr id="45" name="Straight Connector 44">
            <a:extLst>
              <a:ext uri="{FF2B5EF4-FFF2-40B4-BE49-F238E27FC236}">
                <a16:creationId xmlns:a16="http://schemas.microsoft.com/office/drawing/2014/main" id="{CFB16DBA-5A32-F678-BEF0-088644FD843E}"/>
              </a:ext>
            </a:extLst>
          </p:cNvPr>
          <p:cNvCxnSpPr>
            <a:cxnSpLocks/>
          </p:cNvCxnSpPr>
          <p:nvPr/>
        </p:nvCxnSpPr>
        <p:spPr>
          <a:xfrm>
            <a:off x="609600" y="2412602"/>
            <a:ext cx="0" cy="543889"/>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5472706" y="2644280"/>
            <a:ext cx="7342586" cy="2282100"/>
          </a:xfrm>
          <a:prstGeom prst="rect">
            <a:avLst/>
          </a:prstGeom>
        </p:spPr>
        <p:txBody>
          <a:bodyPr lIns="0" tIns="0" rIns="0" bIns="0" rtlCol="0" anchor="t">
            <a:spAutoFit/>
          </a:bodyPr>
          <a:lstStyle/>
          <a:p>
            <a:pPr algn="ctr">
              <a:lnSpc>
                <a:spcPts val="8640"/>
              </a:lnSpc>
            </a:pPr>
            <a:r>
              <a:rPr lang="en-US" sz="7200" b="1" dirty="0">
                <a:solidFill>
                  <a:srgbClr val="16458C"/>
                </a:solidFill>
                <a:latin typeface="Cambria" panose="02040503050406030204" pitchFamily="18" charset="0"/>
                <a:ea typeface="Cambria" panose="02040503050406030204" pitchFamily="18" charset="0"/>
                <a:cs typeface="Cambria Bold"/>
                <a:sym typeface="Cambria Bold"/>
              </a:rPr>
              <a:t>THANK YOU </a:t>
            </a:r>
          </a:p>
          <a:p>
            <a:pPr algn="ctr">
              <a:lnSpc>
                <a:spcPts val="8640"/>
              </a:lnSpc>
            </a:pPr>
            <a:r>
              <a:rPr lang="en-US" sz="7200" b="1" dirty="0">
                <a:solidFill>
                  <a:srgbClr val="FCB618"/>
                </a:solidFill>
                <a:latin typeface="Cambria" panose="02040503050406030204" pitchFamily="18" charset="0"/>
                <a:ea typeface="Cambria" panose="02040503050406030204" pitchFamily="18" charset="0"/>
                <a:cs typeface="Cambria Bold"/>
                <a:sym typeface="Cambria Bold"/>
              </a:rPr>
              <a:t>FOR WATCHING</a:t>
            </a:r>
          </a:p>
        </p:txBody>
      </p:sp>
      <p:sp>
        <p:nvSpPr>
          <p:cNvPr id="4" name="TextBox 4"/>
          <p:cNvSpPr txBox="1"/>
          <p:nvPr/>
        </p:nvSpPr>
        <p:spPr>
          <a:xfrm>
            <a:off x="3455540" y="4970145"/>
            <a:ext cx="11376918" cy="1563761"/>
          </a:xfrm>
          <a:prstGeom prst="rect">
            <a:avLst/>
          </a:prstGeom>
        </p:spPr>
        <p:txBody>
          <a:bodyPr lIns="0" tIns="0" rIns="0" bIns="0" rtlCol="0" anchor="t">
            <a:spAutoFit/>
          </a:bodyPr>
          <a:lstStyle/>
          <a:p>
            <a:pPr algn="ctr">
              <a:lnSpc>
                <a:spcPts val="6480"/>
              </a:lnSpc>
            </a:pPr>
            <a:r>
              <a:rPr lang="en-US" sz="3600" dirty="0">
                <a:solidFill>
                  <a:srgbClr val="16458C"/>
                </a:solidFill>
                <a:latin typeface="Cambria" panose="02040503050406030204" pitchFamily="18" charset="0"/>
                <a:ea typeface="Cambria" panose="02040503050406030204" pitchFamily="18" charset="0"/>
                <a:cs typeface="Cambria"/>
                <a:sym typeface="Cambria"/>
              </a:rPr>
              <a:t>Em </a:t>
            </a:r>
            <a:r>
              <a:rPr lang="en-US" sz="3600" dirty="0" err="1">
                <a:solidFill>
                  <a:srgbClr val="16458C"/>
                </a:solidFill>
                <a:latin typeface="Cambria" panose="02040503050406030204" pitchFamily="18" charset="0"/>
                <a:ea typeface="Cambria" panose="02040503050406030204" pitchFamily="18" charset="0"/>
                <a:cs typeface="Cambria"/>
                <a:sym typeface="Cambria"/>
              </a:rPr>
              <a:t>chân</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thành</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cảm</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ơn</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hội</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đồng</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thầy</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cô</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đã</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lắng</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nghe</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và</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theo</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dõi</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bài</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thuyết</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trình</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của</a:t>
            </a:r>
            <a:r>
              <a:rPr lang="en-US" sz="3600" dirty="0">
                <a:solidFill>
                  <a:srgbClr val="16458C"/>
                </a:solidFill>
                <a:latin typeface="Cambria" panose="02040503050406030204" pitchFamily="18" charset="0"/>
                <a:ea typeface="Cambria" panose="02040503050406030204" pitchFamily="18" charset="0"/>
                <a:cs typeface="Cambria"/>
                <a:sym typeface="Cambria"/>
              </a:rPr>
              <a:t> </a:t>
            </a:r>
            <a:r>
              <a:rPr lang="en-US" sz="3600" dirty="0" err="1">
                <a:solidFill>
                  <a:srgbClr val="16458C"/>
                </a:solidFill>
                <a:latin typeface="Cambria" panose="02040503050406030204" pitchFamily="18" charset="0"/>
                <a:ea typeface="Cambria" panose="02040503050406030204" pitchFamily="18" charset="0"/>
                <a:cs typeface="Cambria"/>
                <a:sym typeface="Cambria"/>
              </a:rPr>
              <a:t>em</a:t>
            </a:r>
            <a:r>
              <a:rPr lang="en-US" sz="3600" dirty="0">
                <a:solidFill>
                  <a:srgbClr val="16458C"/>
                </a:solidFill>
                <a:latin typeface="Cambria" panose="02040503050406030204" pitchFamily="18" charset="0"/>
                <a:ea typeface="Cambria" panose="02040503050406030204" pitchFamily="18" charset="0"/>
                <a:cs typeface="Cambria"/>
                <a:sym typeface="Cambria"/>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505</TotalTime>
  <Words>638</Words>
  <Application>Microsoft Office PowerPoint</Application>
  <PresentationFormat>Custom</PresentationFormat>
  <Paragraphs>92</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Calibri</vt: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Là người có quyền tương tác với hệ thống, có quyền điều khiển, kiểm soát các hoạt động của hệ thống. Với các chức năng quản lý Thông tin tài khoản, quản lý thông tin sản phẩm, quản lý đơn hàng,…</dc:title>
  <dc:creator>Ha Vu</dc:creator>
  <cp:lastModifiedBy>hà vũ</cp:lastModifiedBy>
  <cp:revision>6</cp:revision>
  <dcterms:created xsi:type="dcterms:W3CDTF">2006-08-16T00:00:00Z</dcterms:created>
  <dcterms:modified xsi:type="dcterms:W3CDTF">2025-12-04T22:03:05Z</dcterms:modified>
  <dc:identifier>DAG6Rx4WiKg</dc:identifier>
</cp:coreProperties>
</file>